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1F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7863840" y="-548640"/>
            <a:ext cx="5029200" cy="5029200"/>
          </a:xfrm>
          <a:prstGeom prst="ellipse">
            <a:avLst/>
          </a:prstGeom>
          <a:solidFill>
            <a:srgbClr val="2F6F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9418320" y="4206240"/>
            <a:ext cx="3657600" cy="3657600"/>
          </a:xfrm>
          <a:prstGeom prst="ellipse">
            <a:avLst/>
          </a:prstGeom>
          <a:solidFill>
            <a:srgbClr val="00A6A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Oval 4"/>
          <p:cNvSpPr/>
          <p:nvPr/>
        </p:nvSpPr>
        <p:spPr>
          <a:xfrm>
            <a:off x="-1097280" y="5212080"/>
            <a:ext cx="3657600" cy="1828800"/>
          </a:xfrm>
          <a:prstGeom prst="ellipse">
            <a:avLst/>
          </a:prstGeom>
          <a:solidFill>
            <a:srgbClr val="5B8DE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749808" y="530352"/>
            <a:ext cx="2240280" cy="310896"/>
          </a:xfrm>
          <a:prstGeom prst="roundRect">
            <a:avLst/>
          </a:prstGeom>
          <a:solidFill>
            <a:srgbClr val="2F6FED"/>
          </a:solidFill>
          <a:ln w="12700">
            <a:solidFill>
              <a:srgbClr val="2F6F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50800" rIns="50800" tIns="0" bIns="0"/>
          <a:lstStyle/>
          <a:p>
            <a:pPr algn="ctr"/>
            <a:r>
              <a:rPr sz="900" b="1">
                <a:solidFill>
                  <a:srgbClr val="FFFFFF"/>
                </a:solidFill>
                <a:latin typeface="Noto Sans CJK TC"/>
              </a:rPr>
              <a:t>ENTERPRISE ARCHITECTURE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49808" y="1298448"/>
            <a:ext cx="6629400" cy="1060704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3100" b="1">
                <a:solidFill>
                  <a:srgbClr val="FFFFFF"/>
                </a:solidFill>
                <a:latin typeface="Noto Serif CJK TC"/>
              </a:rPr>
              <a:t>Knowledge Base
企業知識庫系統架構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68096" y="2615184"/>
            <a:ext cx="6263640" cy="676656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400" b="0">
                <a:solidFill>
                  <a:srgbClr val="C7D8E7"/>
                </a:solidFill>
                <a:latin typeface="Noto Sans CJK TC"/>
              </a:rPr>
              <a:t>從文件攝入、混合檢索到 OpenClaw AI 助理的完整現況架構
主管報告版｜涵蓋應用、資料、部署、維運與治理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49808" y="3822191"/>
            <a:ext cx="6172200" cy="1024128"/>
          </a:xfrm>
          <a:prstGeom prst="roundRect">
            <a:avLst/>
          </a:prstGeom>
          <a:solidFill>
            <a:srgbClr val="132E46"/>
          </a:solidFill>
          <a:ln w="12700">
            <a:solidFill>
              <a:srgbClr val="2B4A6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960120" y="4041648"/>
            <a:ext cx="1234440" cy="164592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30" b="1">
                <a:solidFill>
                  <a:srgbClr val="00A6A6"/>
                </a:solidFill>
                <a:latin typeface="Noto Sans CJK TC"/>
              </a:rPr>
              <a:t>ARCHITECTURE THESIS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60120" y="4297680"/>
            <a:ext cx="5532120" cy="338328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00" b="1">
                <a:solidFill>
                  <a:srgbClr val="FFFFFF"/>
                </a:solidFill>
                <a:latin typeface="Noto Sans CJK TC"/>
              </a:rPr>
              <a:t>以 FastAPI + Celery 解耦互動與批次工作，並以 Qdrant + Neo4j 支援語意與關聯雙引擎檢索。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662672" y="658368"/>
            <a:ext cx="3474720" cy="201168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00" b="1">
                <a:solidFill>
                  <a:srgbClr val="AFC5D8"/>
                </a:solidFill>
                <a:latin typeface="Noto Sans CJK TC"/>
              </a:rPr>
              <a:t>PLATFORM LAYERS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7635240" y="1024128"/>
            <a:ext cx="3703320" cy="749808"/>
          </a:xfrm>
          <a:prstGeom prst="roundRect">
            <a:avLst/>
          </a:prstGeom>
          <a:solidFill>
            <a:srgbClr val="132E46"/>
          </a:solidFill>
          <a:ln w="12700">
            <a:solidFill>
              <a:srgbClr val="2B4A6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ounded Rectangle 13"/>
          <p:cNvSpPr/>
          <p:nvPr/>
        </p:nvSpPr>
        <p:spPr>
          <a:xfrm>
            <a:off x="7818120" y="1207008"/>
            <a:ext cx="438912" cy="292608"/>
          </a:xfrm>
          <a:prstGeom prst="roundRect">
            <a:avLst/>
          </a:prstGeom>
          <a:solidFill>
            <a:srgbClr val="2F6FED"/>
          </a:solidFill>
          <a:ln w="12700">
            <a:solidFill>
              <a:srgbClr val="2F6F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50800" rIns="50800" tIns="0" bIns="0"/>
          <a:lstStyle/>
          <a:p>
            <a:pPr algn="ctr"/>
            <a:r>
              <a:rPr sz="800" b="1">
                <a:solidFill>
                  <a:srgbClr val="FFFFFF"/>
                </a:solidFill>
                <a:latin typeface="Noto Sans CJK TC"/>
              </a:rPr>
              <a:t>01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394192" y="1133856"/>
            <a:ext cx="2514600" cy="256032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50" b="1">
                <a:solidFill>
                  <a:srgbClr val="FFFFFF"/>
                </a:solidFill>
                <a:latin typeface="Noto Sans CJK TC"/>
              </a:rPr>
              <a:t>Experience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394192" y="1417320"/>
            <a:ext cx="2596896" cy="201168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50" b="0">
                <a:solidFill>
                  <a:srgbClr val="B8CAD9"/>
                </a:solidFill>
                <a:latin typeface="Noto Sans CJK TC"/>
              </a:rPr>
              <a:t>搜尋、聊天、上傳、管理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7635240" y="1883664"/>
            <a:ext cx="3703320" cy="749808"/>
          </a:xfrm>
          <a:prstGeom prst="roundRect">
            <a:avLst/>
          </a:prstGeom>
          <a:solidFill>
            <a:srgbClr val="132E46"/>
          </a:solidFill>
          <a:ln w="12700">
            <a:solidFill>
              <a:srgbClr val="2B4A6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ounded Rectangle 17"/>
          <p:cNvSpPr/>
          <p:nvPr/>
        </p:nvSpPr>
        <p:spPr>
          <a:xfrm>
            <a:off x="7818120" y="2066544"/>
            <a:ext cx="438912" cy="292608"/>
          </a:xfrm>
          <a:prstGeom prst="roundRect">
            <a:avLst/>
          </a:prstGeom>
          <a:solidFill>
            <a:srgbClr val="5B8DEF"/>
          </a:solidFill>
          <a:ln w="12700">
            <a:solidFill>
              <a:srgbClr val="5B8D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50800" rIns="50800" tIns="0" bIns="0"/>
          <a:lstStyle/>
          <a:p>
            <a:pPr algn="ctr"/>
            <a:r>
              <a:rPr sz="800" b="1">
                <a:solidFill>
                  <a:srgbClr val="FFFFFF"/>
                </a:solidFill>
                <a:latin typeface="Noto Sans CJK TC"/>
              </a:rPr>
              <a:t>02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394192" y="1993392"/>
            <a:ext cx="2514600" cy="256032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50" b="1">
                <a:solidFill>
                  <a:srgbClr val="FFFFFF"/>
                </a:solidFill>
                <a:latin typeface="Noto Sans CJK TC"/>
              </a:rPr>
              <a:t>API &amp; Gateway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394192" y="2276856"/>
            <a:ext cx="2596896" cy="201168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50" b="0">
                <a:solidFill>
                  <a:srgbClr val="B8CAD9"/>
                </a:solidFill>
                <a:latin typeface="Noto Sans CJK TC"/>
              </a:rPr>
              <a:t>Nginx、FastAPI、WebSocket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7635240" y="2743200"/>
            <a:ext cx="3703320" cy="749808"/>
          </a:xfrm>
          <a:prstGeom prst="roundRect">
            <a:avLst/>
          </a:prstGeom>
          <a:solidFill>
            <a:srgbClr val="132E46"/>
          </a:solidFill>
          <a:ln w="12700">
            <a:solidFill>
              <a:srgbClr val="2B4A6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ounded Rectangle 21"/>
          <p:cNvSpPr/>
          <p:nvPr/>
        </p:nvSpPr>
        <p:spPr>
          <a:xfrm>
            <a:off x="7818120" y="2926080"/>
            <a:ext cx="438912" cy="292608"/>
          </a:xfrm>
          <a:prstGeom prst="roundRect">
            <a:avLst/>
          </a:prstGeom>
          <a:solidFill>
            <a:srgbClr val="00A6A6"/>
          </a:solidFill>
          <a:ln w="12700">
            <a:solidFill>
              <a:srgbClr val="00A6A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50800" rIns="50800" tIns="0" bIns="0"/>
          <a:lstStyle/>
          <a:p>
            <a:pPr algn="ctr"/>
            <a:r>
              <a:rPr sz="800" b="1">
                <a:solidFill>
                  <a:srgbClr val="FFFFFF"/>
                </a:solidFill>
                <a:latin typeface="Noto Sans CJK TC"/>
              </a:rPr>
              <a:t>03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394192" y="2852928"/>
            <a:ext cx="2514600" cy="256032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50" b="1">
                <a:solidFill>
                  <a:srgbClr val="FFFFFF"/>
                </a:solidFill>
                <a:latin typeface="Noto Sans CJK TC"/>
              </a:rPr>
              <a:t>Orchestration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8394192" y="3136392"/>
            <a:ext cx="2596896" cy="201168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50" b="0">
                <a:solidFill>
                  <a:srgbClr val="B8CAD9"/>
                </a:solidFill>
                <a:latin typeface="Noto Sans CJK TC"/>
              </a:rPr>
              <a:t>Redis、Celery、Beat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7635240" y="3602736"/>
            <a:ext cx="3703320" cy="749808"/>
          </a:xfrm>
          <a:prstGeom prst="roundRect">
            <a:avLst/>
          </a:prstGeom>
          <a:solidFill>
            <a:srgbClr val="132E46"/>
          </a:solidFill>
          <a:ln w="12700">
            <a:solidFill>
              <a:srgbClr val="2B4A6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ounded Rectangle 25"/>
          <p:cNvSpPr/>
          <p:nvPr/>
        </p:nvSpPr>
        <p:spPr>
          <a:xfrm>
            <a:off x="7818120" y="3785615"/>
            <a:ext cx="438912" cy="292608"/>
          </a:xfrm>
          <a:prstGeom prst="roundRect">
            <a:avLst/>
          </a:prstGeom>
          <a:solidFill>
            <a:srgbClr val="F4B740"/>
          </a:solidFill>
          <a:ln w="12700">
            <a:solidFill>
              <a:srgbClr val="F4B74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50800" rIns="50800" tIns="0" bIns="0"/>
          <a:lstStyle/>
          <a:p>
            <a:pPr algn="ctr"/>
            <a:r>
              <a:rPr sz="800" b="1">
                <a:solidFill>
                  <a:srgbClr val="FFFFFF"/>
                </a:solidFill>
                <a:latin typeface="Noto Sans CJK TC"/>
              </a:rPr>
              <a:t>04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8394192" y="3712463"/>
            <a:ext cx="2514600" cy="256032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50" b="1">
                <a:solidFill>
                  <a:srgbClr val="FFFFFF"/>
                </a:solidFill>
                <a:latin typeface="Noto Sans CJK TC"/>
              </a:rPr>
              <a:t>Intelligence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8394192" y="3995928"/>
            <a:ext cx="2596896" cy="201168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50" b="0">
                <a:solidFill>
                  <a:srgbClr val="B8CAD9"/>
                </a:solidFill>
                <a:latin typeface="Noto Sans CJK TC"/>
              </a:rPr>
              <a:t>SearchEngine、Ollama、OpenClaw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7635240" y="4462272"/>
            <a:ext cx="3703320" cy="749808"/>
          </a:xfrm>
          <a:prstGeom prst="roundRect">
            <a:avLst/>
          </a:prstGeom>
          <a:solidFill>
            <a:srgbClr val="132E46"/>
          </a:solidFill>
          <a:ln w="12700">
            <a:solidFill>
              <a:srgbClr val="2B4A6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ounded Rectangle 29"/>
          <p:cNvSpPr/>
          <p:nvPr/>
        </p:nvSpPr>
        <p:spPr>
          <a:xfrm>
            <a:off x="7818120" y="4645152"/>
            <a:ext cx="438912" cy="292608"/>
          </a:xfrm>
          <a:prstGeom prst="roundRect">
            <a:avLst/>
          </a:prstGeom>
          <a:solidFill>
            <a:srgbClr val="2E9D68"/>
          </a:solidFill>
          <a:ln w="12700">
            <a:solidFill>
              <a:srgbClr val="2E9D6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50800" rIns="50800" tIns="0" bIns="0"/>
          <a:lstStyle/>
          <a:p>
            <a:pPr algn="ctr"/>
            <a:r>
              <a:rPr sz="800" b="1">
                <a:solidFill>
                  <a:srgbClr val="FFFFFF"/>
                </a:solidFill>
                <a:latin typeface="Noto Sans CJK TC"/>
              </a:rPr>
              <a:t>05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8394192" y="4572000"/>
            <a:ext cx="2514600" cy="256032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50" b="1">
                <a:solidFill>
                  <a:srgbClr val="FFFFFF"/>
                </a:solidFill>
                <a:latin typeface="Noto Sans CJK TC"/>
              </a:rPr>
              <a:t>Data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8394192" y="4855464"/>
            <a:ext cx="2596896" cy="201168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50" b="0">
                <a:solidFill>
                  <a:srgbClr val="B8CAD9"/>
                </a:solidFill>
                <a:latin typeface="Noto Sans CJK TC"/>
              </a:rPr>
              <a:t>Qdrant、Neo4j、File Store</a:t>
            </a:r>
          </a:p>
        </p:txBody>
      </p:sp>
      <p:sp>
        <p:nvSpPr>
          <p:cNvPr id="33" name="Rounded Rectangle 32"/>
          <p:cNvSpPr/>
          <p:nvPr/>
        </p:nvSpPr>
        <p:spPr>
          <a:xfrm>
            <a:off x="768096" y="5733288"/>
            <a:ext cx="1225296" cy="292608"/>
          </a:xfrm>
          <a:prstGeom prst="roundRect">
            <a:avLst/>
          </a:prstGeom>
          <a:solidFill>
            <a:srgbClr val="00A6A6"/>
          </a:solidFill>
          <a:ln w="12700">
            <a:solidFill>
              <a:srgbClr val="00A6A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50800" rIns="50800" tIns="0" bIns="0"/>
          <a:lstStyle/>
          <a:p>
            <a:pPr algn="ctr"/>
            <a:r>
              <a:rPr sz="840" b="1">
                <a:solidFill>
                  <a:srgbClr val="FFFFFF"/>
                </a:solidFill>
                <a:latin typeface="Noto Sans CJK TC"/>
              </a:rPr>
              <a:t>CURRENT STATE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2176272" y="5733288"/>
            <a:ext cx="4297680" cy="292608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19" b="0">
                <a:solidFill>
                  <a:srgbClr val="B8CAD9"/>
                </a:solidFill>
                <a:latin typeface="Noto Sans CJK TC"/>
              </a:rPr>
              <a:t>範圍：原始部署 + 可攜式 on-prem release</a:t>
            </a:r>
          </a:p>
        </p:txBody>
      </p:sp>
      <p:sp>
        <p:nvSpPr>
          <p:cNvPr id="35" name="Rounded Rectangle 34"/>
          <p:cNvSpPr/>
          <p:nvPr/>
        </p:nvSpPr>
        <p:spPr>
          <a:xfrm>
            <a:off x="9857232" y="5733288"/>
            <a:ext cx="1481328" cy="292608"/>
          </a:xfrm>
          <a:prstGeom prst="roundRect">
            <a:avLst/>
          </a:prstGeom>
          <a:solidFill>
            <a:srgbClr val="F4B740"/>
          </a:solidFill>
          <a:ln w="12700">
            <a:solidFill>
              <a:srgbClr val="F4B74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50800" rIns="50800" tIns="0" bIns="0"/>
          <a:lstStyle/>
          <a:p>
            <a:pPr algn="ctr"/>
            <a:r>
              <a:rPr sz="840" b="1">
                <a:solidFill>
                  <a:srgbClr val="0B1F33"/>
                </a:solidFill>
                <a:latin typeface="Noto Sans CJK TC"/>
              </a:rPr>
              <a:t>CONFIDENTIAL</a:t>
            </a:r>
          </a:p>
        </p:txBody>
      </p:sp>
      <p:sp>
        <p:nvSpPr>
          <p:cNvPr id="36" name="Rectangle 35"/>
          <p:cNvSpPr/>
          <p:nvPr/>
        </p:nvSpPr>
        <p:spPr>
          <a:xfrm>
            <a:off x="475488" y="6391656"/>
            <a:ext cx="11137392" cy="9144"/>
          </a:xfrm>
          <a:prstGeom prst="rect">
            <a:avLst/>
          </a:prstGeom>
          <a:solidFill>
            <a:srgbClr val="33506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475488" y="6473952"/>
            <a:ext cx="8229600" cy="173736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19" b="1">
                <a:solidFill>
                  <a:srgbClr val="C4D3E0"/>
                </a:solidFill>
                <a:latin typeface="Noto Sans CJK TC"/>
              </a:rPr>
              <a:t>報告重點｜本簡報呈現已落地的系統能力，目標架構與改善項目另行標示。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8887968" y="6473952"/>
            <a:ext cx="2724912" cy="173736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700" b="0">
                <a:solidFill>
                  <a:srgbClr val="8FA6BA"/>
                </a:solidFill>
                <a:latin typeface="Noto Sans CJK TC"/>
              </a:rPr>
              <a:t>Current-state architecture · 2026.07.17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2F6F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164592" y="0"/>
            <a:ext cx="12027103" cy="73152"/>
          </a:xfrm>
          <a:prstGeom prst="rect">
            <a:avLst/>
          </a:prstGeom>
          <a:solidFill>
            <a:srgbClr val="0B1F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75488" y="256032"/>
            <a:ext cx="5303520" cy="164592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80" b="1">
                <a:solidFill>
                  <a:srgbClr val="2F6FED"/>
                </a:solidFill>
                <a:latin typeface="Noto Sans CJK TC"/>
              </a:rPr>
              <a:t>01 · EXECUTIVE OVERVIEW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75488" y="475488"/>
            <a:ext cx="9875520" cy="420624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300" b="1">
                <a:solidFill>
                  <a:srgbClr val="0B1F33"/>
                </a:solidFill>
                <a:latin typeface="Noto Serif CJK TC"/>
              </a:rPr>
              <a:t>一張圖看懂：從企業文件到可追溯回答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84632" y="914400"/>
            <a:ext cx="10332720" cy="256032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50" b="0">
                <a:solidFill>
                  <a:srgbClr val="52677A"/>
                </a:solidFill>
                <a:latin typeface="Noto Sans CJK TC"/>
              </a:rPr>
              <a:t>系統把多格式文件轉為可檢索知識，經由雙引擎召回與 AI 助理，交付具來源脈絡的答案與管理能力。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10908792" y="329184"/>
            <a:ext cx="713232" cy="310896"/>
          </a:xfrm>
          <a:prstGeom prst="roundRect">
            <a:avLst/>
          </a:prstGeom>
          <a:solidFill>
            <a:srgbClr val="0B1F33"/>
          </a:solidFill>
          <a:ln w="12700">
            <a:solidFill>
              <a:srgbClr val="0B1F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50800" rIns="50800" tIns="0" bIns="0"/>
          <a:lstStyle/>
          <a:p>
            <a:pPr algn="ctr"/>
            <a:r>
              <a:rPr sz="950" b="1">
                <a:solidFill>
                  <a:srgbClr val="FFFFFF"/>
                </a:solidFill>
                <a:latin typeface="Noto Sans CJK TC"/>
              </a:rPr>
              <a:t>02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02920" y="1389888"/>
            <a:ext cx="1691640" cy="219456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50" b="1">
                <a:solidFill>
                  <a:srgbClr val="0B1F33"/>
                </a:solidFill>
                <a:latin typeface="Noto Sans CJK TC"/>
              </a:rPr>
              <a:t>服務對象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502920" y="1719072"/>
            <a:ext cx="1874519" cy="850392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5DE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502920" y="1719072"/>
            <a:ext cx="64008" cy="850392"/>
          </a:xfrm>
          <a:prstGeom prst="rect">
            <a:avLst/>
          </a:prstGeom>
          <a:solidFill>
            <a:srgbClr val="2F6F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ounded Rectangle 11"/>
          <p:cNvSpPr/>
          <p:nvPr/>
        </p:nvSpPr>
        <p:spPr>
          <a:xfrm>
            <a:off x="667512" y="1865376"/>
            <a:ext cx="384048" cy="384048"/>
          </a:xfrm>
          <a:prstGeom prst="roundRect">
            <a:avLst/>
          </a:prstGeom>
          <a:solidFill>
            <a:srgbClr val="2F6F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67512" y="1865376"/>
            <a:ext cx="384048" cy="384048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50" b="1">
                <a:solidFill>
                  <a:srgbClr val="FFFFFF"/>
                </a:solidFill>
                <a:latin typeface="Noto Sans CJK TC"/>
              </a:rPr>
              <a:t>KU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161288" y="1837943"/>
            <a:ext cx="1088136" cy="310896"/>
          </a:xfrm>
          <a:prstGeom prst="rect">
            <a:avLst/>
          </a:prstGeom>
          <a:noFill/>
        </p:spPr>
        <p:txBody>
          <a:bodyPr wrap="square" anchor="ctr" lIns="0" rIns="0" tIns="0" bIns="0">
            <a:norm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50" b="1">
                <a:solidFill>
                  <a:srgbClr val="2F6FED"/>
                </a:solidFill>
                <a:latin typeface="Noto Sans CJK TC"/>
              </a:rPr>
              <a:t>知識使用者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67512" y="2286000"/>
            <a:ext cx="1563623" cy="210312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19" b="0">
                <a:solidFill>
                  <a:srgbClr val="52677A"/>
                </a:solidFill>
                <a:latin typeface="Noto Sans CJK TC"/>
              </a:rPr>
              <a:t>搜尋、問答、來源追溯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502920" y="2706624"/>
            <a:ext cx="1874519" cy="850392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5DE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502920" y="2706624"/>
            <a:ext cx="64008" cy="850392"/>
          </a:xfrm>
          <a:prstGeom prst="rect">
            <a:avLst/>
          </a:prstGeom>
          <a:solidFill>
            <a:srgbClr val="00A6A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ounded Rectangle 17"/>
          <p:cNvSpPr/>
          <p:nvPr/>
        </p:nvSpPr>
        <p:spPr>
          <a:xfrm>
            <a:off x="667512" y="2852928"/>
            <a:ext cx="384048" cy="384048"/>
          </a:xfrm>
          <a:prstGeom prst="roundRect">
            <a:avLst/>
          </a:prstGeom>
          <a:solidFill>
            <a:srgbClr val="00A6A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67512" y="2852928"/>
            <a:ext cx="384048" cy="384048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50" b="1">
                <a:solidFill>
                  <a:srgbClr val="FFFFFF"/>
                </a:solidFill>
                <a:latin typeface="Noto Sans CJK TC"/>
              </a:rPr>
              <a:t>DM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161288" y="2825496"/>
            <a:ext cx="1088136" cy="310896"/>
          </a:xfrm>
          <a:prstGeom prst="rect">
            <a:avLst/>
          </a:prstGeom>
          <a:noFill/>
        </p:spPr>
        <p:txBody>
          <a:bodyPr wrap="square" anchor="ctr" lIns="0" rIns="0" tIns="0" bIns="0">
            <a:norm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50" b="1">
                <a:solidFill>
                  <a:srgbClr val="00A6A6"/>
                </a:solidFill>
                <a:latin typeface="Noto Sans CJK TC"/>
              </a:rPr>
              <a:t>資料維護者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67512" y="3273552"/>
            <a:ext cx="1563623" cy="210312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19" b="0">
                <a:solidFill>
                  <a:srgbClr val="52677A"/>
                </a:solidFill>
                <a:latin typeface="Noto Sans CJK TC"/>
              </a:rPr>
              <a:t>上傳、攝入、Chunk 修訂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502920" y="3694176"/>
            <a:ext cx="1874519" cy="850392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5DE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502920" y="3694176"/>
            <a:ext cx="64008" cy="850392"/>
          </a:xfrm>
          <a:prstGeom prst="rect">
            <a:avLst/>
          </a:prstGeom>
          <a:solidFill>
            <a:srgbClr val="F4B7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ounded Rectangle 23"/>
          <p:cNvSpPr/>
          <p:nvPr/>
        </p:nvSpPr>
        <p:spPr>
          <a:xfrm>
            <a:off x="667512" y="3840480"/>
            <a:ext cx="384048" cy="384048"/>
          </a:xfrm>
          <a:prstGeom prst="roundRect">
            <a:avLst/>
          </a:prstGeom>
          <a:solidFill>
            <a:srgbClr val="F4B7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667512" y="3840480"/>
            <a:ext cx="384048" cy="384048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50" b="1">
                <a:solidFill>
                  <a:srgbClr val="FFFFFF"/>
                </a:solidFill>
                <a:latin typeface="Noto Sans CJK TC"/>
              </a:rPr>
              <a:t>PA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161288" y="3813048"/>
            <a:ext cx="1088136" cy="310896"/>
          </a:xfrm>
          <a:prstGeom prst="rect">
            <a:avLst/>
          </a:prstGeom>
          <a:noFill/>
        </p:spPr>
        <p:txBody>
          <a:bodyPr wrap="square" anchor="ctr" lIns="0" rIns="0" tIns="0" bIns="0">
            <a:norm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50" b="1">
                <a:solidFill>
                  <a:srgbClr val="F4B740"/>
                </a:solidFill>
                <a:latin typeface="Noto Sans CJK TC"/>
              </a:rPr>
              <a:t>平台管理者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67512" y="4261104"/>
            <a:ext cx="1563623" cy="210312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19" b="0">
                <a:solidFill>
                  <a:srgbClr val="52677A"/>
                </a:solidFill>
                <a:latin typeface="Noto Sans CJK TC"/>
              </a:rPr>
              <a:t>統計、日誌、排程、Skills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2670048" y="1389888"/>
            <a:ext cx="6839712" cy="219456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50" b="1">
                <a:solidFill>
                  <a:srgbClr val="0B1F33"/>
                </a:solidFill>
                <a:latin typeface="Noto Sans CJK TC"/>
              </a:rPr>
              <a:t>企業知識價值鏈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2670048" y="1856231"/>
            <a:ext cx="1170432" cy="2322576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5DE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ectangle 29"/>
          <p:cNvSpPr/>
          <p:nvPr/>
        </p:nvSpPr>
        <p:spPr>
          <a:xfrm>
            <a:off x="2670048" y="1856231"/>
            <a:ext cx="1170432" cy="100584"/>
          </a:xfrm>
          <a:prstGeom prst="rect">
            <a:avLst/>
          </a:prstGeom>
          <a:solidFill>
            <a:srgbClr val="2F6F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ounded Rectangle 30"/>
          <p:cNvSpPr/>
          <p:nvPr/>
        </p:nvSpPr>
        <p:spPr>
          <a:xfrm>
            <a:off x="2779776" y="2103120"/>
            <a:ext cx="950976" cy="246888"/>
          </a:xfrm>
          <a:prstGeom prst="roundRect">
            <a:avLst/>
          </a:prstGeom>
          <a:solidFill>
            <a:srgbClr val="F5F8FB"/>
          </a:solidFill>
          <a:ln w="12700">
            <a:solidFill>
              <a:srgbClr val="D5DE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50800" rIns="50800" tIns="0" bIns="0"/>
          <a:lstStyle/>
          <a:p>
            <a:pPr algn="ctr"/>
            <a:r>
              <a:rPr sz="720" b="1">
                <a:solidFill>
                  <a:srgbClr val="2F6FED"/>
                </a:solidFill>
                <a:latin typeface="Noto Sans CJK TC"/>
              </a:rPr>
              <a:t>CAPTURE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2761488" y="2560320"/>
            <a:ext cx="987552" cy="475488"/>
          </a:xfrm>
          <a:prstGeom prst="rect">
            <a:avLst/>
          </a:prstGeom>
          <a:noFill/>
        </p:spPr>
        <p:txBody>
          <a:bodyPr wrap="square" anchor="ctr" lIns="0" rIns="0" tIns="0" bIns="0">
            <a:norm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00" b="1">
                <a:solidFill>
                  <a:srgbClr val="0B1F33"/>
                </a:solidFill>
                <a:latin typeface="Noto Sans CJK TC"/>
              </a:rPr>
              <a:t>文件匯入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2761488" y="3172968"/>
            <a:ext cx="987552" cy="512064"/>
          </a:xfrm>
          <a:prstGeom prst="rect">
            <a:avLst/>
          </a:prstGeom>
          <a:noFill/>
        </p:spPr>
        <p:txBody>
          <a:bodyPr wrap="square" anchor="ctr" lIns="0" rIns="0" tIns="0" bIns="0">
            <a:norm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50" b="0">
                <a:solidFill>
                  <a:srgbClr val="52677A"/>
                </a:solidFill>
                <a:latin typeface="Noto Sans CJK TC"/>
              </a:rPr>
              <a:t>PDF / Office / 圖片</a:t>
            </a:r>
          </a:p>
        </p:txBody>
      </p:sp>
      <p:sp>
        <p:nvSpPr>
          <p:cNvPr id="34" name="Chevron 33"/>
          <p:cNvSpPr/>
          <p:nvPr/>
        </p:nvSpPr>
        <p:spPr>
          <a:xfrm>
            <a:off x="3913632" y="2798064"/>
            <a:ext cx="201168" cy="347472"/>
          </a:xfrm>
          <a:prstGeom prst="chevron">
            <a:avLst/>
          </a:prstGeom>
          <a:solidFill>
            <a:srgbClr val="71859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Rounded Rectangle 34"/>
          <p:cNvSpPr/>
          <p:nvPr/>
        </p:nvSpPr>
        <p:spPr>
          <a:xfrm>
            <a:off x="4023360" y="1856231"/>
            <a:ext cx="1170432" cy="2322576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5DE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Rectangle 35"/>
          <p:cNvSpPr/>
          <p:nvPr/>
        </p:nvSpPr>
        <p:spPr>
          <a:xfrm>
            <a:off x="4023360" y="1856231"/>
            <a:ext cx="1170432" cy="100584"/>
          </a:xfrm>
          <a:prstGeom prst="rect">
            <a:avLst/>
          </a:prstGeom>
          <a:solidFill>
            <a:srgbClr val="5B8DE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Rounded Rectangle 36"/>
          <p:cNvSpPr/>
          <p:nvPr/>
        </p:nvSpPr>
        <p:spPr>
          <a:xfrm>
            <a:off x="4133088" y="2103120"/>
            <a:ext cx="950976" cy="246888"/>
          </a:xfrm>
          <a:prstGeom prst="roundRect">
            <a:avLst/>
          </a:prstGeom>
          <a:solidFill>
            <a:srgbClr val="F5F8FB"/>
          </a:solidFill>
          <a:ln w="12700">
            <a:solidFill>
              <a:srgbClr val="D5DE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50800" rIns="50800" tIns="0" bIns="0"/>
          <a:lstStyle/>
          <a:p>
            <a:pPr algn="ctr"/>
            <a:r>
              <a:rPr sz="720" b="1">
                <a:solidFill>
                  <a:srgbClr val="5B8DEF"/>
                </a:solidFill>
                <a:latin typeface="Noto Sans CJK TC"/>
              </a:rPr>
              <a:t>UNDERSTAND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4114800" y="2560320"/>
            <a:ext cx="987552" cy="475488"/>
          </a:xfrm>
          <a:prstGeom prst="rect">
            <a:avLst/>
          </a:prstGeom>
          <a:noFill/>
        </p:spPr>
        <p:txBody>
          <a:bodyPr wrap="square" anchor="ctr" lIns="0" rIns="0" tIns="0" bIns="0">
            <a:norm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00" b="1">
                <a:solidFill>
                  <a:srgbClr val="0B1F33"/>
                </a:solidFill>
                <a:latin typeface="Noto Sans CJK TC"/>
              </a:rPr>
              <a:t>解析與分塊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4114800" y="3172968"/>
            <a:ext cx="987552" cy="512064"/>
          </a:xfrm>
          <a:prstGeom prst="rect">
            <a:avLst/>
          </a:prstGeom>
          <a:noFill/>
        </p:spPr>
        <p:txBody>
          <a:bodyPr wrap="square" anchor="ctr" lIns="0" rIns="0" tIns="0" bIns="0">
            <a:norm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50" b="0">
                <a:solidFill>
                  <a:srgbClr val="52677A"/>
                </a:solidFill>
                <a:latin typeface="Noto Sans CJK TC"/>
              </a:rPr>
              <a:t>Markdown / OCR / Assets</a:t>
            </a:r>
          </a:p>
        </p:txBody>
      </p:sp>
      <p:sp>
        <p:nvSpPr>
          <p:cNvPr id="40" name="Chevron 39"/>
          <p:cNvSpPr/>
          <p:nvPr/>
        </p:nvSpPr>
        <p:spPr>
          <a:xfrm>
            <a:off x="5266944" y="2798064"/>
            <a:ext cx="201168" cy="347472"/>
          </a:xfrm>
          <a:prstGeom prst="chevron">
            <a:avLst/>
          </a:prstGeom>
          <a:solidFill>
            <a:srgbClr val="71859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Rounded Rectangle 40"/>
          <p:cNvSpPr/>
          <p:nvPr/>
        </p:nvSpPr>
        <p:spPr>
          <a:xfrm>
            <a:off x="5376672" y="1856231"/>
            <a:ext cx="1170432" cy="2322576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5DE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Rectangle 41"/>
          <p:cNvSpPr/>
          <p:nvPr/>
        </p:nvSpPr>
        <p:spPr>
          <a:xfrm>
            <a:off x="5376672" y="1856231"/>
            <a:ext cx="1170432" cy="100584"/>
          </a:xfrm>
          <a:prstGeom prst="rect">
            <a:avLst/>
          </a:prstGeom>
          <a:solidFill>
            <a:srgbClr val="00A6A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Rounded Rectangle 42"/>
          <p:cNvSpPr/>
          <p:nvPr/>
        </p:nvSpPr>
        <p:spPr>
          <a:xfrm>
            <a:off x="5486400" y="2103120"/>
            <a:ext cx="950976" cy="246888"/>
          </a:xfrm>
          <a:prstGeom prst="roundRect">
            <a:avLst/>
          </a:prstGeom>
          <a:solidFill>
            <a:srgbClr val="F5F8FB"/>
          </a:solidFill>
          <a:ln w="12700">
            <a:solidFill>
              <a:srgbClr val="D5DE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50800" rIns="50800" tIns="0" bIns="0"/>
          <a:lstStyle/>
          <a:p>
            <a:pPr algn="ctr"/>
            <a:r>
              <a:rPr sz="720" b="1">
                <a:solidFill>
                  <a:srgbClr val="00A6A6"/>
                </a:solidFill>
                <a:latin typeface="Noto Sans CJK TC"/>
              </a:rPr>
              <a:t>INDEX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5468112" y="2560320"/>
            <a:ext cx="987552" cy="475488"/>
          </a:xfrm>
          <a:prstGeom prst="rect">
            <a:avLst/>
          </a:prstGeom>
          <a:noFill/>
        </p:spPr>
        <p:txBody>
          <a:bodyPr wrap="square" anchor="ctr" lIns="0" rIns="0" tIns="0" bIns="0">
            <a:norm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00" b="1">
                <a:solidFill>
                  <a:srgbClr val="0B1F33"/>
                </a:solidFill>
                <a:latin typeface="Noto Sans CJK TC"/>
              </a:rPr>
              <a:t>建立知識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5468112" y="3172968"/>
            <a:ext cx="987552" cy="512064"/>
          </a:xfrm>
          <a:prstGeom prst="rect">
            <a:avLst/>
          </a:prstGeom>
          <a:noFill/>
        </p:spPr>
        <p:txBody>
          <a:bodyPr wrap="square" anchor="ctr" lIns="0" rIns="0" tIns="0" bIns="0">
            <a:norm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50" b="0">
                <a:solidFill>
                  <a:srgbClr val="52677A"/>
                </a:solidFill>
                <a:latin typeface="Noto Sans CJK TC"/>
              </a:rPr>
              <a:t>向量 + 圖譜</a:t>
            </a:r>
          </a:p>
        </p:txBody>
      </p:sp>
      <p:sp>
        <p:nvSpPr>
          <p:cNvPr id="46" name="Chevron 45"/>
          <p:cNvSpPr/>
          <p:nvPr/>
        </p:nvSpPr>
        <p:spPr>
          <a:xfrm>
            <a:off x="6620256" y="2798064"/>
            <a:ext cx="201168" cy="347472"/>
          </a:xfrm>
          <a:prstGeom prst="chevron">
            <a:avLst/>
          </a:prstGeom>
          <a:solidFill>
            <a:srgbClr val="71859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Rounded Rectangle 46"/>
          <p:cNvSpPr/>
          <p:nvPr/>
        </p:nvSpPr>
        <p:spPr>
          <a:xfrm>
            <a:off x="6729984" y="1856231"/>
            <a:ext cx="1170432" cy="2322576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5DE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Rectangle 47"/>
          <p:cNvSpPr/>
          <p:nvPr/>
        </p:nvSpPr>
        <p:spPr>
          <a:xfrm>
            <a:off x="6729984" y="1856231"/>
            <a:ext cx="1170432" cy="100584"/>
          </a:xfrm>
          <a:prstGeom prst="rect">
            <a:avLst/>
          </a:prstGeom>
          <a:solidFill>
            <a:srgbClr val="2E9D6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Rounded Rectangle 48"/>
          <p:cNvSpPr/>
          <p:nvPr/>
        </p:nvSpPr>
        <p:spPr>
          <a:xfrm>
            <a:off x="6839712" y="2103120"/>
            <a:ext cx="950976" cy="246888"/>
          </a:xfrm>
          <a:prstGeom prst="roundRect">
            <a:avLst/>
          </a:prstGeom>
          <a:solidFill>
            <a:srgbClr val="F5F8FB"/>
          </a:solidFill>
          <a:ln w="12700">
            <a:solidFill>
              <a:srgbClr val="D5DE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50800" rIns="50800" tIns="0" bIns="0"/>
          <a:lstStyle/>
          <a:p>
            <a:pPr algn="ctr"/>
            <a:r>
              <a:rPr sz="720" b="1">
                <a:solidFill>
                  <a:srgbClr val="2E9D68"/>
                </a:solidFill>
                <a:latin typeface="Noto Sans CJK TC"/>
              </a:rPr>
              <a:t>RETRIEVE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6821424" y="2560320"/>
            <a:ext cx="987552" cy="475488"/>
          </a:xfrm>
          <a:prstGeom prst="rect">
            <a:avLst/>
          </a:prstGeom>
          <a:noFill/>
        </p:spPr>
        <p:txBody>
          <a:bodyPr wrap="square" anchor="ctr" lIns="0" rIns="0" tIns="0" bIns="0">
            <a:norm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00" b="1">
                <a:solidFill>
                  <a:srgbClr val="0B1F33"/>
                </a:solidFill>
                <a:latin typeface="Noto Sans CJK TC"/>
              </a:rPr>
              <a:t>混合檢索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6821424" y="3172968"/>
            <a:ext cx="987552" cy="512064"/>
          </a:xfrm>
          <a:prstGeom prst="rect">
            <a:avLst/>
          </a:prstGeom>
          <a:noFill/>
        </p:spPr>
        <p:txBody>
          <a:bodyPr wrap="square" anchor="ctr" lIns="0" rIns="0" tIns="0" bIns="0">
            <a:norm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50" b="0">
                <a:solidFill>
                  <a:srgbClr val="52677A"/>
                </a:solidFill>
                <a:latin typeface="Noto Sans CJK TC"/>
              </a:rPr>
              <a:t>語意 + 關聯 + 規則</a:t>
            </a:r>
          </a:p>
        </p:txBody>
      </p:sp>
      <p:sp>
        <p:nvSpPr>
          <p:cNvPr id="52" name="Chevron 51"/>
          <p:cNvSpPr/>
          <p:nvPr/>
        </p:nvSpPr>
        <p:spPr>
          <a:xfrm>
            <a:off x="7973568" y="2798064"/>
            <a:ext cx="201168" cy="347472"/>
          </a:xfrm>
          <a:prstGeom prst="chevron">
            <a:avLst/>
          </a:prstGeom>
          <a:solidFill>
            <a:srgbClr val="71859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" name="Rounded Rectangle 52"/>
          <p:cNvSpPr/>
          <p:nvPr/>
        </p:nvSpPr>
        <p:spPr>
          <a:xfrm>
            <a:off x="8083296" y="1856231"/>
            <a:ext cx="1170432" cy="2322576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5DE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" name="Rectangle 53"/>
          <p:cNvSpPr/>
          <p:nvPr/>
        </p:nvSpPr>
        <p:spPr>
          <a:xfrm>
            <a:off x="8083296" y="1856231"/>
            <a:ext cx="1170432" cy="100584"/>
          </a:xfrm>
          <a:prstGeom prst="rect">
            <a:avLst/>
          </a:prstGeom>
          <a:solidFill>
            <a:srgbClr val="F4B7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" name="Rounded Rectangle 54"/>
          <p:cNvSpPr/>
          <p:nvPr/>
        </p:nvSpPr>
        <p:spPr>
          <a:xfrm>
            <a:off x="8193024" y="2103120"/>
            <a:ext cx="950976" cy="246888"/>
          </a:xfrm>
          <a:prstGeom prst="roundRect">
            <a:avLst/>
          </a:prstGeom>
          <a:solidFill>
            <a:srgbClr val="F5F8FB"/>
          </a:solidFill>
          <a:ln w="12700">
            <a:solidFill>
              <a:srgbClr val="D5DE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50800" rIns="50800" tIns="0" bIns="0"/>
          <a:lstStyle/>
          <a:p>
            <a:pPr algn="ctr"/>
            <a:r>
              <a:rPr sz="720" b="1">
                <a:solidFill>
                  <a:srgbClr val="F4B740"/>
                </a:solidFill>
                <a:latin typeface="Noto Sans CJK TC"/>
              </a:rPr>
              <a:t>ANSWER</a:t>
            </a:r>
          </a:p>
        </p:txBody>
      </p:sp>
      <p:sp>
        <p:nvSpPr>
          <p:cNvPr id="56" name="TextBox 55"/>
          <p:cNvSpPr txBox="1"/>
          <p:nvPr/>
        </p:nvSpPr>
        <p:spPr>
          <a:xfrm>
            <a:off x="8174736" y="2560320"/>
            <a:ext cx="987552" cy="475488"/>
          </a:xfrm>
          <a:prstGeom prst="rect">
            <a:avLst/>
          </a:prstGeom>
          <a:noFill/>
        </p:spPr>
        <p:txBody>
          <a:bodyPr wrap="square" anchor="ctr" lIns="0" rIns="0" tIns="0" bIns="0">
            <a:norm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00" b="1">
                <a:solidFill>
                  <a:srgbClr val="0B1F33"/>
                </a:solidFill>
                <a:latin typeface="Noto Sans CJK TC"/>
              </a:rPr>
              <a:t>生成與引用</a:t>
            </a:r>
          </a:p>
        </p:txBody>
      </p:sp>
      <p:sp>
        <p:nvSpPr>
          <p:cNvPr id="57" name="TextBox 56"/>
          <p:cNvSpPr txBox="1"/>
          <p:nvPr/>
        </p:nvSpPr>
        <p:spPr>
          <a:xfrm>
            <a:off x="8174736" y="3172968"/>
            <a:ext cx="987552" cy="512064"/>
          </a:xfrm>
          <a:prstGeom prst="rect">
            <a:avLst/>
          </a:prstGeom>
          <a:noFill/>
        </p:spPr>
        <p:txBody>
          <a:bodyPr wrap="square" anchor="ctr" lIns="0" rIns="0" tIns="0" bIns="0">
            <a:norm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50" b="0">
                <a:solidFill>
                  <a:srgbClr val="52677A"/>
                </a:solidFill>
                <a:latin typeface="Noto Sans CJK TC"/>
              </a:rPr>
              <a:t>Ollama / OpenClaw</a:t>
            </a:r>
          </a:p>
        </p:txBody>
      </p:sp>
      <p:sp>
        <p:nvSpPr>
          <p:cNvPr id="58" name="TextBox 57"/>
          <p:cNvSpPr txBox="1"/>
          <p:nvPr/>
        </p:nvSpPr>
        <p:spPr>
          <a:xfrm>
            <a:off x="9710928" y="1389888"/>
            <a:ext cx="1975104" cy="219456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50" b="1">
                <a:solidFill>
                  <a:srgbClr val="0B1F33"/>
                </a:solidFill>
                <a:latin typeface="Noto Sans CJK TC"/>
              </a:rPr>
              <a:t>管理輸出</a:t>
            </a:r>
          </a:p>
        </p:txBody>
      </p:sp>
      <p:sp>
        <p:nvSpPr>
          <p:cNvPr id="59" name="Rounded Rectangle 58"/>
          <p:cNvSpPr/>
          <p:nvPr/>
        </p:nvSpPr>
        <p:spPr>
          <a:xfrm>
            <a:off x="9710928" y="1719072"/>
            <a:ext cx="1975104" cy="850392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5DE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0" name="Rectangle 59"/>
          <p:cNvSpPr/>
          <p:nvPr/>
        </p:nvSpPr>
        <p:spPr>
          <a:xfrm>
            <a:off x="9710928" y="1719072"/>
            <a:ext cx="64008" cy="850392"/>
          </a:xfrm>
          <a:prstGeom prst="rect">
            <a:avLst/>
          </a:prstGeom>
          <a:solidFill>
            <a:srgbClr val="2F6F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1" name="TextBox 60"/>
          <p:cNvSpPr txBox="1"/>
          <p:nvPr/>
        </p:nvSpPr>
        <p:spPr>
          <a:xfrm>
            <a:off x="9875519" y="1837943"/>
            <a:ext cx="1700784" cy="310896"/>
          </a:xfrm>
          <a:prstGeom prst="rect">
            <a:avLst/>
          </a:prstGeom>
          <a:noFill/>
        </p:spPr>
        <p:txBody>
          <a:bodyPr wrap="square" anchor="ctr" lIns="0" rIns="0" tIns="0" bIns="0">
            <a:norm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50" b="1">
                <a:solidFill>
                  <a:srgbClr val="2F6FED"/>
                </a:solidFill>
                <a:latin typeface="Noto Sans CJK TC"/>
              </a:rPr>
              <a:t>可追溯回答</a:t>
            </a:r>
          </a:p>
        </p:txBody>
      </p:sp>
      <p:sp>
        <p:nvSpPr>
          <p:cNvPr id="62" name="TextBox 61"/>
          <p:cNvSpPr txBox="1"/>
          <p:nvPr/>
        </p:nvSpPr>
        <p:spPr>
          <a:xfrm>
            <a:off x="9875519" y="2194560"/>
            <a:ext cx="1664208" cy="292608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19" b="0">
                <a:solidFill>
                  <a:srgbClr val="52677A"/>
                </a:solidFill>
                <a:latin typeface="Noto Sans CJK TC"/>
              </a:rPr>
              <a:t>來源文件、章節、引用占比</a:t>
            </a:r>
          </a:p>
        </p:txBody>
      </p:sp>
      <p:sp>
        <p:nvSpPr>
          <p:cNvPr id="63" name="Rounded Rectangle 62"/>
          <p:cNvSpPr/>
          <p:nvPr/>
        </p:nvSpPr>
        <p:spPr>
          <a:xfrm>
            <a:off x="9710928" y="2706624"/>
            <a:ext cx="1975104" cy="850392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5DE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4" name="Rectangle 63"/>
          <p:cNvSpPr/>
          <p:nvPr/>
        </p:nvSpPr>
        <p:spPr>
          <a:xfrm>
            <a:off x="9710928" y="2706624"/>
            <a:ext cx="64008" cy="850392"/>
          </a:xfrm>
          <a:prstGeom prst="rect">
            <a:avLst/>
          </a:prstGeom>
          <a:solidFill>
            <a:srgbClr val="00A6A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5" name="TextBox 64"/>
          <p:cNvSpPr txBox="1"/>
          <p:nvPr/>
        </p:nvSpPr>
        <p:spPr>
          <a:xfrm>
            <a:off x="9875519" y="2825496"/>
            <a:ext cx="1700784" cy="310896"/>
          </a:xfrm>
          <a:prstGeom prst="rect">
            <a:avLst/>
          </a:prstGeom>
          <a:noFill/>
        </p:spPr>
        <p:txBody>
          <a:bodyPr wrap="square" anchor="ctr" lIns="0" rIns="0" tIns="0" bIns="0">
            <a:norm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50" b="1">
                <a:solidFill>
                  <a:srgbClr val="00A6A6"/>
                </a:solidFill>
                <a:latin typeface="Noto Sans CJK TC"/>
              </a:rPr>
              <a:t>可操作資料</a:t>
            </a:r>
          </a:p>
        </p:txBody>
      </p:sp>
      <p:sp>
        <p:nvSpPr>
          <p:cNvPr id="66" name="TextBox 65"/>
          <p:cNvSpPr txBox="1"/>
          <p:nvPr/>
        </p:nvSpPr>
        <p:spPr>
          <a:xfrm>
            <a:off x="9875519" y="3182112"/>
            <a:ext cx="1664208" cy="292608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19" b="0">
                <a:solidFill>
                  <a:srgbClr val="52677A"/>
                </a:solidFill>
                <a:latin typeface="Noto Sans CJK TC"/>
              </a:rPr>
              <a:t>文件版本、Chunk、資產</a:t>
            </a:r>
          </a:p>
        </p:txBody>
      </p:sp>
      <p:sp>
        <p:nvSpPr>
          <p:cNvPr id="67" name="Rounded Rectangle 66"/>
          <p:cNvSpPr/>
          <p:nvPr/>
        </p:nvSpPr>
        <p:spPr>
          <a:xfrm>
            <a:off x="9710928" y="3694176"/>
            <a:ext cx="1975104" cy="850392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5DE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8" name="Rectangle 67"/>
          <p:cNvSpPr/>
          <p:nvPr/>
        </p:nvSpPr>
        <p:spPr>
          <a:xfrm>
            <a:off x="9710928" y="3694176"/>
            <a:ext cx="64008" cy="850392"/>
          </a:xfrm>
          <a:prstGeom prst="rect">
            <a:avLst/>
          </a:prstGeom>
          <a:solidFill>
            <a:srgbClr val="F4B7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9" name="TextBox 68"/>
          <p:cNvSpPr txBox="1"/>
          <p:nvPr/>
        </p:nvSpPr>
        <p:spPr>
          <a:xfrm>
            <a:off x="9875519" y="3813048"/>
            <a:ext cx="1700784" cy="310896"/>
          </a:xfrm>
          <a:prstGeom prst="rect">
            <a:avLst/>
          </a:prstGeom>
          <a:noFill/>
        </p:spPr>
        <p:txBody>
          <a:bodyPr wrap="square" anchor="ctr" lIns="0" rIns="0" tIns="0" bIns="0">
            <a:norm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50" b="1">
                <a:solidFill>
                  <a:srgbClr val="F4B740"/>
                </a:solidFill>
                <a:latin typeface="Noto Sans CJK TC"/>
              </a:rPr>
              <a:t>可觀測服務</a:t>
            </a:r>
          </a:p>
        </p:txBody>
      </p:sp>
      <p:sp>
        <p:nvSpPr>
          <p:cNvPr id="70" name="TextBox 69"/>
          <p:cNvSpPr txBox="1"/>
          <p:nvPr/>
        </p:nvSpPr>
        <p:spPr>
          <a:xfrm>
            <a:off x="9875519" y="4169664"/>
            <a:ext cx="1664208" cy="292608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19" b="0">
                <a:solidFill>
                  <a:srgbClr val="52677A"/>
                </a:solidFill>
                <a:latin typeface="Noto Sans CJK TC"/>
              </a:rPr>
              <a:t>任務狀態、日誌、健康檢查</a:t>
            </a:r>
          </a:p>
        </p:txBody>
      </p:sp>
      <p:sp>
        <p:nvSpPr>
          <p:cNvPr id="71" name="Rounded Rectangle 70"/>
          <p:cNvSpPr/>
          <p:nvPr/>
        </p:nvSpPr>
        <p:spPr>
          <a:xfrm>
            <a:off x="502920" y="4800600"/>
            <a:ext cx="11183112" cy="1143000"/>
          </a:xfrm>
          <a:prstGeom prst="roundRect">
            <a:avLst/>
          </a:prstGeom>
          <a:solidFill>
            <a:srgbClr val="0B1F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2" name="TextBox 71"/>
          <p:cNvSpPr txBox="1"/>
          <p:nvPr/>
        </p:nvSpPr>
        <p:spPr>
          <a:xfrm>
            <a:off x="713232" y="5001768"/>
            <a:ext cx="1207008" cy="164592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19" b="1">
                <a:solidFill>
                  <a:srgbClr val="00A6A6"/>
                </a:solidFill>
                <a:latin typeface="Noto Sans CJK TC"/>
              </a:rPr>
              <a:t>CAPABILITY MAP</a:t>
            </a:r>
          </a:p>
        </p:txBody>
      </p:sp>
      <p:sp>
        <p:nvSpPr>
          <p:cNvPr id="73" name="Rounded Rectangle 72"/>
          <p:cNvSpPr/>
          <p:nvPr/>
        </p:nvSpPr>
        <p:spPr>
          <a:xfrm>
            <a:off x="2011680" y="4965192"/>
            <a:ext cx="1481328" cy="658368"/>
          </a:xfrm>
          <a:prstGeom prst="roundRect">
            <a:avLst/>
          </a:prstGeom>
          <a:solidFill>
            <a:srgbClr val="132E46"/>
          </a:solidFill>
          <a:ln w="12700">
            <a:solidFill>
              <a:srgbClr val="31516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4" name="TextBox 73"/>
          <p:cNvSpPr txBox="1"/>
          <p:nvPr/>
        </p:nvSpPr>
        <p:spPr>
          <a:xfrm>
            <a:off x="2103120" y="5038344"/>
            <a:ext cx="1298448" cy="201168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19" b="1">
                <a:solidFill>
                  <a:srgbClr val="FFFFFF"/>
                </a:solidFill>
                <a:latin typeface="Noto Sans CJK TC"/>
              </a:rPr>
              <a:t>企業搜尋</a:t>
            </a:r>
          </a:p>
        </p:txBody>
      </p:sp>
      <p:sp>
        <p:nvSpPr>
          <p:cNvPr id="75" name="TextBox 74"/>
          <p:cNvSpPr txBox="1"/>
          <p:nvPr/>
        </p:nvSpPr>
        <p:spPr>
          <a:xfrm>
            <a:off x="2084832" y="5294376"/>
            <a:ext cx="1335024" cy="182880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720" b="0">
                <a:solidFill>
                  <a:srgbClr val="B9CAD9"/>
                </a:solidFill>
                <a:latin typeface="Noto Sans CJK TC"/>
              </a:rPr>
              <a:t>Basic / Deep / Vector / Hybrid</a:t>
            </a:r>
          </a:p>
        </p:txBody>
      </p:sp>
      <p:sp>
        <p:nvSpPr>
          <p:cNvPr id="76" name="Rounded Rectangle 75"/>
          <p:cNvSpPr/>
          <p:nvPr/>
        </p:nvSpPr>
        <p:spPr>
          <a:xfrm>
            <a:off x="3584448" y="4965192"/>
            <a:ext cx="1481328" cy="658368"/>
          </a:xfrm>
          <a:prstGeom prst="roundRect">
            <a:avLst/>
          </a:prstGeom>
          <a:solidFill>
            <a:srgbClr val="132E46"/>
          </a:solidFill>
          <a:ln w="12700">
            <a:solidFill>
              <a:srgbClr val="31516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7" name="TextBox 76"/>
          <p:cNvSpPr txBox="1"/>
          <p:nvPr/>
        </p:nvSpPr>
        <p:spPr>
          <a:xfrm>
            <a:off x="3675887" y="5038344"/>
            <a:ext cx="1298448" cy="201168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19" b="1">
                <a:solidFill>
                  <a:srgbClr val="FFFFFF"/>
                </a:solidFill>
                <a:latin typeface="Noto Sans CJK TC"/>
              </a:rPr>
              <a:t>AI 聊天</a:t>
            </a:r>
          </a:p>
        </p:txBody>
      </p:sp>
      <p:sp>
        <p:nvSpPr>
          <p:cNvPr id="78" name="TextBox 77"/>
          <p:cNvSpPr txBox="1"/>
          <p:nvPr/>
        </p:nvSpPr>
        <p:spPr>
          <a:xfrm>
            <a:off x="3657600" y="5294376"/>
            <a:ext cx="1335024" cy="182880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720" b="0">
                <a:solidFill>
                  <a:srgbClr val="B9CAD9"/>
                </a:solidFill>
                <a:latin typeface="Noto Sans CJK TC"/>
              </a:rPr>
              <a:t>KB Context + OpenClaw</a:t>
            </a:r>
          </a:p>
        </p:txBody>
      </p:sp>
      <p:sp>
        <p:nvSpPr>
          <p:cNvPr id="79" name="Rounded Rectangle 78"/>
          <p:cNvSpPr/>
          <p:nvPr/>
        </p:nvSpPr>
        <p:spPr>
          <a:xfrm>
            <a:off x="5157216" y="4965192"/>
            <a:ext cx="1481328" cy="658368"/>
          </a:xfrm>
          <a:prstGeom prst="roundRect">
            <a:avLst/>
          </a:prstGeom>
          <a:solidFill>
            <a:srgbClr val="132E46"/>
          </a:solidFill>
          <a:ln w="12700">
            <a:solidFill>
              <a:srgbClr val="31516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0" name="TextBox 79"/>
          <p:cNvSpPr txBox="1"/>
          <p:nvPr/>
        </p:nvSpPr>
        <p:spPr>
          <a:xfrm>
            <a:off x="5248655" y="5038344"/>
            <a:ext cx="1298448" cy="201168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19" b="1">
                <a:solidFill>
                  <a:srgbClr val="FFFFFF"/>
                </a:solidFill>
                <a:latin typeface="Noto Sans CJK TC"/>
              </a:rPr>
              <a:t>文件攝入</a:t>
            </a:r>
          </a:p>
        </p:txBody>
      </p:sp>
      <p:sp>
        <p:nvSpPr>
          <p:cNvPr id="81" name="TextBox 80"/>
          <p:cNvSpPr txBox="1"/>
          <p:nvPr/>
        </p:nvSpPr>
        <p:spPr>
          <a:xfrm>
            <a:off x="5230368" y="5294376"/>
            <a:ext cx="1335024" cy="182880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720" b="0">
                <a:solidFill>
                  <a:srgbClr val="B9CAD9"/>
                </a:solidFill>
                <a:latin typeface="Noto Sans CJK TC"/>
              </a:rPr>
              <a:t>Upload / Watch / Auto ingest</a:t>
            </a:r>
          </a:p>
        </p:txBody>
      </p:sp>
      <p:sp>
        <p:nvSpPr>
          <p:cNvPr id="82" name="Rounded Rectangle 81"/>
          <p:cNvSpPr/>
          <p:nvPr/>
        </p:nvSpPr>
        <p:spPr>
          <a:xfrm>
            <a:off x="6729983" y="4965192"/>
            <a:ext cx="1481328" cy="658368"/>
          </a:xfrm>
          <a:prstGeom prst="roundRect">
            <a:avLst/>
          </a:prstGeom>
          <a:solidFill>
            <a:srgbClr val="132E46"/>
          </a:solidFill>
          <a:ln w="12700">
            <a:solidFill>
              <a:srgbClr val="31516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3" name="TextBox 82"/>
          <p:cNvSpPr txBox="1"/>
          <p:nvPr/>
        </p:nvSpPr>
        <p:spPr>
          <a:xfrm>
            <a:off x="6821423" y="5038344"/>
            <a:ext cx="1298448" cy="201168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19" b="1">
                <a:solidFill>
                  <a:srgbClr val="FFFFFF"/>
                </a:solidFill>
                <a:latin typeface="Noto Sans CJK TC"/>
              </a:rPr>
              <a:t>管理中心</a:t>
            </a:r>
          </a:p>
        </p:txBody>
      </p:sp>
      <p:sp>
        <p:nvSpPr>
          <p:cNvPr id="84" name="TextBox 83"/>
          <p:cNvSpPr txBox="1"/>
          <p:nvPr/>
        </p:nvSpPr>
        <p:spPr>
          <a:xfrm>
            <a:off x="6803136" y="5294376"/>
            <a:ext cx="1335024" cy="182880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720" b="0">
                <a:solidFill>
                  <a:srgbClr val="B9CAD9"/>
                </a:solidFill>
                <a:latin typeface="Noto Sans CJK TC"/>
              </a:rPr>
              <a:t>Stats / Logs / Schedule</a:t>
            </a:r>
          </a:p>
        </p:txBody>
      </p:sp>
      <p:sp>
        <p:nvSpPr>
          <p:cNvPr id="85" name="Rounded Rectangle 84"/>
          <p:cNvSpPr/>
          <p:nvPr/>
        </p:nvSpPr>
        <p:spPr>
          <a:xfrm>
            <a:off x="8302752" y="4965192"/>
            <a:ext cx="1481328" cy="658368"/>
          </a:xfrm>
          <a:prstGeom prst="roundRect">
            <a:avLst/>
          </a:prstGeom>
          <a:solidFill>
            <a:srgbClr val="132E46"/>
          </a:solidFill>
          <a:ln w="12700">
            <a:solidFill>
              <a:srgbClr val="31516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6" name="TextBox 85"/>
          <p:cNvSpPr txBox="1"/>
          <p:nvPr/>
        </p:nvSpPr>
        <p:spPr>
          <a:xfrm>
            <a:off x="8394192" y="5038344"/>
            <a:ext cx="1298448" cy="201168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19" b="1">
                <a:solidFill>
                  <a:srgbClr val="FFFFFF"/>
                </a:solidFill>
                <a:latin typeface="Noto Sans CJK TC"/>
              </a:rPr>
              <a:t>Chunk 治理</a:t>
            </a:r>
          </a:p>
        </p:txBody>
      </p:sp>
      <p:sp>
        <p:nvSpPr>
          <p:cNvPr id="87" name="TextBox 86"/>
          <p:cNvSpPr txBox="1"/>
          <p:nvPr/>
        </p:nvSpPr>
        <p:spPr>
          <a:xfrm>
            <a:off x="8375904" y="5294376"/>
            <a:ext cx="1335024" cy="182880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720" b="0">
                <a:solidFill>
                  <a:srgbClr val="B9CAD9"/>
                </a:solidFill>
                <a:latin typeface="Noto Sans CJK TC"/>
              </a:rPr>
              <a:t>檢視 / 編輯 / 版本回復</a:t>
            </a:r>
          </a:p>
        </p:txBody>
      </p:sp>
      <p:sp>
        <p:nvSpPr>
          <p:cNvPr id="88" name="Rounded Rectangle 87"/>
          <p:cNvSpPr/>
          <p:nvPr/>
        </p:nvSpPr>
        <p:spPr>
          <a:xfrm>
            <a:off x="9875520" y="4965192"/>
            <a:ext cx="1481328" cy="658368"/>
          </a:xfrm>
          <a:prstGeom prst="roundRect">
            <a:avLst/>
          </a:prstGeom>
          <a:solidFill>
            <a:srgbClr val="132E46"/>
          </a:solidFill>
          <a:ln w="12700">
            <a:solidFill>
              <a:srgbClr val="31516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9" name="TextBox 88"/>
          <p:cNvSpPr txBox="1"/>
          <p:nvPr/>
        </p:nvSpPr>
        <p:spPr>
          <a:xfrm>
            <a:off x="9966960" y="5038344"/>
            <a:ext cx="1298448" cy="201168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19" b="1">
                <a:solidFill>
                  <a:srgbClr val="FFFFFF"/>
                </a:solidFill>
                <a:latin typeface="Noto Sans CJK TC"/>
              </a:rPr>
              <a:t>Skills 管理</a:t>
            </a:r>
          </a:p>
        </p:txBody>
      </p:sp>
      <p:sp>
        <p:nvSpPr>
          <p:cNvPr id="90" name="TextBox 89"/>
          <p:cNvSpPr txBox="1"/>
          <p:nvPr/>
        </p:nvSpPr>
        <p:spPr>
          <a:xfrm>
            <a:off x="9948672" y="5294376"/>
            <a:ext cx="1335024" cy="182880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720" b="0">
                <a:solidFill>
                  <a:srgbClr val="B9CAD9"/>
                </a:solidFill>
                <a:latin typeface="Noto Sans CJK TC"/>
              </a:rPr>
              <a:t>Workspace / skill files</a:t>
            </a:r>
          </a:p>
        </p:txBody>
      </p:sp>
      <p:sp>
        <p:nvSpPr>
          <p:cNvPr id="91" name="Rectangle 90"/>
          <p:cNvSpPr/>
          <p:nvPr/>
        </p:nvSpPr>
        <p:spPr>
          <a:xfrm>
            <a:off x="475488" y="6391656"/>
            <a:ext cx="11137392" cy="9144"/>
          </a:xfrm>
          <a:prstGeom prst="rect">
            <a:avLst/>
          </a:prstGeom>
          <a:solidFill>
            <a:srgbClr val="D5DE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2" name="TextBox 91"/>
          <p:cNvSpPr txBox="1"/>
          <p:nvPr/>
        </p:nvSpPr>
        <p:spPr>
          <a:xfrm>
            <a:off x="475488" y="6473952"/>
            <a:ext cx="8229600" cy="173736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19" b="1">
                <a:solidFill>
                  <a:srgbClr val="52677A"/>
                </a:solidFill>
                <a:latin typeface="Noto Sans CJK TC"/>
              </a:rPr>
              <a:t>報告重點｜平台價值不只在回答問題，而是把資料攝入、檢索、引用與維運串成一條可治理的知識供應鏈。</a:t>
            </a:r>
          </a:p>
        </p:txBody>
      </p:sp>
      <p:sp>
        <p:nvSpPr>
          <p:cNvPr id="93" name="TextBox 92"/>
          <p:cNvSpPr txBox="1"/>
          <p:nvPr/>
        </p:nvSpPr>
        <p:spPr>
          <a:xfrm>
            <a:off x="8887968" y="6473952"/>
            <a:ext cx="2724912" cy="173736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700" b="0">
                <a:solidFill>
                  <a:srgbClr val="71859A"/>
                </a:solidFill>
                <a:latin typeface="Noto Sans CJK TC"/>
              </a:rPr>
              <a:t>Current-state architecture · 2026.07.17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2F6F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164592" y="0"/>
            <a:ext cx="12027103" cy="73152"/>
          </a:xfrm>
          <a:prstGeom prst="rect">
            <a:avLst/>
          </a:prstGeom>
          <a:solidFill>
            <a:srgbClr val="0B1F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75488" y="256032"/>
            <a:ext cx="5303520" cy="164592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80" b="1">
                <a:solidFill>
                  <a:srgbClr val="2F6FED"/>
                </a:solidFill>
                <a:latin typeface="Noto Sans CJK TC"/>
              </a:rPr>
              <a:t>02 · LOGICAL ARCHITECTURE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75488" y="475488"/>
            <a:ext cx="9875520" cy="420624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300" b="1">
                <a:solidFill>
                  <a:srgbClr val="0B1F33"/>
                </a:solidFill>
                <a:latin typeface="Noto Serif CJK TC"/>
              </a:rPr>
              <a:t>Knowledge Base 完整邏輯架構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84632" y="914400"/>
            <a:ext cx="10332720" cy="256032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50" b="0">
                <a:solidFill>
                  <a:srgbClr val="52677A"/>
                </a:solidFill>
                <a:latin typeface="Noto Sans CJK TC"/>
              </a:rPr>
              <a:t>五層架構將使用者體驗、同步 API、非同步任務、AI/檢索與持久化資料分離，降低互相耦合。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10908792" y="329184"/>
            <a:ext cx="713232" cy="310896"/>
          </a:xfrm>
          <a:prstGeom prst="roundRect">
            <a:avLst/>
          </a:prstGeom>
          <a:solidFill>
            <a:srgbClr val="0B1F33"/>
          </a:solidFill>
          <a:ln w="12700">
            <a:solidFill>
              <a:srgbClr val="0B1F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50800" rIns="50800" tIns="0" bIns="0"/>
          <a:lstStyle/>
          <a:p>
            <a:pPr algn="ctr"/>
            <a:r>
              <a:rPr sz="950" b="1">
                <a:solidFill>
                  <a:srgbClr val="FFFFFF"/>
                </a:solidFill>
                <a:latin typeface="Noto Sans CJK TC"/>
              </a:rPr>
              <a:t>03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57200" y="1325880"/>
            <a:ext cx="11201400" cy="877824"/>
          </a:xfrm>
          <a:prstGeom prst="roundRect">
            <a:avLst/>
          </a:prstGeom>
          <a:solidFill>
            <a:srgbClr val="EAF1FF"/>
          </a:solidFill>
          <a:ln w="12700">
            <a:solidFill>
              <a:srgbClr val="D5DE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ounded Rectangle 9"/>
          <p:cNvSpPr/>
          <p:nvPr/>
        </p:nvSpPr>
        <p:spPr>
          <a:xfrm>
            <a:off x="457200" y="1325880"/>
            <a:ext cx="1225296" cy="877824"/>
          </a:xfrm>
          <a:prstGeom prst="roundRect">
            <a:avLst/>
          </a:prstGeom>
          <a:solidFill>
            <a:srgbClr val="2F6F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76072" y="1490472"/>
            <a:ext cx="987552" cy="182880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720" b="1">
                <a:solidFill>
                  <a:srgbClr val="FFFFFF"/>
                </a:solidFill>
                <a:latin typeface="Noto Sans CJK TC"/>
              </a:rPr>
              <a:t>EXPERIENCE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76072" y="1773936"/>
            <a:ext cx="987552" cy="201168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19" b="1">
                <a:solidFill>
                  <a:srgbClr val="FFFFFF"/>
                </a:solidFill>
                <a:latin typeface="Noto Sans CJK TC"/>
              </a:rPr>
              <a:t>體驗層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1847088" y="1444752"/>
            <a:ext cx="3130296" cy="6400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5DE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ounded Rectangle 13"/>
          <p:cNvSpPr/>
          <p:nvPr/>
        </p:nvSpPr>
        <p:spPr>
          <a:xfrm>
            <a:off x="1938528" y="1554480"/>
            <a:ext cx="347472" cy="347472"/>
          </a:xfrm>
          <a:prstGeom prst="roundRect">
            <a:avLst/>
          </a:prstGeom>
          <a:solidFill>
            <a:srgbClr val="2F6F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1938528" y="1554480"/>
            <a:ext cx="347472" cy="347472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760" b="1">
                <a:solidFill>
                  <a:srgbClr val="FFFFFF"/>
                </a:solidFill>
                <a:latin typeface="Noto Sans CJK TC"/>
              </a:rPr>
              <a:t>UI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2359152" y="1490472"/>
            <a:ext cx="2535936" cy="219456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50" b="1">
                <a:solidFill>
                  <a:srgbClr val="0B1F33"/>
                </a:solidFill>
                <a:latin typeface="Noto Sans CJK TC"/>
              </a:rPr>
              <a:t>Vue SPA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2359152" y="1764792"/>
            <a:ext cx="2535936" cy="164592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740" b="0">
                <a:solidFill>
                  <a:srgbClr val="52677A"/>
                </a:solidFill>
                <a:latin typeface="Noto Sans CJK TC"/>
              </a:rPr>
              <a:t>搜尋 / 上傳 / 管理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5105400" y="1444752"/>
            <a:ext cx="3130296" cy="6400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5DE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ounded Rectangle 18"/>
          <p:cNvSpPr/>
          <p:nvPr/>
        </p:nvSpPr>
        <p:spPr>
          <a:xfrm>
            <a:off x="5196840" y="1554480"/>
            <a:ext cx="347472" cy="347472"/>
          </a:xfrm>
          <a:prstGeom prst="roundRect">
            <a:avLst/>
          </a:prstGeom>
          <a:solidFill>
            <a:srgbClr val="2F6F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5196840" y="1554480"/>
            <a:ext cx="347472" cy="347472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760" b="1">
                <a:solidFill>
                  <a:srgbClr val="FFFFFF"/>
                </a:solidFill>
                <a:latin typeface="Noto Sans CJK TC"/>
              </a:rPr>
              <a:t>CH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5617464" y="1490472"/>
            <a:ext cx="2535936" cy="219456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50" b="1">
                <a:solidFill>
                  <a:srgbClr val="0B1F33"/>
                </a:solidFill>
                <a:latin typeface="Noto Sans CJK TC"/>
              </a:rPr>
              <a:t>chat.html / ChatView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5617464" y="1764792"/>
            <a:ext cx="2535936" cy="164592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740" b="0">
                <a:solidFill>
                  <a:srgbClr val="52677A"/>
                </a:solidFill>
                <a:latin typeface="Noto Sans CJK TC"/>
              </a:rPr>
              <a:t>KB 小幫手與引用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8363712" y="1444752"/>
            <a:ext cx="3130296" cy="6400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5DE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ounded Rectangle 23"/>
          <p:cNvSpPr/>
          <p:nvPr/>
        </p:nvSpPr>
        <p:spPr>
          <a:xfrm>
            <a:off x="8455152" y="1554480"/>
            <a:ext cx="347472" cy="347472"/>
          </a:xfrm>
          <a:prstGeom prst="roundRect">
            <a:avLst/>
          </a:prstGeom>
          <a:solidFill>
            <a:srgbClr val="2F6F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8455152" y="1554480"/>
            <a:ext cx="347472" cy="347472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760" b="1">
                <a:solidFill>
                  <a:srgbClr val="FFFFFF"/>
                </a:solidFill>
                <a:latin typeface="Noto Sans CJK TC"/>
              </a:rPr>
              <a:t>AD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8875776" y="1490472"/>
            <a:ext cx="2535936" cy="219456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50" b="1">
                <a:solidFill>
                  <a:srgbClr val="0B1F33"/>
                </a:solidFill>
                <a:latin typeface="Noto Sans CJK TC"/>
              </a:rPr>
              <a:t>Admin / Chunk / Skills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8875776" y="1764792"/>
            <a:ext cx="2535936" cy="164592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740" b="0">
                <a:solidFill>
                  <a:srgbClr val="52677A"/>
                </a:solidFill>
                <a:latin typeface="Noto Sans CJK TC"/>
              </a:rPr>
              <a:t>治理與維運入口</a:t>
            </a:r>
          </a:p>
        </p:txBody>
      </p:sp>
      <p:cxnSp>
        <p:nvCxnSpPr>
          <p:cNvPr id="28" name="Connector 27"/>
          <p:cNvCxnSpPr/>
          <p:nvPr/>
        </p:nvCxnSpPr>
        <p:spPr>
          <a:xfrm>
            <a:off x="11311128" y="2203704"/>
            <a:ext cx="0" cy="109728"/>
          </a:xfrm>
          <a:prstGeom prst="line">
            <a:avLst/>
          </a:prstGeom>
          <a:ln w="25400">
            <a:solidFill>
              <a:srgbClr val="2F6FE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9" name="Chevron 28"/>
          <p:cNvSpPr/>
          <p:nvPr/>
        </p:nvSpPr>
        <p:spPr>
          <a:xfrm>
            <a:off x="11173968" y="2221991"/>
            <a:ext cx="274320" cy="173736"/>
          </a:xfrm>
          <a:prstGeom prst="chevron">
            <a:avLst/>
          </a:prstGeom>
          <a:solidFill>
            <a:srgbClr val="2F6F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ounded Rectangle 29"/>
          <p:cNvSpPr/>
          <p:nvPr/>
        </p:nvSpPr>
        <p:spPr>
          <a:xfrm>
            <a:off x="457200" y="2295144"/>
            <a:ext cx="11201400" cy="877824"/>
          </a:xfrm>
          <a:prstGeom prst="roundRect">
            <a:avLst/>
          </a:prstGeom>
          <a:solidFill>
            <a:srgbClr val="EEF4FF"/>
          </a:solidFill>
          <a:ln w="12700">
            <a:solidFill>
              <a:srgbClr val="D5DE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ounded Rectangle 30"/>
          <p:cNvSpPr/>
          <p:nvPr/>
        </p:nvSpPr>
        <p:spPr>
          <a:xfrm>
            <a:off x="457200" y="2295144"/>
            <a:ext cx="1225296" cy="877824"/>
          </a:xfrm>
          <a:prstGeom prst="roundRect">
            <a:avLst/>
          </a:prstGeom>
          <a:solidFill>
            <a:srgbClr val="5B8DE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576072" y="2459736"/>
            <a:ext cx="987552" cy="182880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720" b="1">
                <a:solidFill>
                  <a:srgbClr val="FFFFFF"/>
                </a:solidFill>
                <a:latin typeface="Noto Sans CJK TC"/>
              </a:rPr>
              <a:t>ACCESS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576072" y="2743200"/>
            <a:ext cx="987552" cy="201168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19" b="1">
                <a:solidFill>
                  <a:srgbClr val="FFFFFF"/>
                </a:solidFill>
                <a:latin typeface="Noto Sans CJK TC"/>
              </a:rPr>
              <a:t>存取層</a:t>
            </a:r>
          </a:p>
        </p:txBody>
      </p:sp>
      <p:sp>
        <p:nvSpPr>
          <p:cNvPr id="34" name="Rounded Rectangle 33"/>
          <p:cNvSpPr/>
          <p:nvPr/>
        </p:nvSpPr>
        <p:spPr>
          <a:xfrm>
            <a:off x="1847088" y="2414015"/>
            <a:ext cx="3130296" cy="6400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5DE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Rounded Rectangle 34"/>
          <p:cNvSpPr/>
          <p:nvPr/>
        </p:nvSpPr>
        <p:spPr>
          <a:xfrm>
            <a:off x="1938528" y="2523744"/>
            <a:ext cx="347472" cy="347472"/>
          </a:xfrm>
          <a:prstGeom prst="roundRect">
            <a:avLst/>
          </a:prstGeom>
          <a:solidFill>
            <a:srgbClr val="5B8DE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1938528" y="2523744"/>
            <a:ext cx="347472" cy="347472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760" b="1">
                <a:solidFill>
                  <a:srgbClr val="FFFFFF"/>
                </a:solidFill>
                <a:latin typeface="Noto Sans CJK TC"/>
              </a:rPr>
              <a:t>NG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2359152" y="2459736"/>
            <a:ext cx="2535936" cy="219456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50" b="1">
                <a:solidFill>
                  <a:srgbClr val="0B1F33"/>
                </a:solidFill>
                <a:latin typeface="Noto Sans CJK TC"/>
              </a:rPr>
              <a:t>Nginx TLS Gateway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2359152" y="2734056"/>
            <a:ext cx="2535936" cy="164592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740" b="0">
                <a:solidFill>
                  <a:srgbClr val="52677A"/>
                </a:solidFill>
                <a:latin typeface="Noto Sans CJK TC"/>
              </a:rPr>
              <a:t>HTTPS 靜態頁與反向代理</a:t>
            </a:r>
          </a:p>
        </p:txBody>
      </p:sp>
      <p:sp>
        <p:nvSpPr>
          <p:cNvPr id="39" name="Rounded Rectangle 38"/>
          <p:cNvSpPr/>
          <p:nvPr/>
        </p:nvSpPr>
        <p:spPr>
          <a:xfrm>
            <a:off x="5105400" y="2414015"/>
            <a:ext cx="3130296" cy="6400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5DE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Rounded Rectangle 39"/>
          <p:cNvSpPr/>
          <p:nvPr/>
        </p:nvSpPr>
        <p:spPr>
          <a:xfrm>
            <a:off x="5196840" y="2523744"/>
            <a:ext cx="347472" cy="347472"/>
          </a:xfrm>
          <a:prstGeom prst="roundRect">
            <a:avLst/>
          </a:prstGeom>
          <a:solidFill>
            <a:srgbClr val="5B8DE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5196840" y="2523744"/>
            <a:ext cx="347472" cy="347472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760" b="1">
                <a:solidFill>
                  <a:srgbClr val="FFFFFF"/>
                </a:solidFill>
                <a:latin typeface="Noto Sans CJK TC"/>
              </a:rPr>
              <a:t>FA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5617464" y="2459736"/>
            <a:ext cx="2535936" cy="219456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50" b="1">
                <a:solidFill>
                  <a:srgbClr val="0B1F33"/>
                </a:solidFill>
                <a:latin typeface="Noto Sans CJK TC"/>
              </a:rPr>
              <a:t>FastAPI / Uvicorn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5617464" y="2734056"/>
            <a:ext cx="2535936" cy="164592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740" b="0">
                <a:solidFill>
                  <a:srgbClr val="52677A"/>
                </a:solidFill>
                <a:latin typeface="Noto Sans CJK TC"/>
              </a:rPr>
              <a:t>REST API、Pydantic、lifespan</a:t>
            </a:r>
          </a:p>
        </p:txBody>
      </p:sp>
      <p:sp>
        <p:nvSpPr>
          <p:cNvPr id="44" name="Rounded Rectangle 43"/>
          <p:cNvSpPr/>
          <p:nvPr/>
        </p:nvSpPr>
        <p:spPr>
          <a:xfrm>
            <a:off x="8363712" y="2414015"/>
            <a:ext cx="3130296" cy="6400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5DE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Rounded Rectangle 44"/>
          <p:cNvSpPr/>
          <p:nvPr/>
        </p:nvSpPr>
        <p:spPr>
          <a:xfrm>
            <a:off x="8455152" y="2523744"/>
            <a:ext cx="347472" cy="347472"/>
          </a:xfrm>
          <a:prstGeom prst="roundRect">
            <a:avLst/>
          </a:prstGeom>
          <a:solidFill>
            <a:srgbClr val="5B8DE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TextBox 45"/>
          <p:cNvSpPr txBox="1"/>
          <p:nvPr/>
        </p:nvSpPr>
        <p:spPr>
          <a:xfrm>
            <a:off x="8455152" y="2523744"/>
            <a:ext cx="347472" cy="347472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760" b="1">
                <a:solidFill>
                  <a:srgbClr val="FFFFFF"/>
                </a:solidFill>
                <a:latin typeface="Noto Sans CJK TC"/>
              </a:rPr>
              <a:t>WS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8875776" y="2459736"/>
            <a:ext cx="2535936" cy="219456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50" b="1">
                <a:solidFill>
                  <a:srgbClr val="0B1F33"/>
                </a:solidFill>
                <a:latin typeface="Noto Sans CJK TC"/>
              </a:rPr>
              <a:t>WebSocket Proxy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8875776" y="2734056"/>
            <a:ext cx="2535936" cy="164592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740" b="0">
                <a:solidFill>
                  <a:srgbClr val="52677A"/>
                </a:solidFill>
                <a:latin typeface="Noto Sans CJK TC"/>
              </a:rPr>
              <a:t>Session、排隊、OpenClaw 轉送</a:t>
            </a:r>
          </a:p>
        </p:txBody>
      </p:sp>
      <p:cxnSp>
        <p:nvCxnSpPr>
          <p:cNvPr id="49" name="Connector 48"/>
          <p:cNvCxnSpPr/>
          <p:nvPr/>
        </p:nvCxnSpPr>
        <p:spPr>
          <a:xfrm>
            <a:off x="11311128" y="3172968"/>
            <a:ext cx="0" cy="109728"/>
          </a:xfrm>
          <a:prstGeom prst="line">
            <a:avLst/>
          </a:prstGeom>
          <a:ln w="25400">
            <a:solidFill>
              <a:srgbClr val="5B8DE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0" name="Chevron 49"/>
          <p:cNvSpPr/>
          <p:nvPr/>
        </p:nvSpPr>
        <p:spPr>
          <a:xfrm>
            <a:off x="11173968" y="3191256"/>
            <a:ext cx="274320" cy="173736"/>
          </a:xfrm>
          <a:prstGeom prst="chevron">
            <a:avLst/>
          </a:prstGeom>
          <a:solidFill>
            <a:srgbClr val="5B8DE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Rounded Rectangle 50"/>
          <p:cNvSpPr/>
          <p:nvPr/>
        </p:nvSpPr>
        <p:spPr>
          <a:xfrm>
            <a:off x="457200" y="3264408"/>
            <a:ext cx="11201400" cy="877824"/>
          </a:xfrm>
          <a:prstGeom prst="roundRect">
            <a:avLst/>
          </a:prstGeom>
          <a:solidFill>
            <a:srgbClr val="E3F7F6"/>
          </a:solidFill>
          <a:ln w="12700">
            <a:solidFill>
              <a:srgbClr val="D5DE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" name="Rounded Rectangle 51"/>
          <p:cNvSpPr/>
          <p:nvPr/>
        </p:nvSpPr>
        <p:spPr>
          <a:xfrm>
            <a:off x="457200" y="3264408"/>
            <a:ext cx="1225296" cy="877824"/>
          </a:xfrm>
          <a:prstGeom prst="roundRect">
            <a:avLst/>
          </a:prstGeom>
          <a:solidFill>
            <a:srgbClr val="00A6A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" name="TextBox 52"/>
          <p:cNvSpPr txBox="1"/>
          <p:nvPr/>
        </p:nvSpPr>
        <p:spPr>
          <a:xfrm>
            <a:off x="576072" y="3429000"/>
            <a:ext cx="987552" cy="182880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720" b="1">
                <a:solidFill>
                  <a:srgbClr val="FFFFFF"/>
                </a:solidFill>
                <a:latin typeface="Noto Sans CJK TC"/>
              </a:rPr>
              <a:t>ORCHESTRATION</a:t>
            </a:r>
          </a:p>
        </p:txBody>
      </p:sp>
      <p:sp>
        <p:nvSpPr>
          <p:cNvPr id="54" name="TextBox 53"/>
          <p:cNvSpPr txBox="1"/>
          <p:nvPr/>
        </p:nvSpPr>
        <p:spPr>
          <a:xfrm>
            <a:off x="576072" y="3712463"/>
            <a:ext cx="987552" cy="201168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19" b="1">
                <a:solidFill>
                  <a:srgbClr val="FFFFFF"/>
                </a:solidFill>
                <a:latin typeface="Noto Sans CJK TC"/>
              </a:rPr>
              <a:t>編排層</a:t>
            </a:r>
          </a:p>
        </p:txBody>
      </p:sp>
      <p:sp>
        <p:nvSpPr>
          <p:cNvPr id="55" name="Rounded Rectangle 54"/>
          <p:cNvSpPr/>
          <p:nvPr/>
        </p:nvSpPr>
        <p:spPr>
          <a:xfrm>
            <a:off x="1847088" y="3383279"/>
            <a:ext cx="2315718" cy="6400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5DE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6" name="Rounded Rectangle 55"/>
          <p:cNvSpPr/>
          <p:nvPr/>
        </p:nvSpPr>
        <p:spPr>
          <a:xfrm>
            <a:off x="1938528" y="3493008"/>
            <a:ext cx="347472" cy="347472"/>
          </a:xfrm>
          <a:prstGeom prst="roundRect">
            <a:avLst/>
          </a:prstGeom>
          <a:solidFill>
            <a:srgbClr val="00A6A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7" name="TextBox 56"/>
          <p:cNvSpPr txBox="1"/>
          <p:nvPr/>
        </p:nvSpPr>
        <p:spPr>
          <a:xfrm>
            <a:off x="1938528" y="3493008"/>
            <a:ext cx="347472" cy="347472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760" b="1">
                <a:solidFill>
                  <a:srgbClr val="FFFFFF"/>
                </a:solidFill>
                <a:latin typeface="Noto Sans CJK TC"/>
              </a:rPr>
              <a:t>RD</a:t>
            </a:r>
          </a:p>
        </p:txBody>
      </p:sp>
      <p:sp>
        <p:nvSpPr>
          <p:cNvPr id="58" name="TextBox 57"/>
          <p:cNvSpPr txBox="1"/>
          <p:nvPr/>
        </p:nvSpPr>
        <p:spPr>
          <a:xfrm>
            <a:off x="2359152" y="3429000"/>
            <a:ext cx="1721358" cy="219456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50" b="1">
                <a:solidFill>
                  <a:srgbClr val="0B1F33"/>
                </a:solidFill>
                <a:latin typeface="Noto Sans CJK TC"/>
              </a:rPr>
              <a:t>Redis</a:t>
            </a:r>
          </a:p>
        </p:txBody>
      </p:sp>
      <p:sp>
        <p:nvSpPr>
          <p:cNvPr id="59" name="TextBox 58"/>
          <p:cNvSpPr txBox="1"/>
          <p:nvPr/>
        </p:nvSpPr>
        <p:spPr>
          <a:xfrm>
            <a:off x="2359152" y="3703320"/>
            <a:ext cx="1721358" cy="164592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740" b="0">
                <a:solidFill>
                  <a:srgbClr val="52677A"/>
                </a:solidFill>
                <a:latin typeface="Noto Sans CJK TC"/>
              </a:rPr>
              <a:t>Broker / Result / Cache / Locks</a:t>
            </a:r>
          </a:p>
        </p:txBody>
      </p:sp>
      <p:sp>
        <p:nvSpPr>
          <p:cNvPr id="60" name="Rounded Rectangle 59"/>
          <p:cNvSpPr/>
          <p:nvPr/>
        </p:nvSpPr>
        <p:spPr>
          <a:xfrm>
            <a:off x="4290822" y="3383279"/>
            <a:ext cx="2315718" cy="6400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5DE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1" name="Rounded Rectangle 60"/>
          <p:cNvSpPr/>
          <p:nvPr/>
        </p:nvSpPr>
        <p:spPr>
          <a:xfrm>
            <a:off x="4382262" y="3493008"/>
            <a:ext cx="347472" cy="347472"/>
          </a:xfrm>
          <a:prstGeom prst="roundRect">
            <a:avLst/>
          </a:prstGeom>
          <a:solidFill>
            <a:srgbClr val="00A6A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2" name="TextBox 61"/>
          <p:cNvSpPr txBox="1"/>
          <p:nvPr/>
        </p:nvSpPr>
        <p:spPr>
          <a:xfrm>
            <a:off x="4382262" y="3493008"/>
            <a:ext cx="347472" cy="347472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760" b="1">
                <a:solidFill>
                  <a:srgbClr val="FFFFFF"/>
                </a:solidFill>
                <a:latin typeface="Noto Sans CJK TC"/>
              </a:rPr>
              <a:t>CS</a:t>
            </a:r>
          </a:p>
        </p:txBody>
      </p:sp>
      <p:sp>
        <p:nvSpPr>
          <p:cNvPr id="63" name="TextBox 62"/>
          <p:cNvSpPr txBox="1"/>
          <p:nvPr/>
        </p:nvSpPr>
        <p:spPr>
          <a:xfrm>
            <a:off x="4802886" y="3429000"/>
            <a:ext cx="1721358" cy="219456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50" b="1">
                <a:solidFill>
                  <a:srgbClr val="0B1F33"/>
                </a:solidFill>
                <a:latin typeface="Noto Sans CJK TC"/>
              </a:rPr>
              <a:t>Celery Search</a:t>
            </a:r>
          </a:p>
        </p:txBody>
      </p:sp>
      <p:sp>
        <p:nvSpPr>
          <p:cNvPr id="64" name="TextBox 63"/>
          <p:cNvSpPr txBox="1"/>
          <p:nvPr/>
        </p:nvSpPr>
        <p:spPr>
          <a:xfrm>
            <a:off x="4802886" y="3703320"/>
            <a:ext cx="1721358" cy="164592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740" b="0">
                <a:solidFill>
                  <a:srgbClr val="52677A"/>
                </a:solidFill>
                <a:latin typeface="Noto Sans CJK TC"/>
              </a:rPr>
              <a:t>搜尋與回答任務</a:t>
            </a:r>
          </a:p>
        </p:txBody>
      </p:sp>
      <p:sp>
        <p:nvSpPr>
          <p:cNvPr id="65" name="Rounded Rectangle 64"/>
          <p:cNvSpPr/>
          <p:nvPr/>
        </p:nvSpPr>
        <p:spPr>
          <a:xfrm>
            <a:off x="6734556" y="3383279"/>
            <a:ext cx="2315718" cy="6400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5DE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6" name="Rounded Rectangle 65"/>
          <p:cNvSpPr/>
          <p:nvPr/>
        </p:nvSpPr>
        <p:spPr>
          <a:xfrm>
            <a:off x="6825996" y="3493008"/>
            <a:ext cx="347472" cy="347472"/>
          </a:xfrm>
          <a:prstGeom prst="roundRect">
            <a:avLst/>
          </a:prstGeom>
          <a:solidFill>
            <a:srgbClr val="00A6A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7" name="TextBox 66"/>
          <p:cNvSpPr txBox="1"/>
          <p:nvPr/>
        </p:nvSpPr>
        <p:spPr>
          <a:xfrm>
            <a:off x="6825996" y="3493008"/>
            <a:ext cx="347472" cy="347472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760" b="1">
                <a:solidFill>
                  <a:srgbClr val="FFFFFF"/>
                </a:solidFill>
                <a:latin typeface="Noto Sans CJK TC"/>
              </a:rPr>
              <a:t>CI</a:t>
            </a:r>
          </a:p>
        </p:txBody>
      </p:sp>
      <p:sp>
        <p:nvSpPr>
          <p:cNvPr id="68" name="TextBox 67"/>
          <p:cNvSpPr txBox="1"/>
          <p:nvPr/>
        </p:nvSpPr>
        <p:spPr>
          <a:xfrm>
            <a:off x="7246620" y="3429000"/>
            <a:ext cx="1721358" cy="219456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50" b="1">
                <a:solidFill>
                  <a:srgbClr val="0B1F33"/>
                </a:solidFill>
                <a:latin typeface="Noto Sans CJK TC"/>
              </a:rPr>
              <a:t>Celery Ingest</a:t>
            </a:r>
          </a:p>
        </p:txBody>
      </p:sp>
      <p:sp>
        <p:nvSpPr>
          <p:cNvPr id="69" name="TextBox 68"/>
          <p:cNvSpPr txBox="1"/>
          <p:nvPr/>
        </p:nvSpPr>
        <p:spPr>
          <a:xfrm>
            <a:off x="7246620" y="3703320"/>
            <a:ext cx="1721358" cy="164592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740" b="0">
                <a:solidFill>
                  <a:srgbClr val="52677A"/>
                </a:solidFill>
                <a:latin typeface="Noto Sans CJK TC"/>
              </a:rPr>
              <a:t>轉檔與知識寫入</a:t>
            </a:r>
          </a:p>
        </p:txBody>
      </p:sp>
      <p:sp>
        <p:nvSpPr>
          <p:cNvPr id="70" name="Rounded Rectangle 69"/>
          <p:cNvSpPr/>
          <p:nvPr/>
        </p:nvSpPr>
        <p:spPr>
          <a:xfrm>
            <a:off x="9178290" y="3383279"/>
            <a:ext cx="2315718" cy="6400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5DE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1" name="Rounded Rectangle 70"/>
          <p:cNvSpPr/>
          <p:nvPr/>
        </p:nvSpPr>
        <p:spPr>
          <a:xfrm>
            <a:off x="9269730" y="3493008"/>
            <a:ext cx="347472" cy="347472"/>
          </a:xfrm>
          <a:prstGeom prst="roundRect">
            <a:avLst/>
          </a:prstGeom>
          <a:solidFill>
            <a:srgbClr val="00A6A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2" name="TextBox 71"/>
          <p:cNvSpPr txBox="1"/>
          <p:nvPr/>
        </p:nvSpPr>
        <p:spPr>
          <a:xfrm>
            <a:off x="9269730" y="3493008"/>
            <a:ext cx="347472" cy="347472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760" b="1">
                <a:solidFill>
                  <a:srgbClr val="FFFFFF"/>
                </a:solidFill>
                <a:latin typeface="Noto Sans CJK TC"/>
              </a:rPr>
              <a:t>CB</a:t>
            </a:r>
          </a:p>
        </p:txBody>
      </p:sp>
      <p:sp>
        <p:nvSpPr>
          <p:cNvPr id="73" name="TextBox 72"/>
          <p:cNvSpPr txBox="1"/>
          <p:nvPr/>
        </p:nvSpPr>
        <p:spPr>
          <a:xfrm>
            <a:off x="9690354" y="3429000"/>
            <a:ext cx="1721358" cy="219456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50" b="1">
                <a:solidFill>
                  <a:srgbClr val="0B1F33"/>
                </a:solidFill>
                <a:latin typeface="Noto Sans CJK TC"/>
              </a:rPr>
              <a:t>Celery Beat</a:t>
            </a:r>
          </a:p>
        </p:txBody>
      </p:sp>
      <p:sp>
        <p:nvSpPr>
          <p:cNvPr id="74" name="TextBox 73"/>
          <p:cNvSpPr txBox="1"/>
          <p:nvPr/>
        </p:nvSpPr>
        <p:spPr>
          <a:xfrm>
            <a:off x="9690354" y="3703320"/>
            <a:ext cx="1721358" cy="164592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740" b="0">
                <a:solidFill>
                  <a:srgbClr val="52677A"/>
                </a:solidFill>
                <a:latin typeface="Noto Sans CJK TC"/>
              </a:rPr>
              <a:t>Watch folder 定時掃描</a:t>
            </a:r>
          </a:p>
        </p:txBody>
      </p:sp>
      <p:cxnSp>
        <p:nvCxnSpPr>
          <p:cNvPr id="75" name="Connector 74"/>
          <p:cNvCxnSpPr/>
          <p:nvPr/>
        </p:nvCxnSpPr>
        <p:spPr>
          <a:xfrm>
            <a:off x="11311128" y="4142231"/>
            <a:ext cx="0" cy="109729"/>
          </a:xfrm>
          <a:prstGeom prst="line">
            <a:avLst/>
          </a:prstGeom>
          <a:ln w="25400">
            <a:solidFill>
              <a:srgbClr val="00A6A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6" name="Chevron 75"/>
          <p:cNvSpPr/>
          <p:nvPr/>
        </p:nvSpPr>
        <p:spPr>
          <a:xfrm>
            <a:off x="11173968" y="4160520"/>
            <a:ext cx="274320" cy="173736"/>
          </a:xfrm>
          <a:prstGeom prst="chevron">
            <a:avLst/>
          </a:prstGeom>
          <a:solidFill>
            <a:srgbClr val="00A6A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7" name="Rounded Rectangle 76"/>
          <p:cNvSpPr/>
          <p:nvPr/>
        </p:nvSpPr>
        <p:spPr>
          <a:xfrm>
            <a:off x="457200" y="4233672"/>
            <a:ext cx="11201400" cy="877824"/>
          </a:xfrm>
          <a:prstGeom prst="roundRect">
            <a:avLst/>
          </a:prstGeom>
          <a:solidFill>
            <a:srgbClr val="FFF4D6"/>
          </a:solidFill>
          <a:ln w="12700">
            <a:solidFill>
              <a:srgbClr val="D5DE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8" name="Rounded Rectangle 77"/>
          <p:cNvSpPr/>
          <p:nvPr/>
        </p:nvSpPr>
        <p:spPr>
          <a:xfrm>
            <a:off x="457200" y="4233672"/>
            <a:ext cx="1225296" cy="877824"/>
          </a:xfrm>
          <a:prstGeom prst="roundRect">
            <a:avLst/>
          </a:prstGeom>
          <a:solidFill>
            <a:srgbClr val="A96B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9" name="TextBox 78"/>
          <p:cNvSpPr txBox="1"/>
          <p:nvPr/>
        </p:nvSpPr>
        <p:spPr>
          <a:xfrm>
            <a:off x="576072" y="4398264"/>
            <a:ext cx="987552" cy="182880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720" b="1">
                <a:solidFill>
                  <a:srgbClr val="FFFFFF"/>
                </a:solidFill>
                <a:latin typeface="Noto Sans CJK TC"/>
              </a:rPr>
              <a:t>INTELLIGENCE</a:t>
            </a:r>
          </a:p>
        </p:txBody>
      </p:sp>
      <p:sp>
        <p:nvSpPr>
          <p:cNvPr id="80" name="TextBox 79"/>
          <p:cNvSpPr txBox="1"/>
          <p:nvPr/>
        </p:nvSpPr>
        <p:spPr>
          <a:xfrm>
            <a:off x="576072" y="4681728"/>
            <a:ext cx="987552" cy="201168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19" b="1">
                <a:solidFill>
                  <a:srgbClr val="FFFFFF"/>
                </a:solidFill>
                <a:latin typeface="Noto Sans CJK TC"/>
              </a:rPr>
              <a:t>智能層</a:t>
            </a:r>
          </a:p>
        </p:txBody>
      </p:sp>
      <p:sp>
        <p:nvSpPr>
          <p:cNvPr id="81" name="Rounded Rectangle 80"/>
          <p:cNvSpPr/>
          <p:nvPr/>
        </p:nvSpPr>
        <p:spPr>
          <a:xfrm>
            <a:off x="1847088" y="4352544"/>
            <a:ext cx="2315718" cy="6400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5DE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2" name="Rounded Rectangle 81"/>
          <p:cNvSpPr/>
          <p:nvPr/>
        </p:nvSpPr>
        <p:spPr>
          <a:xfrm>
            <a:off x="1938528" y="4462272"/>
            <a:ext cx="347472" cy="347472"/>
          </a:xfrm>
          <a:prstGeom prst="roundRect">
            <a:avLst/>
          </a:prstGeom>
          <a:solidFill>
            <a:srgbClr val="A96B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3" name="TextBox 82"/>
          <p:cNvSpPr txBox="1"/>
          <p:nvPr/>
        </p:nvSpPr>
        <p:spPr>
          <a:xfrm>
            <a:off x="1938528" y="4462272"/>
            <a:ext cx="347472" cy="347472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760" b="1">
                <a:solidFill>
                  <a:srgbClr val="FFFFFF"/>
                </a:solidFill>
                <a:latin typeface="Noto Sans CJK TC"/>
              </a:rPr>
              <a:t>SE</a:t>
            </a:r>
          </a:p>
        </p:txBody>
      </p:sp>
      <p:sp>
        <p:nvSpPr>
          <p:cNvPr id="84" name="TextBox 83"/>
          <p:cNvSpPr txBox="1"/>
          <p:nvPr/>
        </p:nvSpPr>
        <p:spPr>
          <a:xfrm>
            <a:off x="2359152" y="4398264"/>
            <a:ext cx="1721358" cy="219456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50" b="1">
                <a:solidFill>
                  <a:srgbClr val="0B1F33"/>
                </a:solidFill>
                <a:latin typeface="Noto Sans CJK TC"/>
              </a:rPr>
              <a:t>SearchEngine</a:t>
            </a:r>
          </a:p>
        </p:txBody>
      </p:sp>
      <p:sp>
        <p:nvSpPr>
          <p:cNvPr id="85" name="TextBox 84"/>
          <p:cNvSpPr txBox="1"/>
          <p:nvPr/>
        </p:nvSpPr>
        <p:spPr>
          <a:xfrm>
            <a:off x="2359152" y="4672583"/>
            <a:ext cx="1721358" cy="164592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740" b="0">
                <a:solidFill>
                  <a:srgbClr val="52677A"/>
                </a:solidFill>
                <a:latin typeface="Noto Sans CJK TC"/>
              </a:rPr>
              <a:t>Basic / Deep / Vector / Hybrid</a:t>
            </a:r>
          </a:p>
        </p:txBody>
      </p:sp>
      <p:sp>
        <p:nvSpPr>
          <p:cNvPr id="86" name="Rounded Rectangle 85"/>
          <p:cNvSpPr/>
          <p:nvPr/>
        </p:nvSpPr>
        <p:spPr>
          <a:xfrm>
            <a:off x="4290822" y="4352544"/>
            <a:ext cx="2315718" cy="6400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5DE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7" name="Rounded Rectangle 86"/>
          <p:cNvSpPr/>
          <p:nvPr/>
        </p:nvSpPr>
        <p:spPr>
          <a:xfrm>
            <a:off x="4382262" y="4462272"/>
            <a:ext cx="347472" cy="347472"/>
          </a:xfrm>
          <a:prstGeom prst="roundRect">
            <a:avLst/>
          </a:prstGeom>
          <a:solidFill>
            <a:srgbClr val="A96B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8" name="TextBox 87"/>
          <p:cNvSpPr txBox="1"/>
          <p:nvPr/>
        </p:nvSpPr>
        <p:spPr>
          <a:xfrm>
            <a:off x="4382262" y="4462272"/>
            <a:ext cx="347472" cy="347472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760" b="1">
                <a:solidFill>
                  <a:srgbClr val="FFFFFF"/>
                </a:solidFill>
                <a:latin typeface="Noto Sans CJK TC"/>
              </a:rPr>
              <a:t>DP</a:t>
            </a:r>
          </a:p>
        </p:txBody>
      </p:sp>
      <p:sp>
        <p:nvSpPr>
          <p:cNvPr id="89" name="TextBox 88"/>
          <p:cNvSpPr txBox="1"/>
          <p:nvPr/>
        </p:nvSpPr>
        <p:spPr>
          <a:xfrm>
            <a:off x="4802886" y="4398264"/>
            <a:ext cx="1721358" cy="219456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50" b="1">
                <a:solidFill>
                  <a:srgbClr val="0B1F33"/>
                </a:solidFill>
                <a:latin typeface="Noto Sans CJK TC"/>
              </a:rPr>
              <a:t>Document Pipeline</a:t>
            </a:r>
          </a:p>
        </p:txBody>
      </p:sp>
      <p:sp>
        <p:nvSpPr>
          <p:cNvPr id="90" name="TextBox 89"/>
          <p:cNvSpPr txBox="1"/>
          <p:nvPr/>
        </p:nvSpPr>
        <p:spPr>
          <a:xfrm>
            <a:off x="4802886" y="4672583"/>
            <a:ext cx="1721358" cy="164592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740" b="0">
                <a:solidFill>
                  <a:srgbClr val="52677A"/>
                </a:solidFill>
                <a:latin typeface="Noto Sans CJK TC"/>
              </a:rPr>
              <a:t>MarkItDown / Chunk / Assets</a:t>
            </a:r>
          </a:p>
        </p:txBody>
      </p:sp>
      <p:sp>
        <p:nvSpPr>
          <p:cNvPr id="91" name="Rounded Rectangle 90"/>
          <p:cNvSpPr/>
          <p:nvPr/>
        </p:nvSpPr>
        <p:spPr>
          <a:xfrm>
            <a:off x="6734556" y="4352544"/>
            <a:ext cx="2315718" cy="6400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5DE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2" name="Rounded Rectangle 91"/>
          <p:cNvSpPr/>
          <p:nvPr/>
        </p:nvSpPr>
        <p:spPr>
          <a:xfrm>
            <a:off x="6825996" y="4462272"/>
            <a:ext cx="347472" cy="347472"/>
          </a:xfrm>
          <a:prstGeom prst="roundRect">
            <a:avLst/>
          </a:prstGeom>
          <a:solidFill>
            <a:srgbClr val="A96B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3" name="TextBox 92"/>
          <p:cNvSpPr txBox="1"/>
          <p:nvPr/>
        </p:nvSpPr>
        <p:spPr>
          <a:xfrm>
            <a:off x="6825996" y="4462272"/>
            <a:ext cx="347472" cy="347472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760" b="1">
                <a:solidFill>
                  <a:srgbClr val="FFFFFF"/>
                </a:solidFill>
                <a:latin typeface="Noto Sans CJK TC"/>
              </a:rPr>
              <a:t>EM</a:t>
            </a:r>
          </a:p>
        </p:txBody>
      </p:sp>
      <p:sp>
        <p:nvSpPr>
          <p:cNvPr id="94" name="TextBox 93"/>
          <p:cNvSpPr txBox="1"/>
          <p:nvPr/>
        </p:nvSpPr>
        <p:spPr>
          <a:xfrm>
            <a:off x="7246620" y="4398264"/>
            <a:ext cx="1721358" cy="219456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50" b="1">
                <a:solidFill>
                  <a:srgbClr val="0B1F33"/>
                </a:solidFill>
                <a:latin typeface="Noto Sans CJK TC"/>
              </a:rPr>
              <a:t>Embedding</a:t>
            </a:r>
          </a:p>
        </p:txBody>
      </p:sp>
      <p:sp>
        <p:nvSpPr>
          <p:cNvPr id="95" name="TextBox 94"/>
          <p:cNvSpPr txBox="1"/>
          <p:nvPr/>
        </p:nvSpPr>
        <p:spPr>
          <a:xfrm>
            <a:off x="7246620" y="4672583"/>
            <a:ext cx="1721358" cy="164592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740" b="0">
                <a:solidFill>
                  <a:srgbClr val="52677A"/>
                </a:solidFill>
                <a:latin typeface="Noto Sans CJK TC"/>
              </a:rPr>
              <a:t>BAAI bge-base-zh · 768D</a:t>
            </a:r>
          </a:p>
        </p:txBody>
      </p:sp>
      <p:sp>
        <p:nvSpPr>
          <p:cNvPr id="96" name="Rounded Rectangle 95"/>
          <p:cNvSpPr/>
          <p:nvPr/>
        </p:nvSpPr>
        <p:spPr>
          <a:xfrm>
            <a:off x="9178290" y="4352544"/>
            <a:ext cx="2315718" cy="6400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5DE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7" name="Rounded Rectangle 96"/>
          <p:cNvSpPr/>
          <p:nvPr/>
        </p:nvSpPr>
        <p:spPr>
          <a:xfrm>
            <a:off x="9269730" y="4462272"/>
            <a:ext cx="347472" cy="347472"/>
          </a:xfrm>
          <a:prstGeom prst="roundRect">
            <a:avLst/>
          </a:prstGeom>
          <a:solidFill>
            <a:srgbClr val="A96B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8" name="TextBox 97"/>
          <p:cNvSpPr txBox="1"/>
          <p:nvPr/>
        </p:nvSpPr>
        <p:spPr>
          <a:xfrm>
            <a:off x="9269730" y="4462272"/>
            <a:ext cx="347472" cy="347472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760" b="1">
                <a:solidFill>
                  <a:srgbClr val="FFFFFF"/>
                </a:solidFill>
                <a:latin typeface="Noto Sans CJK TC"/>
              </a:rPr>
              <a:t>AI</a:t>
            </a:r>
          </a:p>
        </p:txBody>
      </p:sp>
      <p:sp>
        <p:nvSpPr>
          <p:cNvPr id="99" name="TextBox 98"/>
          <p:cNvSpPr txBox="1"/>
          <p:nvPr/>
        </p:nvSpPr>
        <p:spPr>
          <a:xfrm>
            <a:off x="9690354" y="4398264"/>
            <a:ext cx="1721358" cy="219456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50" b="1">
                <a:solidFill>
                  <a:srgbClr val="0B1F33"/>
                </a:solidFill>
                <a:latin typeface="Noto Sans CJK TC"/>
              </a:rPr>
              <a:t>Ollama + OpenClaw</a:t>
            </a:r>
          </a:p>
        </p:txBody>
      </p:sp>
      <p:sp>
        <p:nvSpPr>
          <p:cNvPr id="100" name="TextBox 99"/>
          <p:cNvSpPr txBox="1"/>
          <p:nvPr/>
        </p:nvSpPr>
        <p:spPr>
          <a:xfrm>
            <a:off x="9690354" y="4672583"/>
            <a:ext cx="1721358" cy="164592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740" b="0">
                <a:solidFill>
                  <a:srgbClr val="52677A"/>
                </a:solidFill>
                <a:latin typeface="Noto Sans CJK TC"/>
              </a:rPr>
              <a:t>推論、工具與串流回答</a:t>
            </a:r>
          </a:p>
        </p:txBody>
      </p:sp>
      <p:cxnSp>
        <p:nvCxnSpPr>
          <p:cNvPr id="101" name="Connector 100"/>
          <p:cNvCxnSpPr/>
          <p:nvPr/>
        </p:nvCxnSpPr>
        <p:spPr>
          <a:xfrm>
            <a:off x="11311128" y="5111496"/>
            <a:ext cx="0" cy="109728"/>
          </a:xfrm>
          <a:prstGeom prst="line">
            <a:avLst/>
          </a:prstGeom>
          <a:ln w="25400">
            <a:solidFill>
              <a:srgbClr val="A96B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2" name="Chevron 101"/>
          <p:cNvSpPr/>
          <p:nvPr/>
        </p:nvSpPr>
        <p:spPr>
          <a:xfrm>
            <a:off x="11173968" y="5129783"/>
            <a:ext cx="274320" cy="173736"/>
          </a:xfrm>
          <a:prstGeom prst="chevron">
            <a:avLst/>
          </a:prstGeom>
          <a:solidFill>
            <a:srgbClr val="A96B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3" name="Rounded Rectangle 102"/>
          <p:cNvSpPr/>
          <p:nvPr/>
        </p:nvSpPr>
        <p:spPr>
          <a:xfrm>
            <a:off x="457200" y="5202936"/>
            <a:ext cx="11201400" cy="877824"/>
          </a:xfrm>
          <a:prstGeom prst="roundRect">
            <a:avLst/>
          </a:prstGeom>
          <a:solidFill>
            <a:srgbClr val="E6F6EE"/>
          </a:solidFill>
          <a:ln w="12700">
            <a:solidFill>
              <a:srgbClr val="D5DE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4" name="Rounded Rectangle 103"/>
          <p:cNvSpPr/>
          <p:nvPr/>
        </p:nvSpPr>
        <p:spPr>
          <a:xfrm>
            <a:off x="457200" y="5202936"/>
            <a:ext cx="1225296" cy="877824"/>
          </a:xfrm>
          <a:prstGeom prst="roundRect">
            <a:avLst/>
          </a:prstGeom>
          <a:solidFill>
            <a:srgbClr val="2E9D6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5" name="TextBox 104"/>
          <p:cNvSpPr txBox="1"/>
          <p:nvPr/>
        </p:nvSpPr>
        <p:spPr>
          <a:xfrm>
            <a:off x="576072" y="5367527"/>
            <a:ext cx="987552" cy="182880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720" b="1">
                <a:solidFill>
                  <a:srgbClr val="FFFFFF"/>
                </a:solidFill>
                <a:latin typeface="Noto Sans CJK TC"/>
              </a:rPr>
              <a:t>DATA</a:t>
            </a:r>
          </a:p>
        </p:txBody>
      </p:sp>
      <p:sp>
        <p:nvSpPr>
          <p:cNvPr id="106" name="TextBox 105"/>
          <p:cNvSpPr txBox="1"/>
          <p:nvPr/>
        </p:nvSpPr>
        <p:spPr>
          <a:xfrm>
            <a:off x="576072" y="5650992"/>
            <a:ext cx="987552" cy="201168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19" b="1">
                <a:solidFill>
                  <a:srgbClr val="FFFFFF"/>
                </a:solidFill>
                <a:latin typeface="Noto Sans CJK TC"/>
              </a:rPr>
              <a:t>資料層</a:t>
            </a:r>
          </a:p>
        </p:txBody>
      </p:sp>
      <p:sp>
        <p:nvSpPr>
          <p:cNvPr id="107" name="Rounded Rectangle 106"/>
          <p:cNvSpPr/>
          <p:nvPr/>
        </p:nvSpPr>
        <p:spPr>
          <a:xfrm>
            <a:off x="1847088" y="5321807"/>
            <a:ext cx="2315718" cy="6400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5DE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8" name="Rounded Rectangle 107"/>
          <p:cNvSpPr/>
          <p:nvPr/>
        </p:nvSpPr>
        <p:spPr>
          <a:xfrm>
            <a:off x="1938528" y="5431536"/>
            <a:ext cx="347472" cy="347472"/>
          </a:xfrm>
          <a:prstGeom prst="roundRect">
            <a:avLst/>
          </a:prstGeom>
          <a:solidFill>
            <a:srgbClr val="2E9D6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9" name="TextBox 108"/>
          <p:cNvSpPr txBox="1"/>
          <p:nvPr/>
        </p:nvSpPr>
        <p:spPr>
          <a:xfrm>
            <a:off x="1938528" y="5431536"/>
            <a:ext cx="347472" cy="347472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760" b="1">
                <a:solidFill>
                  <a:srgbClr val="FFFFFF"/>
                </a:solidFill>
                <a:latin typeface="Noto Sans CJK TC"/>
              </a:rPr>
              <a:t>QD</a:t>
            </a:r>
          </a:p>
        </p:txBody>
      </p:sp>
      <p:sp>
        <p:nvSpPr>
          <p:cNvPr id="110" name="TextBox 109"/>
          <p:cNvSpPr txBox="1"/>
          <p:nvPr/>
        </p:nvSpPr>
        <p:spPr>
          <a:xfrm>
            <a:off x="2359152" y="5367527"/>
            <a:ext cx="1721358" cy="219456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50" b="1">
                <a:solidFill>
                  <a:srgbClr val="0B1F33"/>
                </a:solidFill>
                <a:latin typeface="Noto Sans CJK TC"/>
              </a:rPr>
              <a:t>Qdrant</a:t>
            </a:r>
          </a:p>
        </p:txBody>
      </p:sp>
      <p:sp>
        <p:nvSpPr>
          <p:cNvPr id="111" name="TextBox 110"/>
          <p:cNvSpPr txBox="1"/>
          <p:nvPr/>
        </p:nvSpPr>
        <p:spPr>
          <a:xfrm>
            <a:off x="2359152" y="5641848"/>
            <a:ext cx="1721358" cy="164592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740" b="0">
                <a:solidFill>
                  <a:srgbClr val="52677A"/>
                </a:solidFill>
                <a:latin typeface="Noto Sans CJK TC"/>
              </a:rPr>
              <a:t>knowledge_base 向量集合</a:t>
            </a:r>
          </a:p>
        </p:txBody>
      </p:sp>
      <p:sp>
        <p:nvSpPr>
          <p:cNvPr id="112" name="Rounded Rectangle 111"/>
          <p:cNvSpPr/>
          <p:nvPr/>
        </p:nvSpPr>
        <p:spPr>
          <a:xfrm>
            <a:off x="4290822" y="5321807"/>
            <a:ext cx="2315718" cy="6400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5DE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3" name="Rounded Rectangle 112"/>
          <p:cNvSpPr/>
          <p:nvPr/>
        </p:nvSpPr>
        <p:spPr>
          <a:xfrm>
            <a:off x="4382262" y="5431536"/>
            <a:ext cx="347472" cy="347472"/>
          </a:xfrm>
          <a:prstGeom prst="roundRect">
            <a:avLst/>
          </a:prstGeom>
          <a:solidFill>
            <a:srgbClr val="2E9D6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4" name="TextBox 113"/>
          <p:cNvSpPr txBox="1"/>
          <p:nvPr/>
        </p:nvSpPr>
        <p:spPr>
          <a:xfrm>
            <a:off x="4382262" y="5431536"/>
            <a:ext cx="347472" cy="347472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760" b="1">
                <a:solidFill>
                  <a:srgbClr val="FFFFFF"/>
                </a:solidFill>
                <a:latin typeface="Noto Sans CJK TC"/>
              </a:rPr>
              <a:t>N4</a:t>
            </a:r>
          </a:p>
        </p:txBody>
      </p:sp>
      <p:sp>
        <p:nvSpPr>
          <p:cNvPr id="115" name="TextBox 114"/>
          <p:cNvSpPr txBox="1"/>
          <p:nvPr/>
        </p:nvSpPr>
        <p:spPr>
          <a:xfrm>
            <a:off x="4802886" y="5367527"/>
            <a:ext cx="1721358" cy="219456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50" b="1">
                <a:solidFill>
                  <a:srgbClr val="0B1F33"/>
                </a:solidFill>
                <a:latin typeface="Noto Sans CJK TC"/>
              </a:rPr>
              <a:t>Neo4j</a:t>
            </a:r>
          </a:p>
        </p:txBody>
      </p:sp>
      <p:sp>
        <p:nvSpPr>
          <p:cNvPr id="116" name="TextBox 115"/>
          <p:cNvSpPr txBox="1"/>
          <p:nvPr/>
        </p:nvSpPr>
        <p:spPr>
          <a:xfrm>
            <a:off x="4802886" y="5641848"/>
            <a:ext cx="1721358" cy="164592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740" b="0">
                <a:solidFill>
                  <a:srgbClr val="52677A"/>
                </a:solidFill>
                <a:latin typeface="Noto Sans CJK TC"/>
              </a:rPr>
              <a:t>文件 / 實體 / 報告圖譜</a:t>
            </a:r>
          </a:p>
        </p:txBody>
      </p:sp>
      <p:sp>
        <p:nvSpPr>
          <p:cNvPr id="117" name="Rounded Rectangle 116"/>
          <p:cNvSpPr/>
          <p:nvPr/>
        </p:nvSpPr>
        <p:spPr>
          <a:xfrm>
            <a:off x="6734556" y="5321807"/>
            <a:ext cx="2315718" cy="6400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5DE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8" name="Rounded Rectangle 117"/>
          <p:cNvSpPr/>
          <p:nvPr/>
        </p:nvSpPr>
        <p:spPr>
          <a:xfrm>
            <a:off x="6825996" y="5431536"/>
            <a:ext cx="347472" cy="347472"/>
          </a:xfrm>
          <a:prstGeom prst="roundRect">
            <a:avLst/>
          </a:prstGeom>
          <a:solidFill>
            <a:srgbClr val="2E9D6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9" name="TextBox 118"/>
          <p:cNvSpPr txBox="1"/>
          <p:nvPr/>
        </p:nvSpPr>
        <p:spPr>
          <a:xfrm>
            <a:off x="6825996" y="5431536"/>
            <a:ext cx="347472" cy="347472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760" b="1">
                <a:solidFill>
                  <a:srgbClr val="FFFFFF"/>
                </a:solidFill>
                <a:latin typeface="Noto Sans CJK TC"/>
              </a:rPr>
              <a:t>FS</a:t>
            </a:r>
          </a:p>
        </p:txBody>
      </p:sp>
      <p:sp>
        <p:nvSpPr>
          <p:cNvPr id="120" name="TextBox 119"/>
          <p:cNvSpPr txBox="1"/>
          <p:nvPr/>
        </p:nvSpPr>
        <p:spPr>
          <a:xfrm>
            <a:off x="7246620" y="5367527"/>
            <a:ext cx="1721358" cy="219456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50" b="1">
                <a:solidFill>
                  <a:srgbClr val="0B1F33"/>
                </a:solidFill>
                <a:latin typeface="Noto Sans CJK TC"/>
              </a:rPr>
              <a:t>File Store</a:t>
            </a:r>
          </a:p>
        </p:txBody>
      </p:sp>
      <p:sp>
        <p:nvSpPr>
          <p:cNvPr id="121" name="TextBox 120"/>
          <p:cNvSpPr txBox="1"/>
          <p:nvPr/>
        </p:nvSpPr>
        <p:spPr>
          <a:xfrm>
            <a:off x="7246620" y="5641848"/>
            <a:ext cx="1721358" cy="164592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740" b="0">
                <a:solidFill>
                  <a:srgbClr val="52677A"/>
                </a:solidFill>
                <a:latin typeface="Noto Sans CJK TC"/>
              </a:rPr>
              <a:t>raw / watch / processed / assets</a:t>
            </a:r>
          </a:p>
        </p:txBody>
      </p:sp>
      <p:sp>
        <p:nvSpPr>
          <p:cNvPr id="122" name="Rounded Rectangle 121"/>
          <p:cNvSpPr/>
          <p:nvPr/>
        </p:nvSpPr>
        <p:spPr>
          <a:xfrm>
            <a:off x="9178290" y="5321807"/>
            <a:ext cx="2315718" cy="6400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5DE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3" name="Rounded Rectangle 122"/>
          <p:cNvSpPr/>
          <p:nvPr/>
        </p:nvSpPr>
        <p:spPr>
          <a:xfrm>
            <a:off x="9269730" y="5431536"/>
            <a:ext cx="347472" cy="347472"/>
          </a:xfrm>
          <a:prstGeom prst="roundRect">
            <a:avLst/>
          </a:prstGeom>
          <a:solidFill>
            <a:srgbClr val="2E9D6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4" name="TextBox 123"/>
          <p:cNvSpPr txBox="1"/>
          <p:nvPr/>
        </p:nvSpPr>
        <p:spPr>
          <a:xfrm>
            <a:off x="9269730" y="5431536"/>
            <a:ext cx="347472" cy="347472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760" b="1">
                <a:solidFill>
                  <a:srgbClr val="FFFFFF"/>
                </a:solidFill>
                <a:latin typeface="Noto Sans CJK TC"/>
              </a:rPr>
              <a:t>OC</a:t>
            </a:r>
          </a:p>
        </p:txBody>
      </p:sp>
      <p:sp>
        <p:nvSpPr>
          <p:cNvPr id="125" name="TextBox 124"/>
          <p:cNvSpPr txBox="1"/>
          <p:nvPr/>
        </p:nvSpPr>
        <p:spPr>
          <a:xfrm>
            <a:off x="9690354" y="5367527"/>
            <a:ext cx="1721358" cy="219456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50" b="1">
                <a:solidFill>
                  <a:srgbClr val="0B1F33"/>
                </a:solidFill>
                <a:latin typeface="Noto Sans CJK TC"/>
              </a:rPr>
              <a:t>OpenClaw Runtime</a:t>
            </a:r>
          </a:p>
        </p:txBody>
      </p:sp>
      <p:sp>
        <p:nvSpPr>
          <p:cNvPr id="126" name="TextBox 125"/>
          <p:cNvSpPr txBox="1"/>
          <p:nvPr/>
        </p:nvSpPr>
        <p:spPr>
          <a:xfrm>
            <a:off x="9690354" y="5641848"/>
            <a:ext cx="1721358" cy="164592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740" b="0">
                <a:solidFill>
                  <a:srgbClr val="52677A"/>
                </a:solidFill>
                <a:latin typeface="Noto Sans CJK TC"/>
              </a:rPr>
              <a:t>Identity / Workspace / Skills</a:t>
            </a:r>
          </a:p>
        </p:txBody>
      </p:sp>
      <p:sp>
        <p:nvSpPr>
          <p:cNvPr id="127" name="Rounded Rectangle 126"/>
          <p:cNvSpPr/>
          <p:nvPr/>
        </p:nvSpPr>
        <p:spPr>
          <a:xfrm>
            <a:off x="484632" y="6126480"/>
            <a:ext cx="1389888" cy="237744"/>
          </a:xfrm>
          <a:prstGeom prst="roundRect">
            <a:avLst/>
          </a:prstGeom>
          <a:solidFill>
            <a:srgbClr val="0B1F33"/>
          </a:solidFill>
          <a:ln w="12700">
            <a:solidFill>
              <a:srgbClr val="0B1F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50800" rIns="50800" tIns="0" bIns="0"/>
          <a:lstStyle/>
          <a:p>
            <a:pPr algn="ctr"/>
            <a:r>
              <a:rPr sz="750" b="1">
                <a:solidFill>
                  <a:srgbClr val="FFFFFF"/>
                </a:solidFill>
                <a:latin typeface="Noto Sans CJK TC"/>
              </a:rPr>
              <a:t>PRIMARY FLOW</a:t>
            </a:r>
          </a:p>
        </p:txBody>
      </p:sp>
      <p:sp>
        <p:nvSpPr>
          <p:cNvPr id="128" name="TextBox 127"/>
          <p:cNvSpPr txBox="1"/>
          <p:nvPr/>
        </p:nvSpPr>
        <p:spPr>
          <a:xfrm>
            <a:off x="2011680" y="6126480"/>
            <a:ext cx="8942832" cy="201168"/>
          </a:xfrm>
          <a:prstGeom prst="rect">
            <a:avLst/>
          </a:prstGeom>
          <a:noFill/>
        </p:spPr>
        <p:txBody>
          <a:bodyPr wrap="square" anchor="ctr" lIns="0" rIns="0" tIns="0" bIns="0">
            <a:norm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40" b="1">
                <a:solidFill>
                  <a:srgbClr val="52677A"/>
                </a:solidFill>
                <a:latin typeface="Noto Sans CJK TC"/>
              </a:rPr>
              <a:t>HTTPS / WSS → FastAPI → Redis / Celery → Search &amp; AI → Qdrant / Neo4j / File Store</a:t>
            </a:r>
          </a:p>
        </p:txBody>
      </p:sp>
      <p:sp>
        <p:nvSpPr>
          <p:cNvPr id="129" name="Rectangle 128"/>
          <p:cNvSpPr/>
          <p:nvPr/>
        </p:nvSpPr>
        <p:spPr>
          <a:xfrm>
            <a:off x="475488" y="6391656"/>
            <a:ext cx="11137392" cy="9144"/>
          </a:xfrm>
          <a:prstGeom prst="rect">
            <a:avLst/>
          </a:prstGeom>
          <a:solidFill>
            <a:srgbClr val="D5DE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0" name="TextBox 129"/>
          <p:cNvSpPr txBox="1"/>
          <p:nvPr/>
        </p:nvSpPr>
        <p:spPr>
          <a:xfrm>
            <a:off x="475488" y="6473952"/>
            <a:ext cx="8229600" cy="173736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19" b="1">
                <a:solidFill>
                  <a:srgbClr val="52677A"/>
                </a:solidFill>
                <a:latin typeface="Noto Sans CJK TC"/>
              </a:rPr>
              <a:t>報告重點｜同步入口保持輕量，耗時搜尋與攝入交由背景 worker；資料庫與 LLM 則透過明確介面被各流程共用。</a:t>
            </a:r>
          </a:p>
        </p:txBody>
      </p:sp>
      <p:sp>
        <p:nvSpPr>
          <p:cNvPr id="131" name="TextBox 130"/>
          <p:cNvSpPr txBox="1"/>
          <p:nvPr/>
        </p:nvSpPr>
        <p:spPr>
          <a:xfrm>
            <a:off x="8887968" y="6473952"/>
            <a:ext cx="2724912" cy="173736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700" b="0">
                <a:solidFill>
                  <a:srgbClr val="71859A"/>
                </a:solidFill>
                <a:latin typeface="Noto Sans CJK TC"/>
              </a:rPr>
              <a:t>Current-state architecture · 2026.07.17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2F6F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164592" y="0"/>
            <a:ext cx="12027103" cy="73152"/>
          </a:xfrm>
          <a:prstGeom prst="rect">
            <a:avLst/>
          </a:prstGeom>
          <a:solidFill>
            <a:srgbClr val="0B1F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75488" y="256032"/>
            <a:ext cx="5303520" cy="164592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80" b="1">
                <a:solidFill>
                  <a:srgbClr val="2F6FED"/>
                </a:solidFill>
                <a:latin typeface="Noto Sans CJK TC"/>
              </a:rPr>
              <a:t>03 · RUNTIME FLOW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75488" y="475488"/>
            <a:ext cx="9875520" cy="420624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300" b="1">
                <a:solidFill>
                  <a:srgbClr val="0B1F33"/>
                </a:solidFill>
                <a:latin typeface="Noto Serif CJK TC"/>
              </a:rPr>
              <a:t>查詢與 AI 聊天：兩條互補的執行路徑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84632" y="914400"/>
            <a:ext cx="10332720" cy="256032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50" b="0">
                <a:solidFill>
                  <a:srgbClr val="52677A"/>
                </a:solidFill>
                <a:latin typeface="Noto Sans CJK TC"/>
              </a:rPr>
              <a:t>搜尋 API 以 Celery 任務交付完整 KB 結果；聊天路徑則經 WebSocket 串接 OpenClaw，並在前端補入 KB 脈絡與引用。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10908792" y="329184"/>
            <a:ext cx="713232" cy="310896"/>
          </a:xfrm>
          <a:prstGeom prst="roundRect">
            <a:avLst/>
          </a:prstGeom>
          <a:solidFill>
            <a:srgbClr val="0B1F33"/>
          </a:solidFill>
          <a:ln w="12700">
            <a:solidFill>
              <a:srgbClr val="0B1F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50800" rIns="50800" tIns="0" bIns="0"/>
          <a:lstStyle/>
          <a:p>
            <a:pPr algn="ctr"/>
            <a:r>
              <a:rPr sz="950" b="1">
                <a:solidFill>
                  <a:srgbClr val="FFFFFF"/>
                </a:solidFill>
                <a:latin typeface="Noto Sans CJK TC"/>
              </a:rPr>
              <a:t>04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57200" y="1353312"/>
            <a:ext cx="11201400" cy="2048256"/>
          </a:xfrm>
          <a:prstGeom prst="roundRect">
            <a:avLst/>
          </a:prstGeom>
          <a:solidFill>
            <a:srgbClr val="EAF1FF"/>
          </a:solidFill>
          <a:ln w="12700">
            <a:solidFill>
              <a:srgbClr val="D5DE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ounded Rectangle 9"/>
          <p:cNvSpPr/>
          <p:nvPr/>
        </p:nvSpPr>
        <p:spPr>
          <a:xfrm>
            <a:off x="457200" y="1353312"/>
            <a:ext cx="1078992" cy="2048256"/>
          </a:xfrm>
          <a:prstGeom prst="roundRect">
            <a:avLst/>
          </a:prstGeom>
          <a:solidFill>
            <a:srgbClr val="2F6F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76072" y="1700784"/>
            <a:ext cx="841248" cy="201168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750" b="1">
                <a:solidFill>
                  <a:srgbClr val="FFFFFF"/>
                </a:solidFill>
                <a:latin typeface="Noto Sans CJK TC"/>
              </a:rPr>
              <a:t>KB SEARCH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76072" y="2084832"/>
            <a:ext cx="841248" cy="585216"/>
          </a:xfrm>
          <a:prstGeom prst="rect">
            <a:avLst/>
          </a:prstGeom>
          <a:noFill/>
        </p:spPr>
        <p:txBody>
          <a:bodyPr wrap="square" anchor="ctr" lIns="0" rIns="0" tIns="0" bIns="0">
            <a:norm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00" b="1">
                <a:solidFill>
                  <a:srgbClr val="FFFFFF"/>
                </a:solidFill>
                <a:latin typeface="Noto Sans CJK TC"/>
              </a:rPr>
              <a:t>非同步知識庫搜尋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76072" y="2834640"/>
            <a:ext cx="841248" cy="164592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720" b="1">
                <a:solidFill>
                  <a:srgbClr val="FFFFFF"/>
                </a:solidFill>
                <a:latin typeface="Noto Sans CJK TC"/>
              </a:rPr>
              <a:t>AS-IS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1719072" y="1673352"/>
            <a:ext cx="1481328" cy="14173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5DE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ounded Rectangle 14"/>
          <p:cNvSpPr/>
          <p:nvPr/>
        </p:nvSpPr>
        <p:spPr>
          <a:xfrm>
            <a:off x="1828800" y="1792224"/>
            <a:ext cx="310896" cy="310896"/>
          </a:xfrm>
          <a:prstGeom prst="roundRect">
            <a:avLst/>
          </a:prstGeom>
          <a:solidFill>
            <a:srgbClr val="2F6F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1828800" y="1792224"/>
            <a:ext cx="310896" cy="310896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50" b="1">
                <a:solidFill>
                  <a:srgbClr val="FFFFFF"/>
                </a:solidFill>
                <a:latin typeface="Noto Sans CJK TC"/>
              </a:rPr>
              <a:t>1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2212848" y="1783080"/>
            <a:ext cx="886968" cy="347472"/>
          </a:xfrm>
          <a:prstGeom prst="rect">
            <a:avLst/>
          </a:prstGeom>
          <a:noFill/>
        </p:spPr>
        <p:txBody>
          <a:bodyPr wrap="square" anchor="ctr" lIns="0" rIns="0" tIns="0" bIns="0">
            <a:norm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50" b="1">
                <a:solidFill>
                  <a:srgbClr val="2F6FED"/>
                </a:solidFill>
                <a:latin typeface="Noto Sans CJK TC"/>
              </a:rPr>
              <a:t>提出問題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856231" y="2157984"/>
            <a:ext cx="1207008" cy="850392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60" b="0">
                <a:solidFill>
                  <a:srgbClr val="52677A"/>
                </a:solidFill>
                <a:latin typeface="Noto Sans CJK TC"/>
              </a:rPr>
              <a:t>SearchView / API client</a:t>
            </a:r>
          </a:p>
        </p:txBody>
      </p:sp>
      <p:sp>
        <p:nvSpPr>
          <p:cNvPr id="19" name="Chevron 18"/>
          <p:cNvSpPr/>
          <p:nvPr/>
        </p:nvSpPr>
        <p:spPr>
          <a:xfrm>
            <a:off x="3264408" y="2231136"/>
            <a:ext cx="182880" cy="274320"/>
          </a:xfrm>
          <a:prstGeom prst="chevron">
            <a:avLst/>
          </a:prstGeom>
          <a:solidFill>
            <a:srgbClr val="2F6F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ounded Rectangle 19"/>
          <p:cNvSpPr/>
          <p:nvPr/>
        </p:nvSpPr>
        <p:spPr>
          <a:xfrm>
            <a:off x="3383280" y="1673352"/>
            <a:ext cx="1481328" cy="14173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5DE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ounded Rectangle 20"/>
          <p:cNvSpPr/>
          <p:nvPr/>
        </p:nvSpPr>
        <p:spPr>
          <a:xfrm>
            <a:off x="3493008" y="1792224"/>
            <a:ext cx="310896" cy="310896"/>
          </a:xfrm>
          <a:prstGeom prst="roundRect">
            <a:avLst/>
          </a:prstGeom>
          <a:solidFill>
            <a:srgbClr val="2F6F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3493008" y="1792224"/>
            <a:ext cx="310896" cy="310896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50" b="1">
                <a:solidFill>
                  <a:srgbClr val="FFFFFF"/>
                </a:solidFill>
                <a:latin typeface="Noto Sans CJK TC"/>
              </a:rPr>
              <a:t>2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3877056" y="1783080"/>
            <a:ext cx="886968" cy="347472"/>
          </a:xfrm>
          <a:prstGeom prst="rect">
            <a:avLst/>
          </a:prstGeom>
          <a:noFill/>
        </p:spPr>
        <p:txBody>
          <a:bodyPr wrap="square" anchor="ctr" lIns="0" rIns="0" tIns="0" bIns="0">
            <a:norm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50" b="1">
                <a:solidFill>
                  <a:srgbClr val="2F6FED"/>
                </a:solidFill>
                <a:latin typeface="Noto Sans CJK TC"/>
              </a:rPr>
              <a:t>POST /search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3520440" y="2157984"/>
            <a:ext cx="1207008" cy="850392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60" b="0">
                <a:solidFill>
                  <a:srgbClr val="52677A"/>
                </a:solidFill>
                <a:latin typeface="Noto Sans CJK TC"/>
              </a:rPr>
              <a:t>FastAPI 驗證並建立 task</a:t>
            </a:r>
          </a:p>
        </p:txBody>
      </p:sp>
      <p:sp>
        <p:nvSpPr>
          <p:cNvPr id="25" name="Chevron 24"/>
          <p:cNvSpPr/>
          <p:nvPr/>
        </p:nvSpPr>
        <p:spPr>
          <a:xfrm>
            <a:off x="4928616" y="2231136"/>
            <a:ext cx="182880" cy="274320"/>
          </a:xfrm>
          <a:prstGeom prst="chevron">
            <a:avLst/>
          </a:prstGeom>
          <a:solidFill>
            <a:srgbClr val="2F6F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ounded Rectangle 25"/>
          <p:cNvSpPr/>
          <p:nvPr/>
        </p:nvSpPr>
        <p:spPr>
          <a:xfrm>
            <a:off x="5047488" y="1673352"/>
            <a:ext cx="1481328" cy="14173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5DE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ounded Rectangle 26"/>
          <p:cNvSpPr/>
          <p:nvPr/>
        </p:nvSpPr>
        <p:spPr>
          <a:xfrm>
            <a:off x="5157216" y="1792224"/>
            <a:ext cx="310896" cy="310896"/>
          </a:xfrm>
          <a:prstGeom prst="roundRect">
            <a:avLst/>
          </a:prstGeom>
          <a:solidFill>
            <a:srgbClr val="2F6F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5157216" y="1792224"/>
            <a:ext cx="310896" cy="310896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50" b="1">
                <a:solidFill>
                  <a:srgbClr val="FFFFFF"/>
                </a:solidFill>
                <a:latin typeface="Noto Sans CJK TC"/>
              </a:rPr>
              <a:t>3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5541264" y="1783080"/>
            <a:ext cx="886968" cy="347472"/>
          </a:xfrm>
          <a:prstGeom prst="rect">
            <a:avLst/>
          </a:prstGeom>
          <a:noFill/>
        </p:spPr>
        <p:txBody>
          <a:bodyPr wrap="square" anchor="ctr" lIns="0" rIns="0" tIns="0" bIns="0">
            <a:norm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50" b="1">
                <a:solidFill>
                  <a:srgbClr val="2F6FED"/>
                </a:solidFill>
                <a:latin typeface="Noto Sans CJK TC"/>
              </a:rPr>
              <a:t>Redis + Celery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5184648" y="2157984"/>
            <a:ext cx="1207008" cy="850392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60" b="0">
                <a:solidFill>
                  <a:srgbClr val="52677A"/>
                </a:solidFill>
                <a:latin typeface="Noto Sans CJK TC"/>
              </a:rPr>
              <a:t>search queue / task state</a:t>
            </a:r>
          </a:p>
        </p:txBody>
      </p:sp>
      <p:sp>
        <p:nvSpPr>
          <p:cNvPr id="31" name="Chevron 30"/>
          <p:cNvSpPr/>
          <p:nvPr/>
        </p:nvSpPr>
        <p:spPr>
          <a:xfrm>
            <a:off x="6592824" y="2231136"/>
            <a:ext cx="182880" cy="274320"/>
          </a:xfrm>
          <a:prstGeom prst="chevron">
            <a:avLst/>
          </a:prstGeom>
          <a:solidFill>
            <a:srgbClr val="2F6F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Rounded Rectangle 31"/>
          <p:cNvSpPr/>
          <p:nvPr/>
        </p:nvSpPr>
        <p:spPr>
          <a:xfrm>
            <a:off x="6711696" y="1673352"/>
            <a:ext cx="1481328" cy="14173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5DE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Rounded Rectangle 32"/>
          <p:cNvSpPr/>
          <p:nvPr/>
        </p:nvSpPr>
        <p:spPr>
          <a:xfrm>
            <a:off x="6821424" y="1792224"/>
            <a:ext cx="310896" cy="310896"/>
          </a:xfrm>
          <a:prstGeom prst="roundRect">
            <a:avLst/>
          </a:prstGeom>
          <a:solidFill>
            <a:srgbClr val="2F6F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6821424" y="1792224"/>
            <a:ext cx="310896" cy="310896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50" b="1">
                <a:solidFill>
                  <a:srgbClr val="FFFFFF"/>
                </a:solidFill>
                <a:latin typeface="Noto Sans CJK TC"/>
              </a:rPr>
              <a:t>4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7205472" y="1783080"/>
            <a:ext cx="886968" cy="347472"/>
          </a:xfrm>
          <a:prstGeom prst="rect">
            <a:avLst/>
          </a:prstGeom>
          <a:noFill/>
        </p:spPr>
        <p:txBody>
          <a:bodyPr wrap="square" anchor="ctr" lIns="0" rIns="0" tIns="0" bIns="0">
            <a:norm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50" b="1">
                <a:solidFill>
                  <a:srgbClr val="2F6FED"/>
                </a:solidFill>
                <a:latin typeface="Noto Sans CJK TC"/>
              </a:rPr>
              <a:t>雙引擎召回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6848856" y="2157984"/>
            <a:ext cx="1207008" cy="850392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60" b="0">
                <a:solidFill>
                  <a:srgbClr val="52677A"/>
                </a:solidFill>
                <a:latin typeface="Noto Sans CJK TC"/>
              </a:rPr>
              <a:t>Qdrant + Neo4j / rules</a:t>
            </a:r>
          </a:p>
        </p:txBody>
      </p:sp>
      <p:sp>
        <p:nvSpPr>
          <p:cNvPr id="37" name="Chevron 36"/>
          <p:cNvSpPr/>
          <p:nvPr/>
        </p:nvSpPr>
        <p:spPr>
          <a:xfrm>
            <a:off x="8257032" y="2231136"/>
            <a:ext cx="182880" cy="274320"/>
          </a:xfrm>
          <a:prstGeom prst="chevron">
            <a:avLst/>
          </a:prstGeom>
          <a:solidFill>
            <a:srgbClr val="2F6F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Rounded Rectangle 37"/>
          <p:cNvSpPr/>
          <p:nvPr/>
        </p:nvSpPr>
        <p:spPr>
          <a:xfrm>
            <a:off x="8375904" y="1673352"/>
            <a:ext cx="1481328" cy="14173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5DE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Rounded Rectangle 38"/>
          <p:cNvSpPr/>
          <p:nvPr/>
        </p:nvSpPr>
        <p:spPr>
          <a:xfrm>
            <a:off x="8485632" y="1792224"/>
            <a:ext cx="310896" cy="310896"/>
          </a:xfrm>
          <a:prstGeom prst="roundRect">
            <a:avLst/>
          </a:prstGeom>
          <a:solidFill>
            <a:srgbClr val="2F6F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8485632" y="1792224"/>
            <a:ext cx="310896" cy="310896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50" b="1">
                <a:solidFill>
                  <a:srgbClr val="FFFFFF"/>
                </a:solidFill>
                <a:latin typeface="Noto Sans CJK TC"/>
              </a:rPr>
              <a:t>5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8869680" y="1783080"/>
            <a:ext cx="886968" cy="347472"/>
          </a:xfrm>
          <a:prstGeom prst="rect">
            <a:avLst/>
          </a:prstGeom>
          <a:noFill/>
        </p:spPr>
        <p:txBody>
          <a:bodyPr wrap="square" anchor="ctr" lIns="0" rIns="0" tIns="0" bIns="0">
            <a:norm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50" b="1">
                <a:solidFill>
                  <a:srgbClr val="2F6FED"/>
                </a:solidFill>
                <a:latin typeface="Noto Sans CJK TC"/>
              </a:rPr>
              <a:t>融合與生成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8513064" y="2157984"/>
            <a:ext cx="1207008" cy="850392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60" b="0">
                <a:solidFill>
                  <a:srgbClr val="52677A"/>
                </a:solidFill>
                <a:latin typeface="Noto Sans CJK TC"/>
              </a:rPr>
              <a:t>重排、去重、Ollama</a:t>
            </a:r>
          </a:p>
        </p:txBody>
      </p:sp>
      <p:sp>
        <p:nvSpPr>
          <p:cNvPr id="43" name="Chevron 42"/>
          <p:cNvSpPr/>
          <p:nvPr/>
        </p:nvSpPr>
        <p:spPr>
          <a:xfrm>
            <a:off x="9921240" y="2231136"/>
            <a:ext cx="182880" cy="274320"/>
          </a:xfrm>
          <a:prstGeom prst="chevron">
            <a:avLst/>
          </a:prstGeom>
          <a:solidFill>
            <a:srgbClr val="2F6F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Rounded Rectangle 43"/>
          <p:cNvSpPr/>
          <p:nvPr/>
        </p:nvSpPr>
        <p:spPr>
          <a:xfrm>
            <a:off x="10040112" y="1673352"/>
            <a:ext cx="1481328" cy="14173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5DE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Rounded Rectangle 44"/>
          <p:cNvSpPr/>
          <p:nvPr/>
        </p:nvSpPr>
        <p:spPr>
          <a:xfrm>
            <a:off x="10149840" y="1792224"/>
            <a:ext cx="310896" cy="310896"/>
          </a:xfrm>
          <a:prstGeom prst="roundRect">
            <a:avLst/>
          </a:prstGeom>
          <a:solidFill>
            <a:srgbClr val="2F6F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TextBox 45"/>
          <p:cNvSpPr txBox="1"/>
          <p:nvPr/>
        </p:nvSpPr>
        <p:spPr>
          <a:xfrm>
            <a:off x="10149840" y="1792224"/>
            <a:ext cx="310896" cy="310896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50" b="1">
                <a:solidFill>
                  <a:srgbClr val="FFFFFF"/>
                </a:solidFill>
                <a:latin typeface="Noto Sans CJK TC"/>
              </a:rPr>
              <a:t>6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10533888" y="1783080"/>
            <a:ext cx="886968" cy="347472"/>
          </a:xfrm>
          <a:prstGeom prst="rect">
            <a:avLst/>
          </a:prstGeom>
          <a:noFill/>
        </p:spPr>
        <p:txBody>
          <a:bodyPr wrap="square" anchor="ctr" lIns="0" rIns="0" tIns="0" bIns="0">
            <a:norm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50" b="1">
                <a:solidFill>
                  <a:srgbClr val="2F6FED"/>
                </a:solidFill>
                <a:latin typeface="Noto Sans CJK TC"/>
              </a:rPr>
              <a:t>輪詢結果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10177272" y="2157984"/>
            <a:ext cx="1207008" cy="850392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60" b="0">
                <a:solidFill>
                  <a:srgbClr val="52677A"/>
                </a:solidFill>
                <a:latin typeface="Noto Sans CJK TC"/>
              </a:rPr>
              <a:t>/tasks/{id} + citations</a:t>
            </a:r>
          </a:p>
        </p:txBody>
      </p:sp>
      <p:sp>
        <p:nvSpPr>
          <p:cNvPr id="49" name="Rounded Rectangle 48"/>
          <p:cNvSpPr/>
          <p:nvPr/>
        </p:nvSpPr>
        <p:spPr>
          <a:xfrm>
            <a:off x="457200" y="3675887"/>
            <a:ext cx="11201400" cy="2048256"/>
          </a:xfrm>
          <a:prstGeom prst="roundRect">
            <a:avLst/>
          </a:prstGeom>
          <a:solidFill>
            <a:srgbClr val="E3F7F6"/>
          </a:solidFill>
          <a:ln w="12700">
            <a:solidFill>
              <a:srgbClr val="D5DE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Rounded Rectangle 49"/>
          <p:cNvSpPr/>
          <p:nvPr/>
        </p:nvSpPr>
        <p:spPr>
          <a:xfrm>
            <a:off x="457200" y="3675887"/>
            <a:ext cx="1078992" cy="2048256"/>
          </a:xfrm>
          <a:prstGeom prst="roundRect">
            <a:avLst/>
          </a:prstGeom>
          <a:solidFill>
            <a:srgbClr val="00A6A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TextBox 50"/>
          <p:cNvSpPr txBox="1"/>
          <p:nvPr/>
        </p:nvSpPr>
        <p:spPr>
          <a:xfrm>
            <a:off x="576072" y="4023359"/>
            <a:ext cx="841248" cy="201168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750" b="1">
                <a:solidFill>
                  <a:srgbClr val="FFFFFF"/>
                </a:solidFill>
                <a:latin typeface="Noto Sans CJK TC"/>
              </a:rPr>
              <a:t>AI CHAT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576072" y="4407407"/>
            <a:ext cx="841248" cy="585216"/>
          </a:xfrm>
          <a:prstGeom prst="rect">
            <a:avLst/>
          </a:prstGeom>
          <a:noFill/>
        </p:spPr>
        <p:txBody>
          <a:bodyPr wrap="square" anchor="ctr" lIns="0" rIns="0" tIns="0" bIns="0">
            <a:norm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00" b="1">
                <a:solidFill>
                  <a:srgbClr val="FFFFFF"/>
                </a:solidFill>
                <a:latin typeface="Noto Sans CJK TC"/>
              </a:rPr>
              <a:t>OpenClaw 串流聊天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576072" y="5157216"/>
            <a:ext cx="841248" cy="164592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720" b="1">
                <a:solidFill>
                  <a:srgbClr val="FFFFFF"/>
                </a:solidFill>
                <a:latin typeface="Noto Sans CJK TC"/>
              </a:rPr>
              <a:t>AS-IS</a:t>
            </a:r>
          </a:p>
        </p:txBody>
      </p:sp>
      <p:sp>
        <p:nvSpPr>
          <p:cNvPr id="54" name="Rounded Rectangle 53"/>
          <p:cNvSpPr/>
          <p:nvPr/>
        </p:nvSpPr>
        <p:spPr>
          <a:xfrm>
            <a:off x="1719072" y="3995927"/>
            <a:ext cx="1481328" cy="14173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5DE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" name="Rounded Rectangle 54"/>
          <p:cNvSpPr/>
          <p:nvPr/>
        </p:nvSpPr>
        <p:spPr>
          <a:xfrm>
            <a:off x="1828800" y="4114799"/>
            <a:ext cx="310896" cy="310896"/>
          </a:xfrm>
          <a:prstGeom prst="roundRect">
            <a:avLst/>
          </a:prstGeom>
          <a:solidFill>
            <a:srgbClr val="00A6A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6" name="TextBox 55"/>
          <p:cNvSpPr txBox="1"/>
          <p:nvPr/>
        </p:nvSpPr>
        <p:spPr>
          <a:xfrm>
            <a:off x="1828800" y="4114799"/>
            <a:ext cx="310896" cy="310896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50" b="1">
                <a:solidFill>
                  <a:srgbClr val="FFFFFF"/>
                </a:solidFill>
                <a:latin typeface="Noto Sans CJK TC"/>
              </a:rPr>
              <a:t>1</a:t>
            </a:r>
          </a:p>
        </p:txBody>
      </p:sp>
      <p:sp>
        <p:nvSpPr>
          <p:cNvPr id="57" name="TextBox 56"/>
          <p:cNvSpPr txBox="1"/>
          <p:nvPr/>
        </p:nvSpPr>
        <p:spPr>
          <a:xfrm>
            <a:off x="2212848" y="4105655"/>
            <a:ext cx="886968" cy="347472"/>
          </a:xfrm>
          <a:prstGeom prst="rect">
            <a:avLst/>
          </a:prstGeom>
          <a:noFill/>
        </p:spPr>
        <p:txBody>
          <a:bodyPr wrap="square" anchor="ctr" lIns="0" rIns="0" tIns="0" bIns="0">
            <a:norm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50" b="1">
                <a:solidFill>
                  <a:srgbClr val="00A6A6"/>
                </a:solidFill>
                <a:latin typeface="Noto Sans CJK TC"/>
              </a:rPr>
              <a:t>載入設定</a:t>
            </a:r>
          </a:p>
        </p:txBody>
      </p:sp>
      <p:sp>
        <p:nvSpPr>
          <p:cNvPr id="58" name="TextBox 57"/>
          <p:cNvSpPr txBox="1"/>
          <p:nvPr/>
        </p:nvSpPr>
        <p:spPr>
          <a:xfrm>
            <a:off x="1856231" y="4480559"/>
            <a:ext cx="1207008" cy="850392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60" b="0">
                <a:solidFill>
                  <a:srgbClr val="52677A"/>
                </a:solidFill>
                <a:latin typeface="Noto Sans CJK TC"/>
              </a:rPr>
              <a:t>chat-config / browser session</a:t>
            </a:r>
          </a:p>
        </p:txBody>
      </p:sp>
      <p:sp>
        <p:nvSpPr>
          <p:cNvPr id="59" name="Chevron 58"/>
          <p:cNvSpPr/>
          <p:nvPr/>
        </p:nvSpPr>
        <p:spPr>
          <a:xfrm>
            <a:off x="3264408" y="4553712"/>
            <a:ext cx="182880" cy="274320"/>
          </a:xfrm>
          <a:prstGeom prst="chevron">
            <a:avLst/>
          </a:prstGeom>
          <a:solidFill>
            <a:srgbClr val="00A6A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0" name="Rounded Rectangle 59"/>
          <p:cNvSpPr/>
          <p:nvPr/>
        </p:nvSpPr>
        <p:spPr>
          <a:xfrm>
            <a:off x="3383280" y="3995927"/>
            <a:ext cx="1481328" cy="14173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5DE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1" name="Rounded Rectangle 60"/>
          <p:cNvSpPr/>
          <p:nvPr/>
        </p:nvSpPr>
        <p:spPr>
          <a:xfrm>
            <a:off x="3493008" y="4114799"/>
            <a:ext cx="310896" cy="310896"/>
          </a:xfrm>
          <a:prstGeom prst="roundRect">
            <a:avLst/>
          </a:prstGeom>
          <a:solidFill>
            <a:srgbClr val="00A6A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2" name="TextBox 61"/>
          <p:cNvSpPr txBox="1"/>
          <p:nvPr/>
        </p:nvSpPr>
        <p:spPr>
          <a:xfrm>
            <a:off x="3493008" y="4114799"/>
            <a:ext cx="310896" cy="310896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50" b="1">
                <a:solidFill>
                  <a:srgbClr val="FFFFFF"/>
                </a:solidFill>
                <a:latin typeface="Noto Sans CJK TC"/>
              </a:rPr>
              <a:t>2</a:t>
            </a:r>
          </a:p>
        </p:txBody>
      </p:sp>
      <p:sp>
        <p:nvSpPr>
          <p:cNvPr id="63" name="TextBox 62"/>
          <p:cNvSpPr txBox="1"/>
          <p:nvPr/>
        </p:nvSpPr>
        <p:spPr>
          <a:xfrm>
            <a:off x="3877056" y="4105655"/>
            <a:ext cx="886968" cy="347472"/>
          </a:xfrm>
          <a:prstGeom prst="rect">
            <a:avLst/>
          </a:prstGeom>
          <a:noFill/>
        </p:spPr>
        <p:txBody>
          <a:bodyPr wrap="square" anchor="ctr" lIns="0" rIns="0" tIns="0" bIns="0">
            <a:norm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50" b="1">
                <a:solidFill>
                  <a:srgbClr val="00A6A6"/>
                </a:solidFill>
                <a:latin typeface="Noto Sans CJK TC"/>
              </a:rPr>
              <a:t>準備 KB Context</a:t>
            </a:r>
          </a:p>
        </p:txBody>
      </p:sp>
      <p:sp>
        <p:nvSpPr>
          <p:cNvPr id="64" name="TextBox 63"/>
          <p:cNvSpPr txBox="1"/>
          <p:nvPr/>
        </p:nvSpPr>
        <p:spPr>
          <a:xfrm>
            <a:off x="3520440" y="4480559"/>
            <a:ext cx="1207008" cy="850392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60" b="0">
                <a:solidFill>
                  <a:srgbClr val="52677A"/>
                </a:solidFill>
                <a:latin typeface="Noto Sans CJK TC"/>
              </a:rPr>
              <a:t>依題型檢索與來源整理</a:t>
            </a:r>
          </a:p>
        </p:txBody>
      </p:sp>
      <p:sp>
        <p:nvSpPr>
          <p:cNvPr id="65" name="Chevron 64"/>
          <p:cNvSpPr/>
          <p:nvPr/>
        </p:nvSpPr>
        <p:spPr>
          <a:xfrm>
            <a:off x="4928616" y="4553712"/>
            <a:ext cx="182880" cy="274320"/>
          </a:xfrm>
          <a:prstGeom prst="chevron">
            <a:avLst/>
          </a:prstGeom>
          <a:solidFill>
            <a:srgbClr val="00A6A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6" name="Rounded Rectangle 65"/>
          <p:cNvSpPr/>
          <p:nvPr/>
        </p:nvSpPr>
        <p:spPr>
          <a:xfrm>
            <a:off x="5047488" y="3995927"/>
            <a:ext cx="1481328" cy="14173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5DE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7" name="Rounded Rectangle 66"/>
          <p:cNvSpPr/>
          <p:nvPr/>
        </p:nvSpPr>
        <p:spPr>
          <a:xfrm>
            <a:off x="5157216" y="4114799"/>
            <a:ext cx="310896" cy="310896"/>
          </a:xfrm>
          <a:prstGeom prst="roundRect">
            <a:avLst/>
          </a:prstGeom>
          <a:solidFill>
            <a:srgbClr val="00A6A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8" name="TextBox 67"/>
          <p:cNvSpPr txBox="1"/>
          <p:nvPr/>
        </p:nvSpPr>
        <p:spPr>
          <a:xfrm>
            <a:off x="5157216" y="4114799"/>
            <a:ext cx="310896" cy="310896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50" b="1">
                <a:solidFill>
                  <a:srgbClr val="FFFFFF"/>
                </a:solidFill>
                <a:latin typeface="Noto Sans CJK TC"/>
              </a:rPr>
              <a:t>3</a:t>
            </a:r>
          </a:p>
        </p:txBody>
      </p:sp>
      <p:sp>
        <p:nvSpPr>
          <p:cNvPr id="69" name="TextBox 68"/>
          <p:cNvSpPr txBox="1"/>
          <p:nvPr/>
        </p:nvSpPr>
        <p:spPr>
          <a:xfrm>
            <a:off x="5541264" y="4105655"/>
            <a:ext cx="886968" cy="347472"/>
          </a:xfrm>
          <a:prstGeom prst="rect">
            <a:avLst/>
          </a:prstGeom>
          <a:noFill/>
        </p:spPr>
        <p:txBody>
          <a:bodyPr wrap="square" anchor="ctr" lIns="0" rIns="0" tIns="0" bIns="0">
            <a:norm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50" b="1">
                <a:solidFill>
                  <a:srgbClr val="00A6A6"/>
                </a:solidFill>
                <a:latin typeface="Noto Sans CJK TC"/>
              </a:rPr>
              <a:t>WSS /ws</a:t>
            </a:r>
          </a:p>
        </p:txBody>
      </p:sp>
      <p:sp>
        <p:nvSpPr>
          <p:cNvPr id="70" name="TextBox 69"/>
          <p:cNvSpPr txBox="1"/>
          <p:nvPr/>
        </p:nvSpPr>
        <p:spPr>
          <a:xfrm>
            <a:off x="5184648" y="4480559"/>
            <a:ext cx="1207008" cy="850392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60" b="0">
                <a:solidFill>
                  <a:srgbClr val="52677A"/>
                </a:solidFill>
                <a:latin typeface="Noto Sans CJK TC"/>
              </a:rPr>
              <a:t>瀏覽器連線 FastAPI</a:t>
            </a:r>
          </a:p>
        </p:txBody>
      </p:sp>
      <p:sp>
        <p:nvSpPr>
          <p:cNvPr id="71" name="Chevron 70"/>
          <p:cNvSpPr/>
          <p:nvPr/>
        </p:nvSpPr>
        <p:spPr>
          <a:xfrm>
            <a:off x="6592824" y="4553712"/>
            <a:ext cx="182880" cy="274320"/>
          </a:xfrm>
          <a:prstGeom prst="chevron">
            <a:avLst/>
          </a:prstGeom>
          <a:solidFill>
            <a:srgbClr val="00A6A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2" name="Rounded Rectangle 71"/>
          <p:cNvSpPr/>
          <p:nvPr/>
        </p:nvSpPr>
        <p:spPr>
          <a:xfrm>
            <a:off x="6711696" y="3995927"/>
            <a:ext cx="1481328" cy="14173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5DE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3" name="Rounded Rectangle 72"/>
          <p:cNvSpPr/>
          <p:nvPr/>
        </p:nvSpPr>
        <p:spPr>
          <a:xfrm>
            <a:off x="6821424" y="4114799"/>
            <a:ext cx="310896" cy="310896"/>
          </a:xfrm>
          <a:prstGeom prst="roundRect">
            <a:avLst/>
          </a:prstGeom>
          <a:solidFill>
            <a:srgbClr val="00A6A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4" name="TextBox 73"/>
          <p:cNvSpPr txBox="1"/>
          <p:nvPr/>
        </p:nvSpPr>
        <p:spPr>
          <a:xfrm>
            <a:off x="6821424" y="4114799"/>
            <a:ext cx="310896" cy="310896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50" b="1">
                <a:solidFill>
                  <a:srgbClr val="FFFFFF"/>
                </a:solidFill>
                <a:latin typeface="Noto Sans CJK TC"/>
              </a:rPr>
              <a:t>4</a:t>
            </a:r>
          </a:p>
        </p:txBody>
      </p:sp>
      <p:sp>
        <p:nvSpPr>
          <p:cNvPr id="75" name="TextBox 74"/>
          <p:cNvSpPr txBox="1"/>
          <p:nvPr/>
        </p:nvSpPr>
        <p:spPr>
          <a:xfrm>
            <a:off x="7205472" y="4105655"/>
            <a:ext cx="886968" cy="347472"/>
          </a:xfrm>
          <a:prstGeom prst="rect">
            <a:avLst/>
          </a:prstGeom>
          <a:noFill/>
        </p:spPr>
        <p:txBody>
          <a:bodyPr wrap="square" anchor="ctr" lIns="0" rIns="0" tIns="0" bIns="0">
            <a:norm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50" b="1">
                <a:solidFill>
                  <a:srgbClr val="00A6A6"/>
                </a:solidFill>
                <a:latin typeface="Noto Sans CJK TC"/>
              </a:rPr>
              <a:t>併發與排隊</a:t>
            </a:r>
          </a:p>
        </p:txBody>
      </p:sp>
      <p:sp>
        <p:nvSpPr>
          <p:cNvPr id="76" name="TextBox 75"/>
          <p:cNvSpPr txBox="1"/>
          <p:nvPr/>
        </p:nvSpPr>
        <p:spPr>
          <a:xfrm>
            <a:off x="6848856" y="4480559"/>
            <a:ext cx="1207008" cy="850392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60" b="0">
                <a:solidFill>
                  <a:srgbClr val="52677A"/>
                </a:solidFill>
                <a:latin typeface="Noto Sans CJK TC"/>
              </a:rPr>
              <a:t>session lock / global slot</a:t>
            </a:r>
          </a:p>
        </p:txBody>
      </p:sp>
      <p:sp>
        <p:nvSpPr>
          <p:cNvPr id="77" name="Chevron 76"/>
          <p:cNvSpPr/>
          <p:nvPr/>
        </p:nvSpPr>
        <p:spPr>
          <a:xfrm>
            <a:off x="8257032" y="4553712"/>
            <a:ext cx="182880" cy="274320"/>
          </a:xfrm>
          <a:prstGeom prst="chevron">
            <a:avLst/>
          </a:prstGeom>
          <a:solidFill>
            <a:srgbClr val="00A6A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8" name="Rounded Rectangle 77"/>
          <p:cNvSpPr/>
          <p:nvPr/>
        </p:nvSpPr>
        <p:spPr>
          <a:xfrm>
            <a:off x="8375904" y="3995927"/>
            <a:ext cx="1481328" cy="14173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5DE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9" name="Rounded Rectangle 78"/>
          <p:cNvSpPr/>
          <p:nvPr/>
        </p:nvSpPr>
        <p:spPr>
          <a:xfrm>
            <a:off x="8485632" y="4114799"/>
            <a:ext cx="310896" cy="310896"/>
          </a:xfrm>
          <a:prstGeom prst="roundRect">
            <a:avLst/>
          </a:prstGeom>
          <a:solidFill>
            <a:srgbClr val="00A6A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0" name="TextBox 79"/>
          <p:cNvSpPr txBox="1"/>
          <p:nvPr/>
        </p:nvSpPr>
        <p:spPr>
          <a:xfrm>
            <a:off x="8485632" y="4114799"/>
            <a:ext cx="310896" cy="310896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50" b="1">
                <a:solidFill>
                  <a:srgbClr val="FFFFFF"/>
                </a:solidFill>
                <a:latin typeface="Noto Sans CJK TC"/>
              </a:rPr>
              <a:t>5</a:t>
            </a:r>
          </a:p>
        </p:txBody>
      </p:sp>
      <p:sp>
        <p:nvSpPr>
          <p:cNvPr id="81" name="TextBox 80"/>
          <p:cNvSpPr txBox="1"/>
          <p:nvPr/>
        </p:nvSpPr>
        <p:spPr>
          <a:xfrm>
            <a:off x="8869680" y="4105655"/>
            <a:ext cx="886968" cy="347472"/>
          </a:xfrm>
          <a:prstGeom prst="rect">
            <a:avLst/>
          </a:prstGeom>
          <a:noFill/>
        </p:spPr>
        <p:txBody>
          <a:bodyPr wrap="square" anchor="ctr" lIns="0" rIns="0" tIns="0" bIns="0">
            <a:norm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50" b="1">
                <a:solidFill>
                  <a:srgbClr val="00A6A6"/>
                </a:solidFill>
                <a:latin typeface="Noto Sans CJK TC"/>
              </a:rPr>
              <a:t>OpenClaw + LLM</a:t>
            </a:r>
          </a:p>
        </p:txBody>
      </p:sp>
      <p:sp>
        <p:nvSpPr>
          <p:cNvPr id="82" name="TextBox 81"/>
          <p:cNvSpPr txBox="1"/>
          <p:nvPr/>
        </p:nvSpPr>
        <p:spPr>
          <a:xfrm>
            <a:off x="8513064" y="4480559"/>
            <a:ext cx="1207008" cy="850392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60" b="0">
                <a:solidFill>
                  <a:srgbClr val="52677A"/>
                </a:solidFill>
                <a:latin typeface="Noto Sans CJK TC"/>
              </a:rPr>
              <a:t>gateway tools / Ollama</a:t>
            </a:r>
          </a:p>
        </p:txBody>
      </p:sp>
      <p:sp>
        <p:nvSpPr>
          <p:cNvPr id="83" name="Chevron 82"/>
          <p:cNvSpPr/>
          <p:nvPr/>
        </p:nvSpPr>
        <p:spPr>
          <a:xfrm>
            <a:off x="9921240" y="4553712"/>
            <a:ext cx="182880" cy="274320"/>
          </a:xfrm>
          <a:prstGeom prst="chevron">
            <a:avLst/>
          </a:prstGeom>
          <a:solidFill>
            <a:srgbClr val="00A6A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4" name="Rounded Rectangle 83"/>
          <p:cNvSpPr/>
          <p:nvPr/>
        </p:nvSpPr>
        <p:spPr>
          <a:xfrm>
            <a:off x="10040112" y="3995927"/>
            <a:ext cx="1481328" cy="14173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5DE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5" name="Rounded Rectangle 84"/>
          <p:cNvSpPr/>
          <p:nvPr/>
        </p:nvSpPr>
        <p:spPr>
          <a:xfrm>
            <a:off x="10149840" y="4114799"/>
            <a:ext cx="310896" cy="310896"/>
          </a:xfrm>
          <a:prstGeom prst="roundRect">
            <a:avLst/>
          </a:prstGeom>
          <a:solidFill>
            <a:srgbClr val="00A6A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6" name="TextBox 85"/>
          <p:cNvSpPr txBox="1"/>
          <p:nvPr/>
        </p:nvSpPr>
        <p:spPr>
          <a:xfrm>
            <a:off x="10149840" y="4114799"/>
            <a:ext cx="310896" cy="310896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50" b="1">
                <a:solidFill>
                  <a:srgbClr val="FFFFFF"/>
                </a:solidFill>
                <a:latin typeface="Noto Sans CJK TC"/>
              </a:rPr>
              <a:t>6</a:t>
            </a:r>
          </a:p>
        </p:txBody>
      </p:sp>
      <p:sp>
        <p:nvSpPr>
          <p:cNvPr id="87" name="TextBox 86"/>
          <p:cNvSpPr txBox="1"/>
          <p:nvPr/>
        </p:nvSpPr>
        <p:spPr>
          <a:xfrm>
            <a:off x="10533888" y="4105655"/>
            <a:ext cx="886968" cy="347472"/>
          </a:xfrm>
          <a:prstGeom prst="rect">
            <a:avLst/>
          </a:prstGeom>
          <a:noFill/>
        </p:spPr>
        <p:txBody>
          <a:bodyPr wrap="square" anchor="ctr" lIns="0" rIns="0" tIns="0" bIns="0">
            <a:norm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50" b="1">
                <a:solidFill>
                  <a:srgbClr val="00A6A6"/>
                </a:solidFill>
                <a:latin typeface="Noto Sans CJK TC"/>
              </a:rPr>
              <a:t>串流呈現</a:t>
            </a:r>
          </a:p>
        </p:txBody>
      </p:sp>
      <p:sp>
        <p:nvSpPr>
          <p:cNvPr id="88" name="TextBox 87"/>
          <p:cNvSpPr txBox="1"/>
          <p:nvPr/>
        </p:nvSpPr>
        <p:spPr>
          <a:xfrm>
            <a:off x="10177272" y="4480559"/>
            <a:ext cx="1207008" cy="850392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60" b="0">
                <a:solidFill>
                  <a:srgbClr val="52677A"/>
                </a:solidFill>
                <a:latin typeface="Noto Sans CJK TC"/>
              </a:rPr>
              <a:t>agent events + fallback citation</a:t>
            </a:r>
          </a:p>
        </p:txBody>
      </p:sp>
      <p:sp>
        <p:nvSpPr>
          <p:cNvPr id="89" name="Rounded Rectangle 88"/>
          <p:cNvSpPr/>
          <p:nvPr/>
        </p:nvSpPr>
        <p:spPr>
          <a:xfrm>
            <a:off x="475488" y="6016752"/>
            <a:ext cx="1152144" cy="246888"/>
          </a:xfrm>
          <a:prstGeom prst="roundRect">
            <a:avLst/>
          </a:prstGeom>
          <a:solidFill>
            <a:srgbClr val="F4B740"/>
          </a:solidFill>
          <a:ln w="12700">
            <a:solidFill>
              <a:srgbClr val="F4B74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50800" rIns="50800" tIns="0" bIns="0"/>
          <a:lstStyle/>
          <a:p>
            <a:pPr algn="ctr"/>
            <a:r>
              <a:rPr sz="750" b="1">
                <a:solidFill>
                  <a:srgbClr val="0B1F33"/>
                </a:solidFill>
                <a:latin typeface="Noto Sans CJK TC"/>
              </a:rPr>
              <a:t>RESILIENCE</a:t>
            </a:r>
          </a:p>
        </p:txBody>
      </p:sp>
      <p:sp>
        <p:nvSpPr>
          <p:cNvPr id="90" name="TextBox 89"/>
          <p:cNvSpPr txBox="1"/>
          <p:nvPr/>
        </p:nvSpPr>
        <p:spPr>
          <a:xfrm>
            <a:off x="1764792" y="6007608"/>
            <a:ext cx="9820656" cy="228600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50" b="0">
                <a:solidFill>
                  <a:srgbClr val="52677A"/>
                </a:solidFill>
                <a:latin typeface="Noto Sans CJK TC"/>
              </a:rPr>
              <a:t>任務重試與 timeout、idempotency key、WebSocket 自動重連、queue/lock TTL、來源不足時的 deterministic fallback。</a:t>
            </a:r>
          </a:p>
        </p:txBody>
      </p:sp>
      <p:sp>
        <p:nvSpPr>
          <p:cNvPr id="91" name="Rectangle 90"/>
          <p:cNvSpPr/>
          <p:nvPr/>
        </p:nvSpPr>
        <p:spPr>
          <a:xfrm>
            <a:off x="475488" y="6391656"/>
            <a:ext cx="11137392" cy="9144"/>
          </a:xfrm>
          <a:prstGeom prst="rect">
            <a:avLst/>
          </a:prstGeom>
          <a:solidFill>
            <a:srgbClr val="D5DE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2" name="TextBox 91"/>
          <p:cNvSpPr txBox="1"/>
          <p:nvPr/>
        </p:nvSpPr>
        <p:spPr>
          <a:xfrm>
            <a:off x="475488" y="6473952"/>
            <a:ext cx="8229600" cy="173736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19" b="1">
                <a:solidFill>
                  <a:srgbClr val="52677A"/>
                </a:solidFill>
                <a:latin typeface="Noto Sans CJK TC"/>
              </a:rPr>
              <a:t>報告重點｜搜尋路徑確保 KB 結果完整；聊天路徑優先互動體感，並以 KB context 與來源補強回答可信度。</a:t>
            </a:r>
          </a:p>
        </p:txBody>
      </p:sp>
      <p:sp>
        <p:nvSpPr>
          <p:cNvPr id="93" name="TextBox 92"/>
          <p:cNvSpPr txBox="1"/>
          <p:nvPr/>
        </p:nvSpPr>
        <p:spPr>
          <a:xfrm>
            <a:off x="8887968" y="6473952"/>
            <a:ext cx="2724912" cy="173736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700" b="0">
                <a:solidFill>
                  <a:srgbClr val="71859A"/>
                </a:solidFill>
                <a:latin typeface="Noto Sans CJK TC"/>
              </a:rPr>
              <a:t>Current-state architecture · 2026.07.17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2F6F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164592" y="0"/>
            <a:ext cx="12027103" cy="73152"/>
          </a:xfrm>
          <a:prstGeom prst="rect">
            <a:avLst/>
          </a:prstGeom>
          <a:solidFill>
            <a:srgbClr val="0B1F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75488" y="256032"/>
            <a:ext cx="5303520" cy="164592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80" b="1">
                <a:solidFill>
                  <a:srgbClr val="2F6FED"/>
                </a:solidFill>
                <a:latin typeface="Noto Sans CJK TC"/>
              </a:rPr>
              <a:t>04 · KNOWLEDGE SUPPLY CHAIN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75488" y="475488"/>
            <a:ext cx="9875520" cy="420624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300" b="1">
                <a:solidFill>
                  <a:srgbClr val="0B1F33"/>
                </a:solidFill>
                <a:latin typeface="Noto Serif CJK TC"/>
              </a:rPr>
              <a:t>文件攝入管線：從原始檔到可查詢知識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84632" y="914400"/>
            <a:ext cx="10332720" cy="256032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50" b="0">
                <a:solidFill>
                  <a:srgbClr val="52677A"/>
                </a:solidFill>
                <a:latin typeface="Noto Sans CJK TC"/>
              </a:rPr>
              <a:t>同一條攝入骨幹支援 API 上傳、watch folder 與人工匯入，再依文件型態選擇向量、圖譜或混合寫入。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10908792" y="329184"/>
            <a:ext cx="713232" cy="310896"/>
          </a:xfrm>
          <a:prstGeom prst="roundRect">
            <a:avLst/>
          </a:prstGeom>
          <a:solidFill>
            <a:srgbClr val="0B1F33"/>
          </a:solidFill>
          <a:ln w="12700">
            <a:solidFill>
              <a:srgbClr val="0B1F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50800" rIns="50800" tIns="0" bIns="0"/>
          <a:lstStyle/>
          <a:p>
            <a:pPr algn="ctr"/>
            <a:r>
              <a:rPr sz="950" b="1">
                <a:solidFill>
                  <a:srgbClr val="FFFFFF"/>
                </a:solidFill>
                <a:latin typeface="Noto Sans CJK TC"/>
              </a:rPr>
              <a:t>05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38912" y="1335024"/>
            <a:ext cx="438912" cy="256032"/>
          </a:xfrm>
          <a:prstGeom prst="roundRect">
            <a:avLst/>
          </a:prstGeom>
          <a:solidFill>
            <a:srgbClr val="2F6FED"/>
          </a:solidFill>
          <a:ln w="12700">
            <a:solidFill>
              <a:srgbClr val="2F6F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50800" rIns="50800" tIns="0" bIns="0"/>
          <a:lstStyle/>
          <a:p>
            <a:pPr algn="ctr"/>
            <a:r>
              <a:rPr sz="750" b="1">
                <a:solidFill>
                  <a:srgbClr val="FFFFFF"/>
                </a:solidFill>
                <a:latin typeface="Noto Sans CJK TC"/>
              </a:rPr>
              <a:t>01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69264" y="1344168"/>
            <a:ext cx="1417320" cy="228600"/>
          </a:xfrm>
          <a:prstGeom prst="rect">
            <a:avLst/>
          </a:prstGeom>
          <a:noFill/>
        </p:spPr>
        <p:txBody>
          <a:bodyPr wrap="square" anchor="ctr" lIns="0" rIns="0" tIns="0" bIns="0">
            <a:norm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19" b="1">
                <a:solidFill>
                  <a:srgbClr val="0B1F33"/>
                </a:solidFill>
                <a:latin typeface="Noto Sans CJK TC"/>
              </a:rPr>
              <a:t>輸入通道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2395728" y="1335024"/>
            <a:ext cx="438912" cy="256032"/>
          </a:xfrm>
          <a:prstGeom prst="roundRect">
            <a:avLst/>
          </a:prstGeom>
          <a:solidFill>
            <a:srgbClr val="5B8DEF"/>
          </a:solidFill>
          <a:ln w="12700">
            <a:solidFill>
              <a:srgbClr val="5B8D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50800" rIns="50800" tIns="0" bIns="0"/>
          <a:lstStyle/>
          <a:p>
            <a:pPr algn="ctr"/>
            <a:r>
              <a:rPr sz="750" b="1">
                <a:solidFill>
                  <a:srgbClr val="FFFFFF"/>
                </a:solidFill>
                <a:latin typeface="Noto Sans CJK TC"/>
              </a:rPr>
              <a:t>02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926080" y="1344168"/>
            <a:ext cx="1417320" cy="228600"/>
          </a:xfrm>
          <a:prstGeom prst="rect">
            <a:avLst/>
          </a:prstGeom>
          <a:noFill/>
        </p:spPr>
        <p:txBody>
          <a:bodyPr wrap="square" anchor="ctr" lIns="0" rIns="0" tIns="0" bIns="0">
            <a:norm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19" b="1">
                <a:solidFill>
                  <a:srgbClr val="0B1F33"/>
                </a:solidFill>
                <a:latin typeface="Noto Sans CJK TC"/>
              </a:rPr>
              <a:t>任務接收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4361688" y="1335024"/>
            <a:ext cx="438912" cy="256032"/>
          </a:xfrm>
          <a:prstGeom prst="roundRect">
            <a:avLst/>
          </a:prstGeom>
          <a:solidFill>
            <a:srgbClr val="00A6A6"/>
          </a:solidFill>
          <a:ln w="12700">
            <a:solidFill>
              <a:srgbClr val="00A6A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50800" rIns="50800" tIns="0" bIns="0"/>
          <a:lstStyle/>
          <a:p>
            <a:pPr algn="ctr"/>
            <a:r>
              <a:rPr sz="750" b="1">
                <a:solidFill>
                  <a:srgbClr val="FFFFFF"/>
                </a:solidFill>
                <a:latin typeface="Noto Sans CJK TC"/>
              </a:rPr>
              <a:t>03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892040" y="1344168"/>
            <a:ext cx="1417320" cy="228600"/>
          </a:xfrm>
          <a:prstGeom prst="rect">
            <a:avLst/>
          </a:prstGeom>
          <a:noFill/>
        </p:spPr>
        <p:txBody>
          <a:bodyPr wrap="square" anchor="ctr" lIns="0" rIns="0" tIns="0" bIns="0">
            <a:norm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19" b="1">
                <a:solidFill>
                  <a:srgbClr val="0B1F33"/>
                </a:solidFill>
                <a:latin typeface="Noto Sans CJK TC"/>
              </a:rPr>
              <a:t>轉換與增強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711696" y="1335024"/>
            <a:ext cx="438912" cy="256032"/>
          </a:xfrm>
          <a:prstGeom prst="roundRect">
            <a:avLst/>
          </a:prstGeom>
          <a:solidFill>
            <a:srgbClr val="A96B00"/>
          </a:solidFill>
          <a:ln w="12700">
            <a:solidFill>
              <a:srgbClr val="A96B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50800" rIns="50800" tIns="0" bIns="0"/>
          <a:lstStyle/>
          <a:p>
            <a:pPr algn="ctr"/>
            <a:r>
              <a:rPr sz="750" b="1">
                <a:solidFill>
                  <a:srgbClr val="FFFFFF"/>
                </a:solidFill>
                <a:latin typeface="Noto Sans CJK TC"/>
              </a:rPr>
              <a:t>04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242048" y="1344168"/>
            <a:ext cx="1417320" cy="228600"/>
          </a:xfrm>
          <a:prstGeom prst="rect">
            <a:avLst/>
          </a:prstGeom>
          <a:noFill/>
        </p:spPr>
        <p:txBody>
          <a:bodyPr wrap="square" anchor="ctr" lIns="0" rIns="0" tIns="0" bIns="0">
            <a:norm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19" b="1">
                <a:solidFill>
                  <a:srgbClr val="0B1F33"/>
                </a:solidFill>
                <a:latin typeface="Noto Sans CJK TC"/>
              </a:rPr>
              <a:t>模式路由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9326880" y="1335024"/>
            <a:ext cx="438912" cy="256032"/>
          </a:xfrm>
          <a:prstGeom prst="roundRect">
            <a:avLst/>
          </a:prstGeom>
          <a:solidFill>
            <a:srgbClr val="2E9D68"/>
          </a:solidFill>
          <a:ln w="12700">
            <a:solidFill>
              <a:srgbClr val="2E9D6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50800" rIns="50800" tIns="0" bIns="0"/>
          <a:lstStyle/>
          <a:p>
            <a:pPr algn="ctr"/>
            <a:r>
              <a:rPr sz="750" b="1">
                <a:solidFill>
                  <a:srgbClr val="FFFFFF"/>
                </a:solidFill>
                <a:latin typeface="Noto Sans CJK TC"/>
              </a:rPr>
              <a:t>05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9857232" y="1344168"/>
            <a:ext cx="1417320" cy="228600"/>
          </a:xfrm>
          <a:prstGeom prst="rect">
            <a:avLst/>
          </a:prstGeom>
          <a:noFill/>
        </p:spPr>
        <p:txBody>
          <a:bodyPr wrap="square" anchor="ctr" lIns="0" rIns="0" tIns="0" bIns="0">
            <a:norm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19" b="1">
                <a:solidFill>
                  <a:srgbClr val="0B1F33"/>
                </a:solidFill>
                <a:latin typeface="Noto Sans CJK TC"/>
              </a:rPr>
              <a:t>知識寫入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438912" y="1874519"/>
            <a:ext cx="1664208" cy="804672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5DE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438912" y="1874519"/>
            <a:ext cx="64008" cy="804672"/>
          </a:xfrm>
          <a:prstGeom prst="rect">
            <a:avLst/>
          </a:prstGeom>
          <a:solidFill>
            <a:srgbClr val="2F6F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ounded Rectangle 20"/>
          <p:cNvSpPr/>
          <p:nvPr/>
        </p:nvSpPr>
        <p:spPr>
          <a:xfrm>
            <a:off x="603503" y="2020824"/>
            <a:ext cx="384048" cy="384048"/>
          </a:xfrm>
          <a:prstGeom prst="roundRect">
            <a:avLst/>
          </a:prstGeom>
          <a:solidFill>
            <a:srgbClr val="2F6F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03503" y="2020824"/>
            <a:ext cx="384048" cy="384048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50" b="1">
                <a:solidFill>
                  <a:srgbClr val="FFFFFF"/>
                </a:solidFill>
                <a:latin typeface="Noto Sans CJK TC"/>
              </a:rPr>
              <a:t>UP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097280" y="1993391"/>
            <a:ext cx="877824" cy="310896"/>
          </a:xfrm>
          <a:prstGeom prst="rect">
            <a:avLst/>
          </a:prstGeom>
          <a:noFill/>
        </p:spPr>
        <p:txBody>
          <a:bodyPr wrap="square" anchor="ctr" lIns="0" rIns="0" tIns="0" bIns="0">
            <a:norm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40" b="1">
                <a:solidFill>
                  <a:srgbClr val="2F6FED"/>
                </a:solidFill>
                <a:latin typeface="Noto Sans CJK TC"/>
              </a:rPr>
              <a:t>API Upload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03503" y="2441448"/>
            <a:ext cx="1353312" cy="164592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760" b="0">
                <a:solidFill>
                  <a:srgbClr val="52677A"/>
                </a:solidFill>
                <a:latin typeface="Noto Sans CJK TC"/>
              </a:rPr>
              <a:t>/api/upload + task id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438912" y="2798063"/>
            <a:ext cx="1664208" cy="804672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5DE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438912" y="2798063"/>
            <a:ext cx="64008" cy="804672"/>
          </a:xfrm>
          <a:prstGeom prst="rect">
            <a:avLst/>
          </a:prstGeom>
          <a:solidFill>
            <a:srgbClr val="2F6F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ounded Rectangle 26"/>
          <p:cNvSpPr/>
          <p:nvPr/>
        </p:nvSpPr>
        <p:spPr>
          <a:xfrm>
            <a:off x="603503" y="2944368"/>
            <a:ext cx="384048" cy="384048"/>
          </a:xfrm>
          <a:prstGeom prst="roundRect">
            <a:avLst/>
          </a:prstGeom>
          <a:solidFill>
            <a:srgbClr val="2F6F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603503" y="2944368"/>
            <a:ext cx="384048" cy="384048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50" b="1">
                <a:solidFill>
                  <a:srgbClr val="FFFFFF"/>
                </a:solidFill>
                <a:latin typeface="Noto Sans CJK TC"/>
              </a:rPr>
              <a:t>WF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097280" y="2916935"/>
            <a:ext cx="877824" cy="310896"/>
          </a:xfrm>
          <a:prstGeom prst="rect">
            <a:avLst/>
          </a:prstGeom>
          <a:noFill/>
        </p:spPr>
        <p:txBody>
          <a:bodyPr wrap="square" anchor="ctr" lIns="0" rIns="0" tIns="0" bIns="0">
            <a:norm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40" b="1">
                <a:solidFill>
                  <a:srgbClr val="2F6FED"/>
                </a:solidFill>
                <a:latin typeface="Noto Sans CJK TC"/>
              </a:rPr>
              <a:t>Watch Folder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603503" y="3364991"/>
            <a:ext cx="1353312" cy="164592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760" b="0">
                <a:solidFill>
                  <a:srgbClr val="52677A"/>
                </a:solidFill>
                <a:latin typeface="Noto Sans CJK TC"/>
              </a:rPr>
              <a:t>Celery Beat 定時掃描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438912" y="3721607"/>
            <a:ext cx="1664208" cy="804672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5DE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Rectangle 31"/>
          <p:cNvSpPr/>
          <p:nvPr/>
        </p:nvSpPr>
        <p:spPr>
          <a:xfrm>
            <a:off x="438912" y="3721607"/>
            <a:ext cx="64008" cy="804672"/>
          </a:xfrm>
          <a:prstGeom prst="rect">
            <a:avLst/>
          </a:prstGeom>
          <a:solidFill>
            <a:srgbClr val="2F6F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Rounded Rectangle 32"/>
          <p:cNvSpPr/>
          <p:nvPr/>
        </p:nvSpPr>
        <p:spPr>
          <a:xfrm>
            <a:off x="603503" y="3867911"/>
            <a:ext cx="384048" cy="384048"/>
          </a:xfrm>
          <a:prstGeom prst="roundRect">
            <a:avLst/>
          </a:prstGeom>
          <a:solidFill>
            <a:srgbClr val="2F6F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603503" y="3867911"/>
            <a:ext cx="384048" cy="384048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50" b="1">
                <a:solidFill>
                  <a:srgbClr val="FFFFFF"/>
                </a:solidFill>
                <a:latin typeface="Noto Sans CJK TC"/>
              </a:rPr>
              <a:t>RM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1097280" y="3840479"/>
            <a:ext cx="877824" cy="310896"/>
          </a:xfrm>
          <a:prstGeom prst="rect">
            <a:avLst/>
          </a:prstGeom>
          <a:noFill/>
        </p:spPr>
        <p:txBody>
          <a:bodyPr wrap="square" anchor="ctr" lIns="0" rIns="0" tIns="0" bIns="0">
            <a:norm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40" b="1">
                <a:solidFill>
                  <a:srgbClr val="2F6FED"/>
                </a:solidFill>
                <a:latin typeface="Noto Sans CJK TC"/>
              </a:rPr>
              <a:t>Raw / Manual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603503" y="4288536"/>
            <a:ext cx="1353312" cy="164592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760" b="0">
                <a:solidFill>
                  <a:srgbClr val="52677A"/>
                </a:solidFill>
                <a:latin typeface="Noto Sans CJK TC"/>
              </a:rPr>
              <a:t>批次或維運匯入</a:t>
            </a:r>
          </a:p>
        </p:txBody>
      </p:sp>
      <p:sp>
        <p:nvSpPr>
          <p:cNvPr id="37" name="Chevron 36"/>
          <p:cNvSpPr/>
          <p:nvPr/>
        </p:nvSpPr>
        <p:spPr>
          <a:xfrm>
            <a:off x="2157984" y="2834640"/>
            <a:ext cx="201168" cy="384048"/>
          </a:xfrm>
          <a:prstGeom prst="chevron">
            <a:avLst/>
          </a:prstGeom>
          <a:solidFill>
            <a:srgbClr val="71859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Rounded Rectangle 37"/>
          <p:cNvSpPr/>
          <p:nvPr/>
        </p:nvSpPr>
        <p:spPr>
          <a:xfrm>
            <a:off x="2395728" y="1874519"/>
            <a:ext cx="1691640" cy="1161288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5DE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Rectangle 38"/>
          <p:cNvSpPr/>
          <p:nvPr/>
        </p:nvSpPr>
        <p:spPr>
          <a:xfrm>
            <a:off x="2395728" y="1874519"/>
            <a:ext cx="64008" cy="1161288"/>
          </a:xfrm>
          <a:prstGeom prst="rect">
            <a:avLst/>
          </a:prstGeom>
          <a:solidFill>
            <a:srgbClr val="5B8DE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Rounded Rectangle 39"/>
          <p:cNvSpPr/>
          <p:nvPr/>
        </p:nvSpPr>
        <p:spPr>
          <a:xfrm>
            <a:off x="2560320" y="2020824"/>
            <a:ext cx="384048" cy="384048"/>
          </a:xfrm>
          <a:prstGeom prst="roundRect">
            <a:avLst/>
          </a:prstGeom>
          <a:solidFill>
            <a:srgbClr val="5B8DE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2560320" y="2020824"/>
            <a:ext cx="384048" cy="384048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50" b="1">
                <a:solidFill>
                  <a:srgbClr val="FFFFFF"/>
                </a:solidFill>
                <a:latin typeface="Noto Sans CJK TC"/>
              </a:rPr>
              <a:t>RD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3054096" y="1993391"/>
            <a:ext cx="905256" cy="310896"/>
          </a:xfrm>
          <a:prstGeom prst="rect">
            <a:avLst/>
          </a:prstGeom>
          <a:noFill/>
        </p:spPr>
        <p:txBody>
          <a:bodyPr wrap="square" anchor="ctr" lIns="0" rIns="0" tIns="0" bIns="0">
            <a:norm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1">
                <a:solidFill>
                  <a:srgbClr val="5B8DEF"/>
                </a:solidFill>
                <a:latin typeface="Noto Sans CJK TC"/>
              </a:rPr>
              <a:t>Redis 任務狀態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2560320" y="2441448"/>
            <a:ext cx="1380744" cy="521208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10" b="0">
                <a:solidFill>
                  <a:srgbClr val="52677A"/>
                </a:solidFill>
                <a:latin typeface="Noto Sans CJK TC"/>
              </a:rPr>
              <a:t>file hash index
狀態 TTL / queue position</a:t>
            </a:r>
          </a:p>
        </p:txBody>
      </p:sp>
      <p:sp>
        <p:nvSpPr>
          <p:cNvPr id="44" name="Rounded Rectangle 43"/>
          <p:cNvSpPr/>
          <p:nvPr/>
        </p:nvSpPr>
        <p:spPr>
          <a:xfrm>
            <a:off x="2395728" y="3236976"/>
            <a:ext cx="1691640" cy="1161288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5DE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Rectangle 44"/>
          <p:cNvSpPr/>
          <p:nvPr/>
        </p:nvSpPr>
        <p:spPr>
          <a:xfrm>
            <a:off x="2395728" y="3236976"/>
            <a:ext cx="64008" cy="1161288"/>
          </a:xfrm>
          <a:prstGeom prst="rect">
            <a:avLst/>
          </a:prstGeom>
          <a:solidFill>
            <a:srgbClr val="5B8DE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Rounded Rectangle 45"/>
          <p:cNvSpPr/>
          <p:nvPr/>
        </p:nvSpPr>
        <p:spPr>
          <a:xfrm>
            <a:off x="2560320" y="3383280"/>
            <a:ext cx="384048" cy="384048"/>
          </a:xfrm>
          <a:prstGeom prst="roundRect">
            <a:avLst/>
          </a:prstGeom>
          <a:solidFill>
            <a:srgbClr val="5B8DE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TextBox 46"/>
          <p:cNvSpPr txBox="1"/>
          <p:nvPr/>
        </p:nvSpPr>
        <p:spPr>
          <a:xfrm>
            <a:off x="2560320" y="3383280"/>
            <a:ext cx="384048" cy="384048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50" b="1">
                <a:solidFill>
                  <a:srgbClr val="FFFFFF"/>
                </a:solidFill>
                <a:latin typeface="Noto Sans CJK TC"/>
              </a:rPr>
              <a:t>CI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3054096" y="3355848"/>
            <a:ext cx="905256" cy="310896"/>
          </a:xfrm>
          <a:prstGeom prst="rect">
            <a:avLst/>
          </a:prstGeom>
          <a:noFill/>
        </p:spPr>
        <p:txBody>
          <a:bodyPr wrap="square" anchor="ctr" lIns="0" rIns="0" tIns="0" bIns="0">
            <a:norm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1">
                <a:solidFill>
                  <a:srgbClr val="5B8DEF"/>
                </a:solidFill>
                <a:latin typeface="Noto Sans CJK TC"/>
              </a:rPr>
              <a:t>Celery Ingest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2560320" y="3803904"/>
            <a:ext cx="1380744" cy="521208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10" b="0">
                <a:solidFill>
                  <a:srgbClr val="52677A"/>
                </a:solidFill>
                <a:latin typeface="Noto Sans CJK TC"/>
              </a:rPr>
              <a:t>單檔背景處理
processing lock / retry</a:t>
            </a:r>
          </a:p>
        </p:txBody>
      </p:sp>
      <p:sp>
        <p:nvSpPr>
          <p:cNvPr id="50" name="Chevron 49"/>
          <p:cNvSpPr/>
          <p:nvPr/>
        </p:nvSpPr>
        <p:spPr>
          <a:xfrm>
            <a:off x="4142232" y="2834640"/>
            <a:ext cx="201168" cy="384048"/>
          </a:xfrm>
          <a:prstGeom prst="chevron">
            <a:avLst/>
          </a:prstGeom>
          <a:solidFill>
            <a:srgbClr val="71859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Rounded Rectangle 50"/>
          <p:cNvSpPr/>
          <p:nvPr/>
        </p:nvSpPr>
        <p:spPr>
          <a:xfrm>
            <a:off x="4361688" y="1874519"/>
            <a:ext cx="2039112" cy="804672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5DE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" name="Rectangle 51"/>
          <p:cNvSpPr/>
          <p:nvPr/>
        </p:nvSpPr>
        <p:spPr>
          <a:xfrm>
            <a:off x="4361688" y="1874519"/>
            <a:ext cx="64008" cy="804672"/>
          </a:xfrm>
          <a:prstGeom prst="rect">
            <a:avLst/>
          </a:prstGeom>
          <a:solidFill>
            <a:srgbClr val="00A6A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" name="TextBox 52"/>
          <p:cNvSpPr txBox="1"/>
          <p:nvPr/>
        </p:nvSpPr>
        <p:spPr>
          <a:xfrm>
            <a:off x="4526279" y="1993391"/>
            <a:ext cx="1764792" cy="310896"/>
          </a:xfrm>
          <a:prstGeom prst="rect">
            <a:avLst/>
          </a:prstGeom>
          <a:noFill/>
        </p:spPr>
        <p:txBody>
          <a:bodyPr wrap="square" anchor="ctr" lIns="0" rIns="0" tIns="0" bIns="0">
            <a:norm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80" b="1">
                <a:solidFill>
                  <a:srgbClr val="00A6A6"/>
                </a:solidFill>
                <a:latin typeface="Noto Sans CJK TC"/>
              </a:rPr>
              <a:t>MarkItDown</a:t>
            </a:r>
          </a:p>
        </p:txBody>
      </p:sp>
      <p:sp>
        <p:nvSpPr>
          <p:cNvPr id="54" name="TextBox 53"/>
          <p:cNvSpPr txBox="1"/>
          <p:nvPr/>
        </p:nvSpPr>
        <p:spPr>
          <a:xfrm>
            <a:off x="4526279" y="2350008"/>
            <a:ext cx="1728216" cy="246888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780" b="0">
                <a:solidFill>
                  <a:srgbClr val="52677A"/>
                </a:solidFill>
                <a:latin typeface="Noto Sans CJK TC"/>
              </a:rPr>
              <a:t>Office / PDF / Text → Markdown</a:t>
            </a:r>
          </a:p>
        </p:txBody>
      </p:sp>
      <p:sp>
        <p:nvSpPr>
          <p:cNvPr id="55" name="Rounded Rectangle 54"/>
          <p:cNvSpPr/>
          <p:nvPr/>
        </p:nvSpPr>
        <p:spPr>
          <a:xfrm>
            <a:off x="4361688" y="2798063"/>
            <a:ext cx="2039112" cy="804672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5DE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6" name="Rectangle 55"/>
          <p:cNvSpPr/>
          <p:nvPr/>
        </p:nvSpPr>
        <p:spPr>
          <a:xfrm>
            <a:off x="4361688" y="2798063"/>
            <a:ext cx="64008" cy="804672"/>
          </a:xfrm>
          <a:prstGeom prst="rect">
            <a:avLst/>
          </a:prstGeom>
          <a:solidFill>
            <a:srgbClr val="00A6A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7" name="TextBox 56"/>
          <p:cNvSpPr txBox="1"/>
          <p:nvPr/>
        </p:nvSpPr>
        <p:spPr>
          <a:xfrm>
            <a:off x="4526279" y="2916935"/>
            <a:ext cx="1764792" cy="310896"/>
          </a:xfrm>
          <a:prstGeom prst="rect">
            <a:avLst/>
          </a:prstGeom>
          <a:noFill/>
        </p:spPr>
        <p:txBody>
          <a:bodyPr wrap="square" anchor="ctr" lIns="0" rIns="0" tIns="0" bIns="0">
            <a:norm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80" b="1">
                <a:solidFill>
                  <a:srgbClr val="00A6A6"/>
                </a:solidFill>
                <a:latin typeface="Noto Sans CJK TC"/>
              </a:rPr>
              <a:t>PDF / Excel 增強</a:t>
            </a:r>
          </a:p>
        </p:txBody>
      </p:sp>
      <p:sp>
        <p:nvSpPr>
          <p:cNvPr id="58" name="TextBox 57"/>
          <p:cNvSpPr txBox="1"/>
          <p:nvPr/>
        </p:nvSpPr>
        <p:spPr>
          <a:xfrm>
            <a:off x="4526279" y="3273551"/>
            <a:ext cx="1728216" cy="246888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780" b="0">
                <a:solidFill>
                  <a:srgbClr val="52677A"/>
                </a:solidFill>
                <a:latin typeface="Noto Sans CJK TC"/>
              </a:rPr>
              <a:t>頁面快照、圖片、表格與 OCR</a:t>
            </a:r>
          </a:p>
        </p:txBody>
      </p:sp>
      <p:sp>
        <p:nvSpPr>
          <p:cNvPr id="59" name="Rounded Rectangle 58"/>
          <p:cNvSpPr/>
          <p:nvPr/>
        </p:nvSpPr>
        <p:spPr>
          <a:xfrm>
            <a:off x="4361688" y="3721607"/>
            <a:ext cx="2039112" cy="804672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5DE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0" name="Rectangle 59"/>
          <p:cNvSpPr/>
          <p:nvPr/>
        </p:nvSpPr>
        <p:spPr>
          <a:xfrm>
            <a:off x="4361688" y="3721607"/>
            <a:ext cx="64008" cy="804672"/>
          </a:xfrm>
          <a:prstGeom prst="rect">
            <a:avLst/>
          </a:prstGeom>
          <a:solidFill>
            <a:srgbClr val="00A6A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1" name="TextBox 60"/>
          <p:cNvSpPr txBox="1"/>
          <p:nvPr/>
        </p:nvSpPr>
        <p:spPr>
          <a:xfrm>
            <a:off x="4526279" y="3840479"/>
            <a:ext cx="1764792" cy="310896"/>
          </a:xfrm>
          <a:prstGeom prst="rect">
            <a:avLst/>
          </a:prstGeom>
          <a:noFill/>
        </p:spPr>
        <p:txBody>
          <a:bodyPr wrap="square" anchor="ctr" lIns="0" rIns="0" tIns="0" bIns="0">
            <a:norm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80" b="1">
                <a:solidFill>
                  <a:srgbClr val="00A6A6"/>
                </a:solidFill>
                <a:latin typeface="Noto Sans CJK TC"/>
              </a:rPr>
              <a:t>Chunk + Metadata</a:t>
            </a:r>
          </a:p>
        </p:txBody>
      </p:sp>
      <p:sp>
        <p:nvSpPr>
          <p:cNvPr id="62" name="TextBox 61"/>
          <p:cNvSpPr txBox="1"/>
          <p:nvPr/>
        </p:nvSpPr>
        <p:spPr>
          <a:xfrm>
            <a:off x="4526279" y="4197096"/>
            <a:ext cx="1728216" cy="246888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780" b="0">
                <a:solidFill>
                  <a:srgbClr val="52677A"/>
                </a:solidFill>
                <a:latin typeface="Noto Sans CJK TC"/>
              </a:rPr>
              <a:t>標題感知分塊、來源與 image refs</a:t>
            </a:r>
          </a:p>
        </p:txBody>
      </p:sp>
      <p:sp>
        <p:nvSpPr>
          <p:cNvPr id="63" name="Chevron 62"/>
          <p:cNvSpPr/>
          <p:nvPr/>
        </p:nvSpPr>
        <p:spPr>
          <a:xfrm>
            <a:off x="6473952" y="2834640"/>
            <a:ext cx="201168" cy="384048"/>
          </a:xfrm>
          <a:prstGeom prst="chevron">
            <a:avLst/>
          </a:prstGeom>
          <a:solidFill>
            <a:srgbClr val="71859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4" name="Rounded Rectangle 63"/>
          <p:cNvSpPr/>
          <p:nvPr/>
        </p:nvSpPr>
        <p:spPr>
          <a:xfrm>
            <a:off x="6711696" y="1874519"/>
            <a:ext cx="2194560" cy="804672"/>
          </a:xfrm>
          <a:prstGeom prst="roundRect">
            <a:avLst/>
          </a:prstGeom>
          <a:solidFill>
            <a:srgbClr val="FFF4D6"/>
          </a:solidFill>
          <a:ln w="12700">
            <a:solidFill>
              <a:srgbClr val="D5DE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5" name="Rectangle 64"/>
          <p:cNvSpPr/>
          <p:nvPr/>
        </p:nvSpPr>
        <p:spPr>
          <a:xfrm>
            <a:off x="6711696" y="1874519"/>
            <a:ext cx="64008" cy="804672"/>
          </a:xfrm>
          <a:prstGeom prst="rect">
            <a:avLst/>
          </a:prstGeom>
          <a:solidFill>
            <a:srgbClr val="A96B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6" name="TextBox 65"/>
          <p:cNvSpPr txBox="1"/>
          <p:nvPr/>
        </p:nvSpPr>
        <p:spPr>
          <a:xfrm>
            <a:off x="6876288" y="1993391"/>
            <a:ext cx="1920240" cy="310896"/>
          </a:xfrm>
          <a:prstGeom prst="rect">
            <a:avLst/>
          </a:prstGeom>
          <a:noFill/>
        </p:spPr>
        <p:txBody>
          <a:bodyPr wrap="square" anchor="ctr" lIns="0" rIns="0" tIns="0" bIns="0">
            <a:norm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50" b="1">
                <a:solidFill>
                  <a:srgbClr val="A96B00"/>
                </a:solidFill>
                <a:latin typeface="Noto Sans CJK TC"/>
              </a:rPr>
              <a:t>REPORT</a:t>
            </a:r>
          </a:p>
        </p:txBody>
      </p:sp>
      <p:sp>
        <p:nvSpPr>
          <p:cNvPr id="67" name="TextBox 66"/>
          <p:cNvSpPr txBox="1"/>
          <p:nvPr/>
        </p:nvSpPr>
        <p:spPr>
          <a:xfrm>
            <a:off x="6876288" y="2350008"/>
            <a:ext cx="1883664" cy="246888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780" b="0">
                <a:solidFill>
                  <a:srgbClr val="52677A"/>
                </a:solidFill>
                <a:latin typeface="Noto Sans CJK TC"/>
              </a:rPr>
              <a:t>報告圖譜 + 向量</a:t>
            </a:r>
          </a:p>
        </p:txBody>
      </p:sp>
      <p:sp>
        <p:nvSpPr>
          <p:cNvPr id="68" name="Rounded Rectangle 67"/>
          <p:cNvSpPr/>
          <p:nvPr/>
        </p:nvSpPr>
        <p:spPr>
          <a:xfrm>
            <a:off x="6711696" y="2798063"/>
            <a:ext cx="2194560" cy="804672"/>
          </a:xfrm>
          <a:prstGeom prst="roundRect">
            <a:avLst/>
          </a:prstGeom>
          <a:solidFill>
            <a:srgbClr val="FFF4D6"/>
          </a:solidFill>
          <a:ln w="12700">
            <a:solidFill>
              <a:srgbClr val="D5DE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9" name="Rectangle 68"/>
          <p:cNvSpPr/>
          <p:nvPr/>
        </p:nvSpPr>
        <p:spPr>
          <a:xfrm>
            <a:off x="6711696" y="2798063"/>
            <a:ext cx="64008" cy="804672"/>
          </a:xfrm>
          <a:prstGeom prst="rect">
            <a:avLst/>
          </a:prstGeom>
          <a:solidFill>
            <a:srgbClr val="A96B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0" name="TextBox 69"/>
          <p:cNvSpPr txBox="1"/>
          <p:nvPr/>
        </p:nvSpPr>
        <p:spPr>
          <a:xfrm>
            <a:off x="6876288" y="2916935"/>
            <a:ext cx="1920240" cy="310896"/>
          </a:xfrm>
          <a:prstGeom prst="rect">
            <a:avLst/>
          </a:prstGeom>
          <a:noFill/>
        </p:spPr>
        <p:txBody>
          <a:bodyPr wrap="square" anchor="ctr" lIns="0" rIns="0" tIns="0" bIns="0">
            <a:norm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50" b="1">
                <a:solidFill>
                  <a:srgbClr val="A96B00"/>
                </a:solidFill>
                <a:latin typeface="Noto Sans CJK TC"/>
              </a:rPr>
              <a:t>VECTOR-ONLY</a:t>
            </a:r>
          </a:p>
        </p:txBody>
      </p:sp>
      <p:sp>
        <p:nvSpPr>
          <p:cNvPr id="71" name="TextBox 70"/>
          <p:cNvSpPr txBox="1"/>
          <p:nvPr/>
        </p:nvSpPr>
        <p:spPr>
          <a:xfrm>
            <a:off x="6876288" y="3273551"/>
            <a:ext cx="1883664" cy="246888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780" b="0">
                <a:solidFill>
                  <a:srgbClr val="52677A"/>
                </a:solidFill>
                <a:latin typeface="Noto Sans CJK TC"/>
              </a:rPr>
              <a:t>Lab / Project / Automation</a:t>
            </a:r>
          </a:p>
        </p:txBody>
      </p:sp>
      <p:sp>
        <p:nvSpPr>
          <p:cNvPr id="72" name="Rounded Rectangle 71"/>
          <p:cNvSpPr/>
          <p:nvPr/>
        </p:nvSpPr>
        <p:spPr>
          <a:xfrm>
            <a:off x="6711696" y="3721607"/>
            <a:ext cx="2194560" cy="804672"/>
          </a:xfrm>
          <a:prstGeom prst="roundRect">
            <a:avLst/>
          </a:prstGeom>
          <a:solidFill>
            <a:srgbClr val="FFF4D6"/>
          </a:solidFill>
          <a:ln w="12700">
            <a:solidFill>
              <a:srgbClr val="D5DE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3" name="Rectangle 72"/>
          <p:cNvSpPr/>
          <p:nvPr/>
        </p:nvSpPr>
        <p:spPr>
          <a:xfrm>
            <a:off x="6711696" y="3721607"/>
            <a:ext cx="64008" cy="804672"/>
          </a:xfrm>
          <a:prstGeom prst="rect">
            <a:avLst/>
          </a:prstGeom>
          <a:solidFill>
            <a:srgbClr val="A96B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4" name="TextBox 73"/>
          <p:cNvSpPr txBox="1"/>
          <p:nvPr/>
        </p:nvSpPr>
        <p:spPr>
          <a:xfrm>
            <a:off x="6876288" y="3840479"/>
            <a:ext cx="1920240" cy="310896"/>
          </a:xfrm>
          <a:prstGeom prst="rect">
            <a:avLst/>
          </a:prstGeom>
          <a:noFill/>
        </p:spPr>
        <p:txBody>
          <a:bodyPr wrap="square" anchor="ctr" lIns="0" rIns="0" tIns="0" bIns="0">
            <a:norm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50" b="1">
                <a:solidFill>
                  <a:srgbClr val="A96B00"/>
                </a:solidFill>
                <a:latin typeface="Noto Sans CJK TC"/>
              </a:rPr>
              <a:t>SEMANTIC</a:t>
            </a:r>
          </a:p>
        </p:txBody>
      </p:sp>
      <p:sp>
        <p:nvSpPr>
          <p:cNvPr id="75" name="TextBox 74"/>
          <p:cNvSpPr txBox="1"/>
          <p:nvPr/>
        </p:nvSpPr>
        <p:spPr>
          <a:xfrm>
            <a:off x="6876288" y="4197096"/>
            <a:ext cx="1883664" cy="246888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780" b="0">
                <a:solidFill>
                  <a:srgbClr val="52677A"/>
                </a:solidFill>
                <a:latin typeface="Noto Sans CJK TC"/>
              </a:rPr>
              <a:t>4G/5G / WiFi + LLM 實體萃取</a:t>
            </a:r>
          </a:p>
        </p:txBody>
      </p:sp>
      <p:sp>
        <p:nvSpPr>
          <p:cNvPr id="76" name="Chevron 75"/>
          <p:cNvSpPr/>
          <p:nvPr/>
        </p:nvSpPr>
        <p:spPr>
          <a:xfrm>
            <a:off x="8988552" y="2834640"/>
            <a:ext cx="219456" cy="384048"/>
          </a:xfrm>
          <a:prstGeom prst="chevron">
            <a:avLst/>
          </a:prstGeom>
          <a:solidFill>
            <a:srgbClr val="71859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7" name="Rounded Rectangle 76"/>
          <p:cNvSpPr/>
          <p:nvPr/>
        </p:nvSpPr>
        <p:spPr>
          <a:xfrm>
            <a:off x="9326880" y="1874519"/>
            <a:ext cx="2359152" cy="804672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5DE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8" name="Rectangle 77"/>
          <p:cNvSpPr/>
          <p:nvPr/>
        </p:nvSpPr>
        <p:spPr>
          <a:xfrm>
            <a:off x="9326880" y="1874519"/>
            <a:ext cx="64008" cy="804672"/>
          </a:xfrm>
          <a:prstGeom prst="rect">
            <a:avLst/>
          </a:prstGeom>
          <a:solidFill>
            <a:srgbClr val="2E9D6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9" name="Rounded Rectangle 78"/>
          <p:cNvSpPr/>
          <p:nvPr/>
        </p:nvSpPr>
        <p:spPr>
          <a:xfrm>
            <a:off x="9491472" y="2020824"/>
            <a:ext cx="384048" cy="384048"/>
          </a:xfrm>
          <a:prstGeom prst="roundRect">
            <a:avLst/>
          </a:prstGeom>
          <a:solidFill>
            <a:srgbClr val="2E9D6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0" name="TextBox 79"/>
          <p:cNvSpPr txBox="1"/>
          <p:nvPr/>
        </p:nvSpPr>
        <p:spPr>
          <a:xfrm>
            <a:off x="9491472" y="2020824"/>
            <a:ext cx="384048" cy="384048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50" b="1">
                <a:solidFill>
                  <a:srgbClr val="FFFFFF"/>
                </a:solidFill>
                <a:latin typeface="Noto Sans CJK TC"/>
              </a:rPr>
              <a:t>QD</a:t>
            </a:r>
          </a:p>
        </p:txBody>
      </p:sp>
      <p:sp>
        <p:nvSpPr>
          <p:cNvPr id="81" name="TextBox 80"/>
          <p:cNvSpPr txBox="1"/>
          <p:nvPr/>
        </p:nvSpPr>
        <p:spPr>
          <a:xfrm>
            <a:off x="9985248" y="1993391"/>
            <a:ext cx="1572768" cy="310896"/>
          </a:xfrm>
          <a:prstGeom prst="rect">
            <a:avLst/>
          </a:prstGeom>
          <a:noFill/>
        </p:spPr>
        <p:txBody>
          <a:bodyPr wrap="square" anchor="ctr" lIns="0" rIns="0" tIns="0" bIns="0">
            <a:norm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80" b="1">
                <a:solidFill>
                  <a:srgbClr val="2E9D68"/>
                </a:solidFill>
                <a:latin typeface="Noto Sans CJK TC"/>
              </a:rPr>
              <a:t>Qdrant</a:t>
            </a:r>
          </a:p>
        </p:txBody>
      </p:sp>
      <p:sp>
        <p:nvSpPr>
          <p:cNvPr id="82" name="TextBox 81"/>
          <p:cNvSpPr txBox="1"/>
          <p:nvPr/>
        </p:nvSpPr>
        <p:spPr>
          <a:xfrm>
            <a:off x="9491472" y="2441448"/>
            <a:ext cx="2048256" cy="164592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770" b="0">
                <a:solidFill>
                  <a:srgbClr val="52677A"/>
                </a:solidFill>
                <a:latin typeface="Noto Sans CJK TC"/>
              </a:rPr>
              <a:t>768D embeddings + chunk payload</a:t>
            </a:r>
          </a:p>
        </p:txBody>
      </p:sp>
      <p:sp>
        <p:nvSpPr>
          <p:cNvPr id="83" name="Rounded Rectangle 82"/>
          <p:cNvSpPr/>
          <p:nvPr/>
        </p:nvSpPr>
        <p:spPr>
          <a:xfrm>
            <a:off x="9326880" y="2798063"/>
            <a:ext cx="2359152" cy="804672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5DE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4" name="Rectangle 83"/>
          <p:cNvSpPr/>
          <p:nvPr/>
        </p:nvSpPr>
        <p:spPr>
          <a:xfrm>
            <a:off x="9326880" y="2798063"/>
            <a:ext cx="64008" cy="804672"/>
          </a:xfrm>
          <a:prstGeom prst="rect">
            <a:avLst/>
          </a:prstGeom>
          <a:solidFill>
            <a:srgbClr val="2E9D6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5" name="Rounded Rectangle 84"/>
          <p:cNvSpPr/>
          <p:nvPr/>
        </p:nvSpPr>
        <p:spPr>
          <a:xfrm>
            <a:off x="9491472" y="2944368"/>
            <a:ext cx="384048" cy="384048"/>
          </a:xfrm>
          <a:prstGeom prst="roundRect">
            <a:avLst/>
          </a:prstGeom>
          <a:solidFill>
            <a:srgbClr val="2E9D6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6" name="TextBox 85"/>
          <p:cNvSpPr txBox="1"/>
          <p:nvPr/>
        </p:nvSpPr>
        <p:spPr>
          <a:xfrm>
            <a:off x="9491472" y="2944368"/>
            <a:ext cx="384048" cy="384048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50" b="1">
                <a:solidFill>
                  <a:srgbClr val="FFFFFF"/>
                </a:solidFill>
                <a:latin typeface="Noto Sans CJK TC"/>
              </a:rPr>
              <a:t>N4</a:t>
            </a:r>
          </a:p>
        </p:txBody>
      </p:sp>
      <p:sp>
        <p:nvSpPr>
          <p:cNvPr id="87" name="TextBox 86"/>
          <p:cNvSpPr txBox="1"/>
          <p:nvPr/>
        </p:nvSpPr>
        <p:spPr>
          <a:xfrm>
            <a:off x="9985248" y="2916935"/>
            <a:ext cx="1572768" cy="310896"/>
          </a:xfrm>
          <a:prstGeom prst="rect">
            <a:avLst/>
          </a:prstGeom>
          <a:noFill/>
        </p:spPr>
        <p:txBody>
          <a:bodyPr wrap="square" anchor="ctr" lIns="0" rIns="0" tIns="0" bIns="0">
            <a:norm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80" b="1">
                <a:solidFill>
                  <a:srgbClr val="2E9D68"/>
                </a:solidFill>
                <a:latin typeface="Noto Sans CJK TC"/>
              </a:rPr>
              <a:t>Neo4j</a:t>
            </a:r>
          </a:p>
        </p:txBody>
      </p:sp>
      <p:sp>
        <p:nvSpPr>
          <p:cNvPr id="88" name="TextBox 87"/>
          <p:cNvSpPr txBox="1"/>
          <p:nvPr/>
        </p:nvSpPr>
        <p:spPr>
          <a:xfrm>
            <a:off x="9491472" y="3364991"/>
            <a:ext cx="2048256" cy="164592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770" b="0">
                <a:solidFill>
                  <a:srgbClr val="52677A"/>
                </a:solidFill>
                <a:latin typeface="Noto Sans CJK TC"/>
              </a:rPr>
              <a:t>Document / Entity / Report graph</a:t>
            </a:r>
          </a:p>
        </p:txBody>
      </p:sp>
      <p:sp>
        <p:nvSpPr>
          <p:cNvPr id="89" name="Rounded Rectangle 88"/>
          <p:cNvSpPr/>
          <p:nvPr/>
        </p:nvSpPr>
        <p:spPr>
          <a:xfrm>
            <a:off x="9326880" y="3721607"/>
            <a:ext cx="2359152" cy="804672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5DE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0" name="Rectangle 89"/>
          <p:cNvSpPr/>
          <p:nvPr/>
        </p:nvSpPr>
        <p:spPr>
          <a:xfrm>
            <a:off x="9326880" y="3721607"/>
            <a:ext cx="64008" cy="804672"/>
          </a:xfrm>
          <a:prstGeom prst="rect">
            <a:avLst/>
          </a:prstGeom>
          <a:solidFill>
            <a:srgbClr val="2E9D6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1" name="Rounded Rectangle 90"/>
          <p:cNvSpPr/>
          <p:nvPr/>
        </p:nvSpPr>
        <p:spPr>
          <a:xfrm>
            <a:off x="9491472" y="3867911"/>
            <a:ext cx="384048" cy="384048"/>
          </a:xfrm>
          <a:prstGeom prst="roundRect">
            <a:avLst/>
          </a:prstGeom>
          <a:solidFill>
            <a:srgbClr val="2E9D6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2" name="TextBox 91"/>
          <p:cNvSpPr txBox="1"/>
          <p:nvPr/>
        </p:nvSpPr>
        <p:spPr>
          <a:xfrm>
            <a:off x="9491472" y="3867911"/>
            <a:ext cx="384048" cy="384048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50" b="1">
                <a:solidFill>
                  <a:srgbClr val="FFFFFF"/>
                </a:solidFill>
                <a:latin typeface="Noto Sans CJK TC"/>
              </a:rPr>
              <a:t>FS</a:t>
            </a:r>
          </a:p>
        </p:txBody>
      </p:sp>
      <p:sp>
        <p:nvSpPr>
          <p:cNvPr id="93" name="TextBox 92"/>
          <p:cNvSpPr txBox="1"/>
          <p:nvPr/>
        </p:nvSpPr>
        <p:spPr>
          <a:xfrm>
            <a:off x="9985248" y="3840479"/>
            <a:ext cx="1572768" cy="310896"/>
          </a:xfrm>
          <a:prstGeom prst="rect">
            <a:avLst/>
          </a:prstGeom>
          <a:noFill/>
        </p:spPr>
        <p:txBody>
          <a:bodyPr wrap="square" anchor="ctr" lIns="0" rIns="0" tIns="0" bIns="0">
            <a:norm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80" b="1">
                <a:solidFill>
                  <a:srgbClr val="2E9D68"/>
                </a:solidFill>
                <a:latin typeface="Noto Sans CJK TC"/>
              </a:rPr>
              <a:t>File Store</a:t>
            </a:r>
          </a:p>
        </p:txBody>
      </p:sp>
      <p:sp>
        <p:nvSpPr>
          <p:cNvPr id="94" name="TextBox 93"/>
          <p:cNvSpPr txBox="1"/>
          <p:nvPr/>
        </p:nvSpPr>
        <p:spPr>
          <a:xfrm>
            <a:off x="9491472" y="4288536"/>
            <a:ext cx="2048256" cy="164592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770" b="0">
                <a:solidFill>
                  <a:srgbClr val="52677A"/>
                </a:solidFill>
                <a:latin typeface="Noto Sans CJK TC"/>
              </a:rPr>
              <a:t>processed / assets / source metadata</a:t>
            </a:r>
          </a:p>
        </p:txBody>
      </p:sp>
      <p:sp>
        <p:nvSpPr>
          <p:cNvPr id="95" name="Rounded Rectangle 94"/>
          <p:cNvSpPr/>
          <p:nvPr/>
        </p:nvSpPr>
        <p:spPr>
          <a:xfrm>
            <a:off x="438912" y="4965192"/>
            <a:ext cx="11247120" cy="1024128"/>
          </a:xfrm>
          <a:prstGeom prst="roundRect">
            <a:avLst/>
          </a:prstGeom>
          <a:solidFill>
            <a:srgbClr val="0B1F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6" name="TextBox 95"/>
          <p:cNvSpPr txBox="1"/>
          <p:nvPr/>
        </p:nvSpPr>
        <p:spPr>
          <a:xfrm>
            <a:off x="658368" y="5138928"/>
            <a:ext cx="1115568" cy="173736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00" b="1">
                <a:solidFill>
                  <a:srgbClr val="00A6A6"/>
                </a:solidFill>
                <a:latin typeface="Noto Sans CJK TC"/>
              </a:rPr>
              <a:t>CONTROL PLANE</a:t>
            </a:r>
          </a:p>
        </p:txBody>
      </p:sp>
      <p:sp>
        <p:nvSpPr>
          <p:cNvPr id="97" name="Rounded Rectangle 96"/>
          <p:cNvSpPr/>
          <p:nvPr/>
        </p:nvSpPr>
        <p:spPr>
          <a:xfrm>
            <a:off x="1874519" y="5148072"/>
            <a:ext cx="2212848" cy="585216"/>
          </a:xfrm>
          <a:prstGeom prst="roundRect">
            <a:avLst/>
          </a:prstGeom>
          <a:solidFill>
            <a:srgbClr val="132E46"/>
          </a:solidFill>
          <a:ln w="12700">
            <a:solidFill>
              <a:srgbClr val="31516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8" name="TextBox 97"/>
          <p:cNvSpPr txBox="1"/>
          <p:nvPr/>
        </p:nvSpPr>
        <p:spPr>
          <a:xfrm>
            <a:off x="1984248" y="5212080"/>
            <a:ext cx="1993392" cy="173736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69" b="1">
                <a:solidFill>
                  <a:srgbClr val="FFFFFF"/>
                </a:solidFill>
                <a:latin typeface="Noto Sans CJK TC"/>
              </a:rPr>
              <a:t>SHA-256 去重</a:t>
            </a:r>
          </a:p>
        </p:txBody>
      </p:sp>
      <p:sp>
        <p:nvSpPr>
          <p:cNvPr id="99" name="TextBox 98"/>
          <p:cNvSpPr txBox="1"/>
          <p:nvPr/>
        </p:nvSpPr>
        <p:spPr>
          <a:xfrm>
            <a:off x="1965960" y="5449824"/>
            <a:ext cx="2029968" cy="155448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720" b="0">
                <a:solidFill>
                  <a:srgbClr val="B9CAD9"/>
                </a:solidFill>
                <a:latin typeface="Noto Sans CJK TC"/>
              </a:rPr>
              <a:t>避免相同內容重複攝入</a:t>
            </a:r>
          </a:p>
        </p:txBody>
      </p:sp>
      <p:sp>
        <p:nvSpPr>
          <p:cNvPr id="100" name="Rounded Rectangle 99"/>
          <p:cNvSpPr/>
          <p:nvPr/>
        </p:nvSpPr>
        <p:spPr>
          <a:xfrm>
            <a:off x="4206240" y="5148072"/>
            <a:ext cx="2212848" cy="585216"/>
          </a:xfrm>
          <a:prstGeom prst="roundRect">
            <a:avLst/>
          </a:prstGeom>
          <a:solidFill>
            <a:srgbClr val="132E46"/>
          </a:solidFill>
          <a:ln w="12700">
            <a:solidFill>
              <a:srgbClr val="31516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1" name="TextBox 100"/>
          <p:cNvSpPr txBox="1"/>
          <p:nvPr/>
        </p:nvSpPr>
        <p:spPr>
          <a:xfrm>
            <a:off x="4315968" y="5212080"/>
            <a:ext cx="1993392" cy="173736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69" b="1">
                <a:solidFill>
                  <a:srgbClr val="FFFFFF"/>
                </a:solidFill>
                <a:latin typeface="Noto Sans CJK TC"/>
              </a:rPr>
              <a:t>Cleanup before write</a:t>
            </a:r>
          </a:p>
        </p:txBody>
      </p:sp>
      <p:sp>
        <p:nvSpPr>
          <p:cNvPr id="102" name="TextBox 101"/>
          <p:cNvSpPr txBox="1"/>
          <p:nvPr/>
        </p:nvSpPr>
        <p:spPr>
          <a:xfrm>
            <a:off x="4297679" y="5449824"/>
            <a:ext cx="2029968" cy="155448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720" b="0">
                <a:solidFill>
                  <a:srgbClr val="B9CAD9"/>
                </a:solidFill>
                <a:latin typeface="Noto Sans CJK TC"/>
              </a:rPr>
              <a:t>同文件重攝入先清舊資料</a:t>
            </a:r>
          </a:p>
        </p:txBody>
      </p:sp>
      <p:sp>
        <p:nvSpPr>
          <p:cNvPr id="103" name="Rounded Rectangle 102"/>
          <p:cNvSpPr/>
          <p:nvPr/>
        </p:nvSpPr>
        <p:spPr>
          <a:xfrm>
            <a:off x="6537959" y="5148072"/>
            <a:ext cx="2212848" cy="585216"/>
          </a:xfrm>
          <a:prstGeom prst="roundRect">
            <a:avLst/>
          </a:prstGeom>
          <a:solidFill>
            <a:srgbClr val="132E46"/>
          </a:solidFill>
          <a:ln w="12700">
            <a:solidFill>
              <a:srgbClr val="31516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4" name="TextBox 103"/>
          <p:cNvSpPr txBox="1"/>
          <p:nvPr/>
        </p:nvSpPr>
        <p:spPr>
          <a:xfrm>
            <a:off x="6647688" y="5212080"/>
            <a:ext cx="1993392" cy="173736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69" b="1">
                <a:solidFill>
                  <a:srgbClr val="FFFFFF"/>
                </a:solidFill>
                <a:latin typeface="Noto Sans CJK TC"/>
              </a:rPr>
              <a:t>Index refresh</a:t>
            </a:r>
          </a:p>
        </p:txBody>
      </p:sp>
      <p:sp>
        <p:nvSpPr>
          <p:cNvPr id="105" name="TextBox 104"/>
          <p:cNvSpPr txBox="1"/>
          <p:nvPr/>
        </p:nvSpPr>
        <p:spPr>
          <a:xfrm>
            <a:off x="6629399" y="5449824"/>
            <a:ext cx="2029968" cy="155448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720" b="0">
                <a:solidFill>
                  <a:srgbClr val="B9CAD9"/>
                </a:solidFill>
                <a:latin typeface="Noto Sans CJK TC"/>
              </a:rPr>
              <a:t>完成後更新 index 與統計</a:t>
            </a:r>
          </a:p>
        </p:txBody>
      </p:sp>
      <p:sp>
        <p:nvSpPr>
          <p:cNvPr id="106" name="Rounded Rectangle 105"/>
          <p:cNvSpPr/>
          <p:nvPr/>
        </p:nvSpPr>
        <p:spPr>
          <a:xfrm>
            <a:off x="8869680" y="5148072"/>
            <a:ext cx="2212848" cy="585216"/>
          </a:xfrm>
          <a:prstGeom prst="roundRect">
            <a:avLst/>
          </a:prstGeom>
          <a:solidFill>
            <a:srgbClr val="132E46"/>
          </a:solidFill>
          <a:ln w="12700">
            <a:solidFill>
              <a:srgbClr val="31516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7" name="TextBox 106"/>
          <p:cNvSpPr txBox="1"/>
          <p:nvPr/>
        </p:nvSpPr>
        <p:spPr>
          <a:xfrm>
            <a:off x="8979407" y="5212080"/>
            <a:ext cx="1993392" cy="173736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69" b="1">
                <a:solidFill>
                  <a:srgbClr val="FFFFFF"/>
                </a:solidFill>
                <a:latin typeface="Noto Sans CJK TC"/>
              </a:rPr>
              <a:t>Failure visibility</a:t>
            </a:r>
          </a:p>
        </p:txBody>
      </p:sp>
      <p:sp>
        <p:nvSpPr>
          <p:cNvPr id="108" name="TextBox 107"/>
          <p:cNvSpPr txBox="1"/>
          <p:nvPr/>
        </p:nvSpPr>
        <p:spPr>
          <a:xfrm>
            <a:off x="8961119" y="5449824"/>
            <a:ext cx="2029968" cy="155448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720" b="0">
                <a:solidFill>
                  <a:srgbClr val="B9CAD9"/>
                </a:solidFill>
                <a:latin typeface="Noto Sans CJK TC"/>
              </a:rPr>
              <a:t>狀態、錯誤與任務歷史可查</a:t>
            </a:r>
          </a:p>
        </p:txBody>
      </p:sp>
      <p:sp>
        <p:nvSpPr>
          <p:cNvPr id="109" name="Rectangle 108"/>
          <p:cNvSpPr/>
          <p:nvPr/>
        </p:nvSpPr>
        <p:spPr>
          <a:xfrm>
            <a:off x="475488" y="6391656"/>
            <a:ext cx="11137392" cy="9144"/>
          </a:xfrm>
          <a:prstGeom prst="rect">
            <a:avLst/>
          </a:prstGeom>
          <a:solidFill>
            <a:srgbClr val="D5DE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0" name="TextBox 109"/>
          <p:cNvSpPr txBox="1"/>
          <p:nvPr/>
        </p:nvSpPr>
        <p:spPr>
          <a:xfrm>
            <a:off x="475488" y="6473952"/>
            <a:ext cx="8229600" cy="173736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19" b="1">
                <a:solidFill>
                  <a:srgbClr val="52677A"/>
                </a:solidFill>
                <a:latin typeface="Noto Sans CJK TC"/>
              </a:rPr>
              <a:t>報告重點｜攝入不是單一步驟，而是帶有去重、轉檔、資產保留、模式路由、雙庫寫入與可觀測狀態的資料產品管線。</a:t>
            </a:r>
          </a:p>
        </p:txBody>
      </p:sp>
      <p:sp>
        <p:nvSpPr>
          <p:cNvPr id="111" name="TextBox 110"/>
          <p:cNvSpPr txBox="1"/>
          <p:nvPr/>
        </p:nvSpPr>
        <p:spPr>
          <a:xfrm>
            <a:off x="8887968" y="6473952"/>
            <a:ext cx="2724912" cy="173736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700" b="0">
                <a:solidFill>
                  <a:srgbClr val="71859A"/>
                </a:solidFill>
                <a:latin typeface="Noto Sans CJK TC"/>
              </a:rPr>
              <a:t>Current-state architecture · 2026.07.17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2F6F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164592" y="0"/>
            <a:ext cx="12027103" cy="73152"/>
          </a:xfrm>
          <a:prstGeom prst="rect">
            <a:avLst/>
          </a:prstGeom>
          <a:solidFill>
            <a:srgbClr val="0B1F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75488" y="256032"/>
            <a:ext cx="5303520" cy="164592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80" b="1">
                <a:solidFill>
                  <a:srgbClr val="2F6FED"/>
                </a:solidFill>
                <a:latin typeface="Noto Sans CJK TC"/>
              </a:rPr>
              <a:t>05 · RETRIEVAL &amp; AI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75488" y="475488"/>
            <a:ext cx="9875520" cy="420624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300" b="1">
                <a:solidFill>
                  <a:srgbClr val="0B1F33"/>
                </a:solidFill>
                <a:latin typeface="Noto Serif CJK TC"/>
              </a:rPr>
              <a:t>混合檢索與答案生成架構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84632" y="914400"/>
            <a:ext cx="10332720" cy="256032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50" b="0">
                <a:solidFill>
                  <a:srgbClr val="52677A"/>
                </a:solidFill>
                <a:latin typeface="Noto Sans CJK TC"/>
              </a:rPr>
              <a:t>SearchEngine 依題型與模式調度向量、圖譜與規則式來源，再經重排、去重與引用整合後交付答案。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10908792" y="329184"/>
            <a:ext cx="713232" cy="310896"/>
          </a:xfrm>
          <a:prstGeom prst="roundRect">
            <a:avLst/>
          </a:prstGeom>
          <a:solidFill>
            <a:srgbClr val="0B1F33"/>
          </a:solidFill>
          <a:ln w="12700">
            <a:solidFill>
              <a:srgbClr val="0B1F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50800" rIns="50800" tIns="0" bIns="0"/>
          <a:lstStyle/>
          <a:p>
            <a:pPr algn="ctr"/>
            <a:r>
              <a:rPr sz="950" b="1">
                <a:solidFill>
                  <a:srgbClr val="FFFFFF"/>
                </a:solidFill>
                <a:latin typeface="Noto Sans CJK TC"/>
              </a:rPr>
              <a:t>06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75488" y="1325880"/>
            <a:ext cx="11173968" cy="566928"/>
          </a:xfrm>
          <a:prstGeom prst="roundRect">
            <a:avLst/>
          </a:prstGeom>
          <a:solidFill>
            <a:srgbClr val="0B1F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58368" y="1499616"/>
            <a:ext cx="1060704" cy="18288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19" b="1">
                <a:solidFill>
                  <a:srgbClr val="00A6A6"/>
                </a:solidFill>
                <a:latin typeface="Noto Sans CJK TC"/>
              </a:rPr>
              <a:t>QUERY ROUTER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1920240" y="1463040"/>
            <a:ext cx="804672" cy="274320"/>
          </a:xfrm>
          <a:prstGeom prst="roundRect">
            <a:avLst/>
          </a:prstGeom>
          <a:solidFill>
            <a:srgbClr val="132E46"/>
          </a:solidFill>
          <a:ln w="12700">
            <a:solidFill>
              <a:srgbClr val="31516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50800" rIns="50800" tIns="0" bIns="0"/>
          <a:lstStyle/>
          <a:p>
            <a:pPr algn="ctr"/>
            <a:r>
              <a:rPr sz="730" b="1">
                <a:solidFill>
                  <a:srgbClr val="FFFFFF"/>
                </a:solidFill>
                <a:latin typeface="Noto Sans CJK TC"/>
              </a:rPr>
              <a:t>AUTO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2871216" y="1463040"/>
            <a:ext cx="841248" cy="274320"/>
          </a:xfrm>
          <a:prstGeom prst="roundRect">
            <a:avLst/>
          </a:prstGeom>
          <a:solidFill>
            <a:srgbClr val="132E46"/>
          </a:solidFill>
          <a:ln w="12700">
            <a:solidFill>
              <a:srgbClr val="31516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50800" rIns="50800" tIns="0" bIns="0"/>
          <a:lstStyle/>
          <a:p>
            <a:pPr algn="ctr"/>
            <a:r>
              <a:rPr sz="730" b="1">
                <a:solidFill>
                  <a:srgbClr val="FFFFFF"/>
                </a:solidFill>
                <a:latin typeface="Noto Sans CJK TC"/>
              </a:rPr>
              <a:t>BASIC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3858768" y="1463040"/>
            <a:ext cx="804672" cy="274320"/>
          </a:xfrm>
          <a:prstGeom prst="roundRect">
            <a:avLst/>
          </a:prstGeom>
          <a:solidFill>
            <a:srgbClr val="132E46"/>
          </a:solidFill>
          <a:ln w="12700">
            <a:solidFill>
              <a:srgbClr val="31516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50800" rIns="50800" tIns="0" bIns="0"/>
          <a:lstStyle/>
          <a:p>
            <a:pPr algn="ctr"/>
            <a:r>
              <a:rPr sz="730" b="1">
                <a:solidFill>
                  <a:srgbClr val="FFFFFF"/>
                </a:solidFill>
                <a:latin typeface="Noto Sans CJK TC"/>
              </a:rPr>
              <a:t>DEEP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4809744" y="1463040"/>
            <a:ext cx="932688" cy="274320"/>
          </a:xfrm>
          <a:prstGeom prst="roundRect">
            <a:avLst/>
          </a:prstGeom>
          <a:solidFill>
            <a:srgbClr val="132E46"/>
          </a:solidFill>
          <a:ln w="12700">
            <a:solidFill>
              <a:srgbClr val="31516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50800" rIns="50800" tIns="0" bIns="0"/>
          <a:lstStyle/>
          <a:p>
            <a:pPr algn="ctr"/>
            <a:r>
              <a:rPr sz="730" b="1">
                <a:solidFill>
                  <a:srgbClr val="FFFFFF"/>
                </a:solidFill>
                <a:latin typeface="Noto Sans CJK TC"/>
              </a:rPr>
              <a:t>VECTOR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5888736" y="1463040"/>
            <a:ext cx="960120" cy="274320"/>
          </a:xfrm>
          <a:prstGeom prst="roundRect">
            <a:avLst/>
          </a:prstGeom>
          <a:solidFill>
            <a:srgbClr val="132E46"/>
          </a:solidFill>
          <a:ln w="12700">
            <a:solidFill>
              <a:srgbClr val="31516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50800" rIns="50800" tIns="0" bIns="0"/>
          <a:lstStyle/>
          <a:p>
            <a:pPr algn="ctr"/>
            <a:r>
              <a:rPr sz="730" b="1">
                <a:solidFill>
                  <a:srgbClr val="FFFFFF"/>
                </a:solidFill>
                <a:latin typeface="Noto Sans CJK TC"/>
              </a:rPr>
              <a:t>HYBRID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995160" y="1463040"/>
            <a:ext cx="1033271" cy="274320"/>
          </a:xfrm>
          <a:prstGeom prst="roundRect">
            <a:avLst/>
          </a:prstGeom>
          <a:solidFill>
            <a:srgbClr val="132E46"/>
          </a:solidFill>
          <a:ln w="12700">
            <a:solidFill>
              <a:srgbClr val="31516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50800" rIns="50800" tIns="0" bIns="0"/>
          <a:lstStyle/>
          <a:p>
            <a:pPr algn="ctr"/>
            <a:r>
              <a:rPr sz="730" b="1">
                <a:solidFill>
                  <a:srgbClr val="FFFFFF"/>
                </a:solidFill>
                <a:latin typeface="Noto Sans CJK TC"/>
              </a:rPr>
              <a:t>HYBRID+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8174736" y="1463040"/>
            <a:ext cx="1371600" cy="274320"/>
          </a:xfrm>
          <a:prstGeom prst="roundRect">
            <a:avLst/>
          </a:prstGeom>
          <a:solidFill>
            <a:srgbClr val="132E46"/>
          </a:solidFill>
          <a:ln w="12700">
            <a:solidFill>
              <a:srgbClr val="31516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50800" rIns="50800" tIns="0" bIns="0"/>
          <a:lstStyle/>
          <a:p>
            <a:pPr algn="ctr"/>
            <a:r>
              <a:rPr sz="730" b="1">
                <a:solidFill>
                  <a:srgbClr val="FFFFFF"/>
                </a:solidFill>
                <a:latin typeface="Noto Sans CJK TC"/>
              </a:rPr>
              <a:t>REPORT GRAPH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9729216" y="1481328"/>
            <a:ext cx="1600200" cy="182880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740" b="0">
                <a:solidFill>
                  <a:srgbClr val="B9CAD9"/>
                </a:solidFill>
                <a:latin typeface="Noto Sans CJK TC"/>
              </a:rPr>
              <a:t>規則判斷 + 題型提示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30352" y="2093976"/>
            <a:ext cx="2651760" cy="201168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50" b="1">
                <a:solidFill>
                  <a:srgbClr val="0B1F33"/>
                </a:solidFill>
                <a:latin typeface="Noto Sans CJK TC"/>
              </a:rPr>
              <a:t>KNOWLEDGE SOURCES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502920" y="2423160"/>
            <a:ext cx="2779776" cy="941832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5DE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502920" y="2423160"/>
            <a:ext cx="64008" cy="941832"/>
          </a:xfrm>
          <a:prstGeom prst="rect">
            <a:avLst/>
          </a:prstGeom>
          <a:solidFill>
            <a:srgbClr val="2F6F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ounded Rectangle 21"/>
          <p:cNvSpPr/>
          <p:nvPr/>
        </p:nvSpPr>
        <p:spPr>
          <a:xfrm>
            <a:off x="667512" y="2569464"/>
            <a:ext cx="384048" cy="384048"/>
          </a:xfrm>
          <a:prstGeom prst="roundRect">
            <a:avLst/>
          </a:prstGeom>
          <a:solidFill>
            <a:srgbClr val="2F6F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667512" y="2569464"/>
            <a:ext cx="384048" cy="384048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50" b="1">
                <a:solidFill>
                  <a:srgbClr val="FFFFFF"/>
                </a:solidFill>
                <a:latin typeface="Noto Sans CJK TC"/>
              </a:rPr>
              <a:t>QD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161288" y="2542032"/>
            <a:ext cx="1993392" cy="310896"/>
          </a:xfrm>
          <a:prstGeom prst="rect">
            <a:avLst/>
          </a:prstGeom>
          <a:noFill/>
        </p:spPr>
        <p:txBody>
          <a:bodyPr wrap="square" anchor="ctr" lIns="0" rIns="0" tIns="0" bIns="0">
            <a:norm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50" b="1">
                <a:solidFill>
                  <a:srgbClr val="2F6FED"/>
                </a:solidFill>
                <a:latin typeface="Noto Sans CJK TC"/>
              </a:rPr>
              <a:t>Qdrant Vector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67512" y="2990088"/>
            <a:ext cx="2468880" cy="301752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10" b="0">
                <a:solidFill>
                  <a:srgbClr val="52677A"/>
                </a:solidFill>
                <a:latin typeface="Noto Sans CJK TC"/>
              </a:rPr>
              <a:t>BAAI/bge-base-zh-v1.5
Cosine similarity + metadata filter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502920" y="3465576"/>
            <a:ext cx="2779776" cy="941832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5DE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>
            <a:off x="502920" y="3465576"/>
            <a:ext cx="64008" cy="941832"/>
          </a:xfrm>
          <a:prstGeom prst="rect">
            <a:avLst/>
          </a:prstGeom>
          <a:solidFill>
            <a:srgbClr val="00A6A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ounded Rectangle 27"/>
          <p:cNvSpPr/>
          <p:nvPr/>
        </p:nvSpPr>
        <p:spPr>
          <a:xfrm>
            <a:off x="667512" y="3611880"/>
            <a:ext cx="384048" cy="384048"/>
          </a:xfrm>
          <a:prstGeom prst="roundRect">
            <a:avLst/>
          </a:prstGeom>
          <a:solidFill>
            <a:srgbClr val="00A6A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667512" y="3611880"/>
            <a:ext cx="384048" cy="384048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50" b="1">
                <a:solidFill>
                  <a:srgbClr val="FFFFFF"/>
                </a:solidFill>
                <a:latin typeface="Noto Sans CJK TC"/>
              </a:rPr>
              <a:t>N4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1161288" y="3584448"/>
            <a:ext cx="1993392" cy="310896"/>
          </a:xfrm>
          <a:prstGeom prst="rect">
            <a:avLst/>
          </a:prstGeom>
          <a:noFill/>
        </p:spPr>
        <p:txBody>
          <a:bodyPr wrap="square" anchor="ctr" lIns="0" rIns="0" tIns="0" bIns="0">
            <a:norm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50" b="1">
                <a:solidFill>
                  <a:srgbClr val="00A6A6"/>
                </a:solidFill>
                <a:latin typeface="Noto Sans CJK TC"/>
              </a:rPr>
              <a:t>Neo4j Graph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667512" y="4032504"/>
            <a:ext cx="2468880" cy="301752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10" b="0">
                <a:solidFill>
                  <a:srgbClr val="52677A"/>
                </a:solidFill>
                <a:latin typeface="Noto Sans CJK TC"/>
              </a:rPr>
              <a:t>Document / Entity / Report
Section / TestItem / Case / Metric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502920" y="4507992"/>
            <a:ext cx="2779776" cy="941832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5DE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Rectangle 32"/>
          <p:cNvSpPr/>
          <p:nvPr/>
        </p:nvSpPr>
        <p:spPr>
          <a:xfrm>
            <a:off x="502920" y="4507992"/>
            <a:ext cx="64008" cy="941832"/>
          </a:xfrm>
          <a:prstGeom prst="rect">
            <a:avLst/>
          </a:prstGeom>
          <a:solidFill>
            <a:srgbClr val="A96B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Rounded Rectangle 33"/>
          <p:cNvSpPr/>
          <p:nvPr/>
        </p:nvSpPr>
        <p:spPr>
          <a:xfrm>
            <a:off x="667512" y="4654296"/>
            <a:ext cx="384048" cy="384048"/>
          </a:xfrm>
          <a:prstGeom prst="roundRect">
            <a:avLst/>
          </a:prstGeom>
          <a:solidFill>
            <a:srgbClr val="A96B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667512" y="4654296"/>
            <a:ext cx="384048" cy="384048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50" b="1">
                <a:solidFill>
                  <a:srgbClr val="FFFFFF"/>
                </a:solidFill>
                <a:latin typeface="Noto Sans CJK TC"/>
              </a:rPr>
              <a:t>FS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1161288" y="4626864"/>
            <a:ext cx="1993392" cy="310896"/>
          </a:xfrm>
          <a:prstGeom prst="rect">
            <a:avLst/>
          </a:prstGeom>
          <a:noFill/>
        </p:spPr>
        <p:txBody>
          <a:bodyPr wrap="square" anchor="ctr" lIns="0" rIns="0" tIns="0" bIns="0">
            <a:norm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50" b="1">
                <a:solidFill>
                  <a:srgbClr val="A96B00"/>
                </a:solidFill>
                <a:latin typeface="Noto Sans CJK TC"/>
              </a:rPr>
              <a:t>Processed Content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667512" y="5074920"/>
            <a:ext cx="2468880" cy="301752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10" b="0">
                <a:solidFill>
                  <a:srgbClr val="52677A"/>
                </a:solidFill>
                <a:latin typeface="Noto Sans CJK TC"/>
              </a:rPr>
              <a:t>Markdown、來源 metadata
規則式摘要與 cleaned context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3730752" y="2093976"/>
            <a:ext cx="3977639" cy="201168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50" b="1">
                <a:solidFill>
                  <a:srgbClr val="0B1F33"/>
                </a:solidFill>
                <a:latin typeface="Noto Sans CJK TC"/>
              </a:rPr>
              <a:t>RETRIEVAL FUSION</a:t>
            </a:r>
          </a:p>
        </p:txBody>
      </p:sp>
      <p:sp>
        <p:nvSpPr>
          <p:cNvPr id="39" name="Rounded Rectangle 38"/>
          <p:cNvSpPr/>
          <p:nvPr/>
        </p:nvSpPr>
        <p:spPr>
          <a:xfrm>
            <a:off x="3703320" y="2423160"/>
            <a:ext cx="4041648" cy="694944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5DE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Rounded Rectangle 39"/>
          <p:cNvSpPr/>
          <p:nvPr/>
        </p:nvSpPr>
        <p:spPr>
          <a:xfrm>
            <a:off x="3840480" y="2596896"/>
            <a:ext cx="347472" cy="292608"/>
          </a:xfrm>
          <a:prstGeom prst="roundRect">
            <a:avLst/>
          </a:prstGeom>
          <a:solidFill>
            <a:srgbClr val="0B1F33"/>
          </a:solidFill>
          <a:ln w="12700">
            <a:solidFill>
              <a:srgbClr val="0B1F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50800" rIns="50800" tIns="0" bIns="0"/>
          <a:lstStyle/>
          <a:p>
            <a:pPr algn="ctr"/>
            <a:r>
              <a:rPr sz="800" b="1">
                <a:solidFill>
                  <a:srgbClr val="FFFFFF"/>
                </a:solidFill>
                <a:latin typeface="Noto Sans CJK TC"/>
              </a:rPr>
              <a:t>1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4334256" y="2514600"/>
            <a:ext cx="1225296" cy="237744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80" b="1">
                <a:solidFill>
                  <a:srgbClr val="0B1F33"/>
                </a:solidFill>
                <a:latin typeface="Noto Sans CJK TC"/>
              </a:rPr>
              <a:t>平行召回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4334256" y="2788920"/>
            <a:ext cx="3172968" cy="182880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780" b="0">
                <a:solidFill>
                  <a:srgbClr val="52677A"/>
                </a:solidFill>
                <a:latin typeface="Noto Sans CJK TC"/>
              </a:rPr>
              <a:t>向量 raw sources + 圖譜 raw sources</a:t>
            </a:r>
          </a:p>
        </p:txBody>
      </p:sp>
      <p:sp>
        <p:nvSpPr>
          <p:cNvPr id="43" name="Rounded Rectangle 42"/>
          <p:cNvSpPr/>
          <p:nvPr/>
        </p:nvSpPr>
        <p:spPr>
          <a:xfrm>
            <a:off x="3703320" y="3246120"/>
            <a:ext cx="4041648" cy="694944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5DE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Rounded Rectangle 43"/>
          <p:cNvSpPr/>
          <p:nvPr/>
        </p:nvSpPr>
        <p:spPr>
          <a:xfrm>
            <a:off x="3840480" y="3419856"/>
            <a:ext cx="347472" cy="292608"/>
          </a:xfrm>
          <a:prstGeom prst="roundRect">
            <a:avLst/>
          </a:prstGeom>
          <a:solidFill>
            <a:srgbClr val="0B1F33"/>
          </a:solidFill>
          <a:ln w="12700">
            <a:solidFill>
              <a:srgbClr val="0B1F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50800" rIns="50800" tIns="0" bIns="0"/>
          <a:lstStyle/>
          <a:p>
            <a:pPr algn="ctr"/>
            <a:r>
              <a:rPr sz="800" b="1">
                <a:solidFill>
                  <a:srgbClr val="FFFFFF"/>
                </a:solidFill>
                <a:latin typeface="Noto Sans CJK TC"/>
              </a:rPr>
              <a:t>2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4334256" y="3337560"/>
            <a:ext cx="1225296" cy="237744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80" b="1">
                <a:solidFill>
                  <a:srgbClr val="0B1F33"/>
                </a:solidFill>
                <a:latin typeface="Noto Sans CJK TC"/>
              </a:rPr>
              <a:t>業務重排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4334256" y="3611879"/>
            <a:ext cx="3172968" cy="182880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780" b="0">
                <a:solidFill>
                  <a:srgbClr val="52677A"/>
                </a:solidFill>
                <a:latin typeface="Noto Sans CJK TC"/>
              </a:rPr>
              <a:t>題型、專案、case、數值與報告偏好</a:t>
            </a:r>
          </a:p>
        </p:txBody>
      </p:sp>
      <p:sp>
        <p:nvSpPr>
          <p:cNvPr id="47" name="Rounded Rectangle 46"/>
          <p:cNvSpPr/>
          <p:nvPr/>
        </p:nvSpPr>
        <p:spPr>
          <a:xfrm>
            <a:off x="3703320" y="4069080"/>
            <a:ext cx="4041648" cy="694944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5DE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Rounded Rectangle 47"/>
          <p:cNvSpPr/>
          <p:nvPr/>
        </p:nvSpPr>
        <p:spPr>
          <a:xfrm>
            <a:off x="3840480" y="4242816"/>
            <a:ext cx="347472" cy="292608"/>
          </a:xfrm>
          <a:prstGeom prst="roundRect">
            <a:avLst/>
          </a:prstGeom>
          <a:solidFill>
            <a:srgbClr val="0B1F33"/>
          </a:solidFill>
          <a:ln w="12700">
            <a:solidFill>
              <a:srgbClr val="0B1F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50800" rIns="50800" tIns="0" bIns="0"/>
          <a:lstStyle/>
          <a:p>
            <a:pPr algn="ctr"/>
            <a:r>
              <a:rPr sz="800" b="1">
                <a:solidFill>
                  <a:srgbClr val="FFFFFF"/>
                </a:solidFill>
                <a:latin typeface="Noto Sans CJK TC"/>
              </a:rPr>
              <a:t>3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4334256" y="4160520"/>
            <a:ext cx="1225296" cy="237744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80" b="1">
                <a:solidFill>
                  <a:srgbClr val="0B1F33"/>
                </a:solidFill>
                <a:latin typeface="Noto Sans CJK TC"/>
              </a:rPr>
              <a:t>去重與分類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4334256" y="4434840"/>
            <a:ext cx="3172968" cy="182880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780" b="0">
                <a:solidFill>
                  <a:srgbClr val="52677A"/>
                </a:solidFill>
                <a:latin typeface="Noto Sans CJK TC"/>
              </a:rPr>
              <a:t>doc/chunk 去重、storage category、source type</a:t>
            </a:r>
          </a:p>
        </p:txBody>
      </p:sp>
      <p:sp>
        <p:nvSpPr>
          <p:cNvPr id="51" name="Rounded Rectangle 50"/>
          <p:cNvSpPr/>
          <p:nvPr/>
        </p:nvSpPr>
        <p:spPr>
          <a:xfrm>
            <a:off x="3703320" y="4892040"/>
            <a:ext cx="4041648" cy="694944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5DE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" name="Rounded Rectangle 51"/>
          <p:cNvSpPr/>
          <p:nvPr/>
        </p:nvSpPr>
        <p:spPr>
          <a:xfrm>
            <a:off x="3840480" y="5065776"/>
            <a:ext cx="347472" cy="292608"/>
          </a:xfrm>
          <a:prstGeom prst="roundRect">
            <a:avLst/>
          </a:prstGeom>
          <a:solidFill>
            <a:srgbClr val="0B1F33"/>
          </a:solidFill>
          <a:ln w="12700">
            <a:solidFill>
              <a:srgbClr val="0B1F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50800" rIns="50800" tIns="0" bIns="0"/>
          <a:lstStyle/>
          <a:p>
            <a:pPr algn="ctr"/>
            <a:r>
              <a:rPr sz="800" b="1">
                <a:solidFill>
                  <a:srgbClr val="FFFFFF"/>
                </a:solidFill>
                <a:latin typeface="Noto Sans CJK TC"/>
              </a:rPr>
              <a:t>4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4334256" y="4983480"/>
            <a:ext cx="1225296" cy="237744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80" b="1">
                <a:solidFill>
                  <a:srgbClr val="0B1F33"/>
                </a:solidFill>
                <a:latin typeface="Noto Sans CJK TC"/>
              </a:rPr>
              <a:t>引用封裝</a:t>
            </a:r>
          </a:p>
        </p:txBody>
      </p:sp>
      <p:sp>
        <p:nvSpPr>
          <p:cNvPr id="54" name="TextBox 53"/>
          <p:cNvSpPr txBox="1"/>
          <p:nvPr/>
        </p:nvSpPr>
        <p:spPr>
          <a:xfrm>
            <a:off x="4334256" y="5257800"/>
            <a:ext cx="3172968" cy="182880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780" b="0">
                <a:solidFill>
                  <a:srgbClr val="52677A"/>
                </a:solidFill>
                <a:latin typeface="Noto Sans CJK TC"/>
              </a:rPr>
              <a:t>citation distribution、原始文件與片段摘要</a:t>
            </a:r>
          </a:p>
        </p:txBody>
      </p:sp>
      <p:cxnSp>
        <p:nvCxnSpPr>
          <p:cNvPr id="55" name="Connector 54"/>
          <p:cNvCxnSpPr/>
          <p:nvPr/>
        </p:nvCxnSpPr>
        <p:spPr>
          <a:xfrm>
            <a:off x="3291840" y="3749039"/>
            <a:ext cx="384047" cy="0"/>
          </a:xfrm>
          <a:prstGeom prst="line">
            <a:avLst/>
          </a:prstGeom>
          <a:ln w="25400">
            <a:solidFill>
              <a:srgbClr val="71859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6" name="Chevron 55"/>
          <p:cNvSpPr/>
          <p:nvPr/>
        </p:nvSpPr>
        <p:spPr>
          <a:xfrm>
            <a:off x="3465576" y="3602736"/>
            <a:ext cx="228600" cy="301752"/>
          </a:xfrm>
          <a:prstGeom prst="chevron">
            <a:avLst/>
          </a:prstGeom>
          <a:solidFill>
            <a:srgbClr val="71859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57" name="Connector 56"/>
          <p:cNvCxnSpPr/>
          <p:nvPr/>
        </p:nvCxnSpPr>
        <p:spPr>
          <a:xfrm>
            <a:off x="7754112" y="3749039"/>
            <a:ext cx="384048" cy="0"/>
          </a:xfrm>
          <a:prstGeom prst="line">
            <a:avLst/>
          </a:prstGeom>
          <a:ln w="25400">
            <a:solidFill>
              <a:srgbClr val="71859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8" name="Chevron 57"/>
          <p:cNvSpPr/>
          <p:nvPr/>
        </p:nvSpPr>
        <p:spPr>
          <a:xfrm>
            <a:off x="7946136" y="3602736"/>
            <a:ext cx="228600" cy="301752"/>
          </a:xfrm>
          <a:prstGeom prst="chevron">
            <a:avLst/>
          </a:prstGeom>
          <a:solidFill>
            <a:srgbClr val="71859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9" name="TextBox 58"/>
          <p:cNvSpPr txBox="1"/>
          <p:nvPr/>
        </p:nvSpPr>
        <p:spPr>
          <a:xfrm>
            <a:off x="8247888" y="2093976"/>
            <a:ext cx="3346704" cy="201168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50" b="1">
                <a:solidFill>
                  <a:srgbClr val="0B1F33"/>
                </a:solidFill>
                <a:latin typeface="Noto Sans CJK TC"/>
              </a:rPr>
              <a:t>ANSWER DELIVERY</a:t>
            </a:r>
          </a:p>
        </p:txBody>
      </p:sp>
      <p:sp>
        <p:nvSpPr>
          <p:cNvPr id="60" name="Rounded Rectangle 59"/>
          <p:cNvSpPr/>
          <p:nvPr/>
        </p:nvSpPr>
        <p:spPr>
          <a:xfrm>
            <a:off x="8247888" y="2423160"/>
            <a:ext cx="3383280" cy="941832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5DE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1" name="Rectangle 60"/>
          <p:cNvSpPr/>
          <p:nvPr/>
        </p:nvSpPr>
        <p:spPr>
          <a:xfrm>
            <a:off x="8247888" y="2423160"/>
            <a:ext cx="64008" cy="941832"/>
          </a:xfrm>
          <a:prstGeom prst="rect">
            <a:avLst/>
          </a:prstGeom>
          <a:solidFill>
            <a:srgbClr val="2F6F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2" name="TextBox 61"/>
          <p:cNvSpPr txBox="1"/>
          <p:nvPr/>
        </p:nvSpPr>
        <p:spPr>
          <a:xfrm>
            <a:off x="8412480" y="2542032"/>
            <a:ext cx="3108960" cy="310896"/>
          </a:xfrm>
          <a:prstGeom prst="rect">
            <a:avLst/>
          </a:prstGeom>
          <a:noFill/>
        </p:spPr>
        <p:txBody>
          <a:bodyPr wrap="square" anchor="ctr" lIns="0" rIns="0" tIns="0" bIns="0">
            <a:norm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50" b="1">
                <a:solidFill>
                  <a:srgbClr val="2F6FED"/>
                </a:solidFill>
                <a:latin typeface="Noto Sans CJK TC"/>
              </a:rPr>
              <a:t>Deterministic Answer</a:t>
            </a:r>
          </a:p>
        </p:txBody>
      </p:sp>
      <p:sp>
        <p:nvSpPr>
          <p:cNvPr id="63" name="TextBox 62"/>
          <p:cNvSpPr txBox="1"/>
          <p:nvPr/>
        </p:nvSpPr>
        <p:spPr>
          <a:xfrm>
            <a:off x="8412480" y="2898648"/>
            <a:ext cx="3072384" cy="384048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10" b="0">
                <a:solidFill>
                  <a:srgbClr val="52677A"/>
                </a:solidFill>
                <a:latin typeface="Noto Sans CJK TC"/>
              </a:rPr>
              <a:t>報告 / WiFi / comparison 題型可直接呈現 KB 結果</a:t>
            </a:r>
          </a:p>
        </p:txBody>
      </p:sp>
      <p:sp>
        <p:nvSpPr>
          <p:cNvPr id="64" name="Rounded Rectangle 63"/>
          <p:cNvSpPr/>
          <p:nvPr/>
        </p:nvSpPr>
        <p:spPr>
          <a:xfrm>
            <a:off x="8247888" y="3465576"/>
            <a:ext cx="3383280" cy="941832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5DE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5" name="Rectangle 64"/>
          <p:cNvSpPr/>
          <p:nvPr/>
        </p:nvSpPr>
        <p:spPr>
          <a:xfrm>
            <a:off x="8247888" y="3465576"/>
            <a:ext cx="64008" cy="941832"/>
          </a:xfrm>
          <a:prstGeom prst="rect">
            <a:avLst/>
          </a:prstGeom>
          <a:solidFill>
            <a:srgbClr val="00A6A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6" name="TextBox 65"/>
          <p:cNvSpPr txBox="1"/>
          <p:nvPr/>
        </p:nvSpPr>
        <p:spPr>
          <a:xfrm>
            <a:off x="8412480" y="3584448"/>
            <a:ext cx="3108960" cy="310896"/>
          </a:xfrm>
          <a:prstGeom prst="rect">
            <a:avLst/>
          </a:prstGeom>
          <a:noFill/>
        </p:spPr>
        <p:txBody>
          <a:bodyPr wrap="square" anchor="ctr" lIns="0" rIns="0" tIns="0" bIns="0">
            <a:norm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50" b="1">
                <a:solidFill>
                  <a:srgbClr val="00A6A6"/>
                </a:solidFill>
                <a:latin typeface="Noto Sans CJK TC"/>
              </a:rPr>
              <a:t>Ollama Synthesis</a:t>
            </a:r>
          </a:p>
        </p:txBody>
      </p:sp>
      <p:sp>
        <p:nvSpPr>
          <p:cNvPr id="67" name="TextBox 66"/>
          <p:cNvSpPr txBox="1"/>
          <p:nvPr/>
        </p:nvSpPr>
        <p:spPr>
          <a:xfrm>
            <a:off x="8412480" y="3941064"/>
            <a:ext cx="3072384" cy="384048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10" b="0">
                <a:solidFill>
                  <a:srgbClr val="52677A"/>
                </a:solidFill>
                <a:latin typeface="Noto Sans CJK TC"/>
              </a:rPr>
              <a:t>以檢索 context 生成摘要或混合回答</a:t>
            </a:r>
          </a:p>
        </p:txBody>
      </p:sp>
      <p:sp>
        <p:nvSpPr>
          <p:cNvPr id="68" name="Rounded Rectangle 67"/>
          <p:cNvSpPr/>
          <p:nvPr/>
        </p:nvSpPr>
        <p:spPr>
          <a:xfrm>
            <a:off x="8247888" y="4507992"/>
            <a:ext cx="3383280" cy="941832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5DE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9" name="Rectangle 68"/>
          <p:cNvSpPr/>
          <p:nvPr/>
        </p:nvSpPr>
        <p:spPr>
          <a:xfrm>
            <a:off x="8247888" y="4507992"/>
            <a:ext cx="64008" cy="941832"/>
          </a:xfrm>
          <a:prstGeom prst="rect">
            <a:avLst/>
          </a:prstGeom>
          <a:solidFill>
            <a:srgbClr val="A96B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0" name="TextBox 69"/>
          <p:cNvSpPr txBox="1"/>
          <p:nvPr/>
        </p:nvSpPr>
        <p:spPr>
          <a:xfrm>
            <a:off x="8412480" y="4626864"/>
            <a:ext cx="3108960" cy="310896"/>
          </a:xfrm>
          <a:prstGeom prst="rect">
            <a:avLst/>
          </a:prstGeom>
          <a:noFill/>
        </p:spPr>
        <p:txBody>
          <a:bodyPr wrap="square" anchor="ctr" lIns="0" rIns="0" tIns="0" bIns="0">
            <a:norm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50" b="1">
                <a:solidFill>
                  <a:srgbClr val="A96B00"/>
                </a:solidFill>
                <a:latin typeface="Noto Sans CJK TC"/>
              </a:rPr>
              <a:t>OpenClaw Assistant</a:t>
            </a:r>
          </a:p>
        </p:txBody>
      </p:sp>
      <p:sp>
        <p:nvSpPr>
          <p:cNvPr id="71" name="TextBox 70"/>
          <p:cNvSpPr txBox="1"/>
          <p:nvPr/>
        </p:nvSpPr>
        <p:spPr>
          <a:xfrm>
            <a:off x="8412480" y="4983479"/>
            <a:ext cx="3072384" cy="384048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10" b="0">
                <a:solidFill>
                  <a:srgbClr val="52677A"/>
                </a:solidFill>
                <a:latin typeface="Noto Sans CJK TC"/>
              </a:rPr>
              <a:t>WebSocket 串流、工具能力與 KB 引用補強</a:t>
            </a:r>
          </a:p>
        </p:txBody>
      </p:sp>
      <p:sp>
        <p:nvSpPr>
          <p:cNvPr id="72" name="Rounded Rectangle 71"/>
          <p:cNvSpPr/>
          <p:nvPr/>
        </p:nvSpPr>
        <p:spPr>
          <a:xfrm>
            <a:off x="502920" y="5687568"/>
            <a:ext cx="11128248" cy="512064"/>
          </a:xfrm>
          <a:prstGeom prst="roundRect">
            <a:avLst/>
          </a:prstGeom>
          <a:solidFill>
            <a:srgbClr val="FDECEC"/>
          </a:solidFill>
          <a:ln w="12700">
            <a:solidFill>
              <a:srgbClr val="F3CAC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3" name="Rounded Rectangle 72"/>
          <p:cNvSpPr/>
          <p:nvPr/>
        </p:nvSpPr>
        <p:spPr>
          <a:xfrm>
            <a:off x="658368" y="5815584"/>
            <a:ext cx="950976" cy="246888"/>
          </a:xfrm>
          <a:prstGeom prst="roundRect">
            <a:avLst/>
          </a:prstGeom>
          <a:solidFill>
            <a:srgbClr val="D94F4F"/>
          </a:solidFill>
          <a:ln w="12700">
            <a:solidFill>
              <a:srgbClr val="D94F4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50800" rIns="50800" tIns="0" bIns="0"/>
          <a:lstStyle/>
          <a:p>
            <a:pPr algn="ctr"/>
            <a:r>
              <a:rPr sz="740" b="1">
                <a:solidFill>
                  <a:srgbClr val="FFFFFF"/>
                </a:solidFill>
                <a:latin typeface="Noto Sans CJK TC"/>
              </a:rPr>
              <a:t>GUARDRAIL</a:t>
            </a:r>
          </a:p>
        </p:txBody>
      </p:sp>
      <p:sp>
        <p:nvSpPr>
          <p:cNvPr id="74" name="TextBox 73"/>
          <p:cNvSpPr txBox="1"/>
          <p:nvPr/>
        </p:nvSpPr>
        <p:spPr>
          <a:xfrm>
            <a:off x="1783080" y="5788152"/>
            <a:ext cx="9582912" cy="237744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50" b="1">
                <a:solidFill>
                  <a:srgbClr val="162B3D"/>
                </a:solidFill>
                <a:latin typeface="Noto Sans CJK TC"/>
              </a:rPr>
              <a:t>找到來源時不得誤稱『查無資料』；片段不足需明確說明限制，並保留來源、引用與 deterministic excerpt fallback。</a:t>
            </a:r>
          </a:p>
        </p:txBody>
      </p:sp>
      <p:sp>
        <p:nvSpPr>
          <p:cNvPr id="75" name="Rectangle 74"/>
          <p:cNvSpPr/>
          <p:nvPr/>
        </p:nvSpPr>
        <p:spPr>
          <a:xfrm>
            <a:off x="475488" y="6391656"/>
            <a:ext cx="11137392" cy="9144"/>
          </a:xfrm>
          <a:prstGeom prst="rect">
            <a:avLst/>
          </a:prstGeom>
          <a:solidFill>
            <a:srgbClr val="D5DE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6" name="TextBox 75"/>
          <p:cNvSpPr txBox="1"/>
          <p:nvPr/>
        </p:nvSpPr>
        <p:spPr>
          <a:xfrm>
            <a:off x="475488" y="6473952"/>
            <a:ext cx="8229600" cy="173736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19" b="1">
                <a:solidFill>
                  <a:srgbClr val="52677A"/>
                </a:solidFill>
                <a:latin typeface="Noto Sans CJK TC"/>
              </a:rPr>
              <a:t>報告重點｜核心差異化在於多路召回後的業務重排與引用封裝，而不是單純把問題交給 LLM。</a:t>
            </a:r>
          </a:p>
        </p:txBody>
      </p:sp>
      <p:sp>
        <p:nvSpPr>
          <p:cNvPr id="77" name="TextBox 76"/>
          <p:cNvSpPr txBox="1"/>
          <p:nvPr/>
        </p:nvSpPr>
        <p:spPr>
          <a:xfrm>
            <a:off x="8887968" y="6473952"/>
            <a:ext cx="2724912" cy="173736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700" b="0">
                <a:solidFill>
                  <a:srgbClr val="71859A"/>
                </a:solidFill>
                <a:latin typeface="Noto Sans CJK TC"/>
              </a:rPr>
              <a:t>Current-state architecture · 2026.07.17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2F6F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164592" y="0"/>
            <a:ext cx="12027103" cy="73152"/>
          </a:xfrm>
          <a:prstGeom prst="rect">
            <a:avLst/>
          </a:prstGeom>
          <a:solidFill>
            <a:srgbClr val="0B1F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75488" y="256032"/>
            <a:ext cx="5303520" cy="164592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80" b="1">
                <a:solidFill>
                  <a:srgbClr val="2F6FED"/>
                </a:solidFill>
                <a:latin typeface="Noto Sans CJK TC"/>
              </a:rPr>
              <a:t>06 · DATA ARCHITECTURE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75488" y="475488"/>
            <a:ext cx="9875520" cy="420624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300" b="1">
                <a:solidFill>
                  <a:srgbClr val="0B1F33"/>
                </a:solidFill>
                <a:latin typeface="Noto Serif CJK TC"/>
              </a:rPr>
              <a:t>資料、狀態與知識資產的責任邊界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84632" y="914400"/>
            <a:ext cx="10332720" cy="256032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50" b="0">
                <a:solidFill>
                  <a:srgbClr val="52677A"/>
                </a:solidFill>
                <a:latin typeface="Noto Sans CJK TC"/>
              </a:rPr>
              <a:t>不同儲存層各自承擔文件生命週期、語意召回、關聯查詢、短期狀態與 AI runtime，不以單一資料庫包辦所有需求。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10908792" y="329184"/>
            <a:ext cx="713232" cy="310896"/>
          </a:xfrm>
          <a:prstGeom prst="roundRect">
            <a:avLst/>
          </a:prstGeom>
          <a:solidFill>
            <a:srgbClr val="0B1F33"/>
          </a:solidFill>
          <a:ln w="12700">
            <a:solidFill>
              <a:srgbClr val="0B1F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50800" rIns="50800" tIns="0" bIns="0"/>
          <a:lstStyle/>
          <a:p>
            <a:pPr algn="ctr"/>
            <a:r>
              <a:rPr sz="950" b="1">
                <a:solidFill>
                  <a:srgbClr val="FFFFFF"/>
                </a:solidFill>
                <a:latin typeface="Noto Sans CJK TC"/>
              </a:rPr>
              <a:t>07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38912" y="1408176"/>
            <a:ext cx="2194560" cy="38404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5DE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ounded Rectangle 9"/>
          <p:cNvSpPr/>
          <p:nvPr/>
        </p:nvSpPr>
        <p:spPr>
          <a:xfrm>
            <a:off x="438912" y="1408176"/>
            <a:ext cx="2194560" cy="749808"/>
          </a:xfrm>
          <a:prstGeom prst="roundRect">
            <a:avLst/>
          </a:prstGeom>
          <a:solidFill>
            <a:srgbClr val="2F6F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ounded Rectangle 10"/>
          <p:cNvSpPr/>
          <p:nvPr/>
        </p:nvSpPr>
        <p:spPr>
          <a:xfrm>
            <a:off x="585216" y="1572768"/>
            <a:ext cx="384048" cy="384048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585216" y="1572768"/>
            <a:ext cx="384048" cy="384048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00" b="1">
                <a:solidFill>
                  <a:srgbClr val="2F6FED"/>
                </a:solidFill>
                <a:latin typeface="Noto Sans CJK TC"/>
              </a:rPr>
              <a:t>FS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78992" y="1499616"/>
            <a:ext cx="1389888" cy="201168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1">
                <a:solidFill>
                  <a:srgbClr val="FFFFFF"/>
                </a:solidFill>
                <a:latin typeface="Noto Sans CJK TC"/>
              </a:rPr>
              <a:t>FILE STORE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078992" y="1764792"/>
            <a:ext cx="1389888" cy="164592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730" b="0">
                <a:solidFill>
                  <a:srgbClr val="FFFFFF"/>
                </a:solidFill>
                <a:latin typeface="Noto Sans CJK TC"/>
              </a:rPr>
              <a:t>原始資料與可回溯資產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03503" y="2423160"/>
            <a:ext cx="82296" cy="82296"/>
          </a:xfrm>
          <a:prstGeom prst="roundRect">
            <a:avLst/>
          </a:prstGeom>
          <a:solidFill>
            <a:srgbClr val="2F6F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768096" y="2368296"/>
            <a:ext cx="1682496" cy="310896"/>
          </a:xfrm>
          <a:prstGeom prst="rect">
            <a:avLst/>
          </a:prstGeom>
          <a:noFill/>
        </p:spPr>
        <p:txBody>
          <a:bodyPr wrap="square" anchor="ctr" lIns="0" rIns="0" tIns="0" bIns="0">
            <a:norm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30" b="0">
                <a:solidFill>
                  <a:srgbClr val="52677A"/>
                </a:solidFill>
                <a:latin typeface="Noto Sans CJK TC"/>
              </a:rPr>
              <a:t>raw / watch / uploads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03503" y="2990088"/>
            <a:ext cx="82296" cy="82296"/>
          </a:xfrm>
          <a:prstGeom prst="roundRect">
            <a:avLst/>
          </a:prstGeom>
          <a:solidFill>
            <a:srgbClr val="2F6F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768096" y="2935224"/>
            <a:ext cx="1682496" cy="310896"/>
          </a:xfrm>
          <a:prstGeom prst="rect">
            <a:avLst/>
          </a:prstGeom>
          <a:noFill/>
        </p:spPr>
        <p:txBody>
          <a:bodyPr wrap="square" anchor="ctr" lIns="0" rIns="0" tIns="0" bIns="0">
            <a:norm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30" b="0">
                <a:solidFill>
                  <a:srgbClr val="52677A"/>
                </a:solidFill>
                <a:latin typeface="Noto Sans CJK TC"/>
              </a:rPr>
              <a:t>processed Markdown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603503" y="3557016"/>
            <a:ext cx="82296" cy="82296"/>
          </a:xfrm>
          <a:prstGeom prst="roundRect">
            <a:avLst/>
          </a:prstGeom>
          <a:solidFill>
            <a:srgbClr val="2F6F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768096" y="3502152"/>
            <a:ext cx="1682496" cy="310896"/>
          </a:xfrm>
          <a:prstGeom prst="rect">
            <a:avLst/>
          </a:prstGeom>
          <a:noFill/>
        </p:spPr>
        <p:txBody>
          <a:bodyPr wrap="square" anchor="ctr" lIns="0" rIns="0" tIns="0" bIns="0">
            <a:norm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30" b="0">
                <a:solidFill>
                  <a:srgbClr val="52677A"/>
                </a:solidFill>
                <a:latin typeface="Noto Sans CJK TC"/>
              </a:rPr>
              <a:t>PDF/Excel 圖片與頁面快照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603503" y="4123944"/>
            <a:ext cx="82296" cy="82296"/>
          </a:xfrm>
          <a:prstGeom prst="roundRect">
            <a:avLst/>
          </a:prstGeom>
          <a:solidFill>
            <a:srgbClr val="2F6F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768096" y="4069080"/>
            <a:ext cx="1682496" cy="310896"/>
          </a:xfrm>
          <a:prstGeom prst="rect">
            <a:avLst/>
          </a:prstGeom>
          <a:noFill/>
        </p:spPr>
        <p:txBody>
          <a:bodyPr wrap="square" anchor="ctr" lIns="0" rIns="0" tIns="0" bIns="0">
            <a:norm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30" b="0">
                <a:solidFill>
                  <a:srgbClr val="52677A"/>
                </a:solidFill>
                <a:latin typeface="Noto Sans CJK TC"/>
              </a:rPr>
              <a:t>source.json / chunk versions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2706624" y="1408176"/>
            <a:ext cx="2194560" cy="38404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5DE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ounded Rectangle 23"/>
          <p:cNvSpPr/>
          <p:nvPr/>
        </p:nvSpPr>
        <p:spPr>
          <a:xfrm>
            <a:off x="2706624" y="1408176"/>
            <a:ext cx="2194560" cy="749808"/>
          </a:xfrm>
          <a:prstGeom prst="roundRect">
            <a:avLst/>
          </a:prstGeom>
          <a:solidFill>
            <a:srgbClr val="5B8DE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ounded Rectangle 24"/>
          <p:cNvSpPr/>
          <p:nvPr/>
        </p:nvSpPr>
        <p:spPr>
          <a:xfrm>
            <a:off x="2852928" y="1572768"/>
            <a:ext cx="384048" cy="384048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2852928" y="1572768"/>
            <a:ext cx="384048" cy="384048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00" b="1">
                <a:solidFill>
                  <a:srgbClr val="5B8DEF"/>
                </a:solidFill>
                <a:latin typeface="Noto Sans CJK TC"/>
              </a:rPr>
              <a:t>QD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3346704" y="1499616"/>
            <a:ext cx="1389888" cy="201168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1">
                <a:solidFill>
                  <a:srgbClr val="FFFFFF"/>
                </a:solidFill>
                <a:latin typeface="Noto Sans CJK TC"/>
              </a:rPr>
              <a:t>QDRANT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3346704" y="1764792"/>
            <a:ext cx="1389888" cy="164592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730" b="0">
                <a:solidFill>
                  <a:srgbClr val="FFFFFF"/>
                </a:solidFill>
                <a:latin typeface="Noto Sans CJK TC"/>
              </a:rPr>
              <a:t>語意內容索引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2871216" y="2423160"/>
            <a:ext cx="82296" cy="82296"/>
          </a:xfrm>
          <a:prstGeom prst="roundRect">
            <a:avLst/>
          </a:prstGeom>
          <a:solidFill>
            <a:srgbClr val="5B8DE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3035808" y="2368296"/>
            <a:ext cx="1682496" cy="310896"/>
          </a:xfrm>
          <a:prstGeom prst="rect">
            <a:avLst/>
          </a:prstGeom>
          <a:noFill/>
        </p:spPr>
        <p:txBody>
          <a:bodyPr wrap="square" anchor="ctr" lIns="0" rIns="0" tIns="0" bIns="0">
            <a:norm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30" b="0">
                <a:solidFill>
                  <a:srgbClr val="52677A"/>
                </a:solidFill>
                <a:latin typeface="Noto Sans CJK TC"/>
              </a:rPr>
              <a:t>collection: knowledge_base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2871216" y="2990088"/>
            <a:ext cx="82296" cy="82296"/>
          </a:xfrm>
          <a:prstGeom prst="roundRect">
            <a:avLst/>
          </a:prstGeom>
          <a:solidFill>
            <a:srgbClr val="5B8DE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3035808" y="2935224"/>
            <a:ext cx="1682496" cy="310896"/>
          </a:xfrm>
          <a:prstGeom prst="rect">
            <a:avLst/>
          </a:prstGeom>
          <a:noFill/>
        </p:spPr>
        <p:txBody>
          <a:bodyPr wrap="square" anchor="ctr" lIns="0" rIns="0" tIns="0" bIns="0">
            <a:norm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30" b="0">
                <a:solidFill>
                  <a:srgbClr val="52677A"/>
                </a:solidFill>
                <a:latin typeface="Noto Sans CJK TC"/>
              </a:rPr>
              <a:t>768D BGE embeddings</a:t>
            </a:r>
          </a:p>
        </p:txBody>
      </p:sp>
      <p:sp>
        <p:nvSpPr>
          <p:cNvPr id="33" name="Rounded Rectangle 32"/>
          <p:cNvSpPr/>
          <p:nvPr/>
        </p:nvSpPr>
        <p:spPr>
          <a:xfrm>
            <a:off x="2871216" y="3557016"/>
            <a:ext cx="82296" cy="82296"/>
          </a:xfrm>
          <a:prstGeom prst="roundRect">
            <a:avLst/>
          </a:prstGeom>
          <a:solidFill>
            <a:srgbClr val="5B8DE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3035808" y="3502152"/>
            <a:ext cx="1682496" cy="310896"/>
          </a:xfrm>
          <a:prstGeom prst="rect">
            <a:avLst/>
          </a:prstGeom>
          <a:noFill/>
        </p:spPr>
        <p:txBody>
          <a:bodyPr wrap="square" anchor="ctr" lIns="0" rIns="0" tIns="0" bIns="0">
            <a:norm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30" b="0">
                <a:solidFill>
                  <a:srgbClr val="52677A"/>
                </a:solidFill>
                <a:latin typeface="Noto Sans CJK TC"/>
              </a:rPr>
              <a:t>chunk content + doc metadata</a:t>
            </a:r>
          </a:p>
        </p:txBody>
      </p:sp>
      <p:sp>
        <p:nvSpPr>
          <p:cNvPr id="35" name="Rounded Rectangle 34"/>
          <p:cNvSpPr/>
          <p:nvPr/>
        </p:nvSpPr>
        <p:spPr>
          <a:xfrm>
            <a:off x="2871216" y="4123944"/>
            <a:ext cx="82296" cy="82296"/>
          </a:xfrm>
          <a:prstGeom prst="roundRect">
            <a:avLst/>
          </a:prstGeom>
          <a:solidFill>
            <a:srgbClr val="5B8DE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3035808" y="4069080"/>
            <a:ext cx="1682496" cy="310896"/>
          </a:xfrm>
          <a:prstGeom prst="rect">
            <a:avLst/>
          </a:prstGeom>
          <a:noFill/>
        </p:spPr>
        <p:txBody>
          <a:bodyPr wrap="square" anchor="ctr" lIns="0" rIns="0" tIns="0" bIns="0">
            <a:norm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30" b="0">
                <a:solidFill>
                  <a:srgbClr val="52677A"/>
                </a:solidFill>
                <a:latin typeface="Noto Sans CJK TC"/>
              </a:rPr>
              <a:t>Cosine search / doc filter</a:t>
            </a:r>
          </a:p>
        </p:txBody>
      </p:sp>
      <p:sp>
        <p:nvSpPr>
          <p:cNvPr id="37" name="Rounded Rectangle 36"/>
          <p:cNvSpPr/>
          <p:nvPr/>
        </p:nvSpPr>
        <p:spPr>
          <a:xfrm>
            <a:off x="4974336" y="1408176"/>
            <a:ext cx="2194560" cy="38404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5DE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Rounded Rectangle 37"/>
          <p:cNvSpPr/>
          <p:nvPr/>
        </p:nvSpPr>
        <p:spPr>
          <a:xfrm>
            <a:off x="4974336" y="1408176"/>
            <a:ext cx="2194560" cy="749808"/>
          </a:xfrm>
          <a:prstGeom prst="roundRect">
            <a:avLst/>
          </a:prstGeom>
          <a:solidFill>
            <a:srgbClr val="00A6A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Rounded Rectangle 38"/>
          <p:cNvSpPr/>
          <p:nvPr/>
        </p:nvSpPr>
        <p:spPr>
          <a:xfrm>
            <a:off x="5120640" y="1572768"/>
            <a:ext cx="384048" cy="384048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5120640" y="1572768"/>
            <a:ext cx="384048" cy="384048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00" b="1">
                <a:solidFill>
                  <a:srgbClr val="00A6A6"/>
                </a:solidFill>
                <a:latin typeface="Noto Sans CJK TC"/>
              </a:rPr>
              <a:t>N4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5614416" y="1499616"/>
            <a:ext cx="1389888" cy="201168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1">
                <a:solidFill>
                  <a:srgbClr val="FFFFFF"/>
                </a:solidFill>
                <a:latin typeface="Noto Sans CJK TC"/>
              </a:rPr>
              <a:t>NEO4J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5614416" y="1764792"/>
            <a:ext cx="1389888" cy="164592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730" b="0">
                <a:solidFill>
                  <a:srgbClr val="FFFFFF"/>
                </a:solidFill>
                <a:latin typeface="Noto Sans CJK TC"/>
              </a:rPr>
              <a:t>結構化關聯知識</a:t>
            </a:r>
          </a:p>
        </p:txBody>
      </p:sp>
      <p:sp>
        <p:nvSpPr>
          <p:cNvPr id="43" name="Rounded Rectangle 42"/>
          <p:cNvSpPr/>
          <p:nvPr/>
        </p:nvSpPr>
        <p:spPr>
          <a:xfrm>
            <a:off x="5138927" y="2423160"/>
            <a:ext cx="82296" cy="82296"/>
          </a:xfrm>
          <a:prstGeom prst="roundRect">
            <a:avLst/>
          </a:prstGeom>
          <a:solidFill>
            <a:srgbClr val="00A6A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5303520" y="2368296"/>
            <a:ext cx="1682496" cy="310896"/>
          </a:xfrm>
          <a:prstGeom prst="rect">
            <a:avLst/>
          </a:prstGeom>
          <a:noFill/>
        </p:spPr>
        <p:txBody>
          <a:bodyPr wrap="square" anchor="ctr" lIns="0" rIns="0" tIns="0" bIns="0">
            <a:norm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30" b="0">
                <a:solidFill>
                  <a:srgbClr val="52677A"/>
                </a:solidFill>
                <a:latin typeface="Noto Sans CJK TC"/>
              </a:rPr>
              <a:t>Document / Entity</a:t>
            </a:r>
          </a:p>
        </p:txBody>
      </p:sp>
      <p:sp>
        <p:nvSpPr>
          <p:cNvPr id="45" name="Rounded Rectangle 44"/>
          <p:cNvSpPr/>
          <p:nvPr/>
        </p:nvSpPr>
        <p:spPr>
          <a:xfrm>
            <a:off x="5138927" y="2990088"/>
            <a:ext cx="82296" cy="82296"/>
          </a:xfrm>
          <a:prstGeom prst="roundRect">
            <a:avLst/>
          </a:prstGeom>
          <a:solidFill>
            <a:srgbClr val="00A6A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TextBox 45"/>
          <p:cNvSpPr txBox="1"/>
          <p:nvPr/>
        </p:nvSpPr>
        <p:spPr>
          <a:xfrm>
            <a:off x="5303520" y="2935224"/>
            <a:ext cx="1682496" cy="310896"/>
          </a:xfrm>
          <a:prstGeom prst="rect">
            <a:avLst/>
          </a:prstGeom>
          <a:noFill/>
        </p:spPr>
        <p:txBody>
          <a:bodyPr wrap="square" anchor="ctr" lIns="0" rIns="0" tIns="0" bIns="0">
            <a:norm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30" b="0">
                <a:solidFill>
                  <a:srgbClr val="52677A"/>
                </a:solidFill>
                <a:latin typeface="Noto Sans CJK TC"/>
              </a:rPr>
              <a:t>Report / Section</a:t>
            </a:r>
          </a:p>
        </p:txBody>
      </p:sp>
      <p:sp>
        <p:nvSpPr>
          <p:cNvPr id="47" name="Rounded Rectangle 46"/>
          <p:cNvSpPr/>
          <p:nvPr/>
        </p:nvSpPr>
        <p:spPr>
          <a:xfrm>
            <a:off x="5138927" y="3557016"/>
            <a:ext cx="82296" cy="82296"/>
          </a:xfrm>
          <a:prstGeom prst="roundRect">
            <a:avLst/>
          </a:prstGeom>
          <a:solidFill>
            <a:srgbClr val="00A6A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TextBox 47"/>
          <p:cNvSpPr txBox="1"/>
          <p:nvPr/>
        </p:nvSpPr>
        <p:spPr>
          <a:xfrm>
            <a:off x="5303520" y="3502152"/>
            <a:ext cx="1682496" cy="310896"/>
          </a:xfrm>
          <a:prstGeom prst="rect">
            <a:avLst/>
          </a:prstGeom>
          <a:noFill/>
        </p:spPr>
        <p:txBody>
          <a:bodyPr wrap="square" anchor="ctr" lIns="0" rIns="0" tIns="0" bIns="0">
            <a:norm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30" b="0">
                <a:solidFill>
                  <a:srgbClr val="52677A"/>
                </a:solidFill>
                <a:latin typeface="Noto Sans CJK TC"/>
              </a:rPr>
              <a:t>TestItem / TestCase / Metric</a:t>
            </a:r>
          </a:p>
        </p:txBody>
      </p:sp>
      <p:sp>
        <p:nvSpPr>
          <p:cNvPr id="49" name="Rounded Rectangle 48"/>
          <p:cNvSpPr/>
          <p:nvPr/>
        </p:nvSpPr>
        <p:spPr>
          <a:xfrm>
            <a:off x="5138927" y="4123944"/>
            <a:ext cx="82296" cy="82296"/>
          </a:xfrm>
          <a:prstGeom prst="roundRect">
            <a:avLst/>
          </a:prstGeom>
          <a:solidFill>
            <a:srgbClr val="00A6A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TextBox 49"/>
          <p:cNvSpPr txBox="1"/>
          <p:nvPr/>
        </p:nvSpPr>
        <p:spPr>
          <a:xfrm>
            <a:off x="5303520" y="4069080"/>
            <a:ext cx="1682496" cy="310896"/>
          </a:xfrm>
          <a:prstGeom prst="rect">
            <a:avLst/>
          </a:prstGeom>
          <a:noFill/>
        </p:spPr>
        <p:txBody>
          <a:bodyPr wrap="square" anchor="ctr" lIns="0" rIns="0" tIns="0" bIns="0">
            <a:norm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30" b="0">
                <a:solidFill>
                  <a:srgbClr val="52677A"/>
                </a:solidFill>
                <a:latin typeface="Noto Sans CJK TC"/>
              </a:rPr>
              <a:t>跨文件關聯與統計</a:t>
            </a:r>
          </a:p>
        </p:txBody>
      </p:sp>
      <p:sp>
        <p:nvSpPr>
          <p:cNvPr id="51" name="Rounded Rectangle 50"/>
          <p:cNvSpPr/>
          <p:nvPr/>
        </p:nvSpPr>
        <p:spPr>
          <a:xfrm>
            <a:off x="7242048" y="1408176"/>
            <a:ext cx="2194560" cy="38404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5DE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" name="Rounded Rectangle 51"/>
          <p:cNvSpPr/>
          <p:nvPr/>
        </p:nvSpPr>
        <p:spPr>
          <a:xfrm>
            <a:off x="7242048" y="1408176"/>
            <a:ext cx="2194560" cy="749808"/>
          </a:xfrm>
          <a:prstGeom prst="roundRect">
            <a:avLst/>
          </a:prstGeom>
          <a:solidFill>
            <a:srgbClr val="A96B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" name="Rounded Rectangle 52"/>
          <p:cNvSpPr/>
          <p:nvPr/>
        </p:nvSpPr>
        <p:spPr>
          <a:xfrm>
            <a:off x="7388352" y="1572768"/>
            <a:ext cx="384048" cy="384048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" name="TextBox 53"/>
          <p:cNvSpPr txBox="1"/>
          <p:nvPr/>
        </p:nvSpPr>
        <p:spPr>
          <a:xfrm>
            <a:off x="7388352" y="1572768"/>
            <a:ext cx="384048" cy="384048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00" b="1">
                <a:solidFill>
                  <a:srgbClr val="A96B00"/>
                </a:solidFill>
                <a:latin typeface="Noto Sans CJK TC"/>
              </a:rPr>
              <a:t>RD</a:t>
            </a:r>
          </a:p>
        </p:txBody>
      </p:sp>
      <p:sp>
        <p:nvSpPr>
          <p:cNvPr id="55" name="TextBox 54"/>
          <p:cNvSpPr txBox="1"/>
          <p:nvPr/>
        </p:nvSpPr>
        <p:spPr>
          <a:xfrm>
            <a:off x="7882127" y="1499616"/>
            <a:ext cx="1389888" cy="201168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1">
                <a:solidFill>
                  <a:srgbClr val="FFFFFF"/>
                </a:solidFill>
                <a:latin typeface="Noto Sans CJK TC"/>
              </a:rPr>
              <a:t>REDIS</a:t>
            </a:r>
          </a:p>
        </p:txBody>
      </p:sp>
      <p:sp>
        <p:nvSpPr>
          <p:cNvPr id="56" name="TextBox 55"/>
          <p:cNvSpPr txBox="1"/>
          <p:nvPr/>
        </p:nvSpPr>
        <p:spPr>
          <a:xfrm>
            <a:off x="7882127" y="1764792"/>
            <a:ext cx="1389888" cy="164592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730" b="0">
                <a:solidFill>
                  <a:srgbClr val="FFFFFF"/>
                </a:solidFill>
                <a:latin typeface="Noto Sans CJK TC"/>
              </a:rPr>
              <a:t>短期任務與協調狀態</a:t>
            </a:r>
          </a:p>
        </p:txBody>
      </p:sp>
      <p:sp>
        <p:nvSpPr>
          <p:cNvPr id="57" name="Rounded Rectangle 56"/>
          <p:cNvSpPr/>
          <p:nvPr/>
        </p:nvSpPr>
        <p:spPr>
          <a:xfrm>
            <a:off x="7406640" y="2423160"/>
            <a:ext cx="82296" cy="82296"/>
          </a:xfrm>
          <a:prstGeom prst="roundRect">
            <a:avLst/>
          </a:prstGeom>
          <a:solidFill>
            <a:srgbClr val="A96B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8" name="TextBox 57"/>
          <p:cNvSpPr txBox="1"/>
          <p:nvPr/>
        </p:nvSpPr>
        <p:spPr>
          <a:xfrm>
            <a:off x="7571231" y="2368296"/>
            <a:ext cx="1682496" cy="310896"/>
          </a:xfrm>
          <a:prstGeom prst="rect">
            <a:avLst/>
          </a:prstGeom>
          <a:noFill/>
        </p:spPr>
        <p:txBody>
          <a:bodyPr wrap="square" anchor="ctr" lIns="0" rIns="0" tIns="0" bIns="0">
            <a:norm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30" b="0">
                <a:solidFill>
                  <a:srgbClr val="52677A"/>
                </a:solidFill>
                <a:latin typeface="Noto Sans CJK TC"/>
              </a:rPr>
              <a:t>Celery broker / result backend</a:t>
            </a:r>
          </a:p>
        </p:txBody>
      </p:sp>
      <p:sp>
        <p:nvSpPr>
          <p:cNvPr id="59" name="Rounded Rectangle 58"/>
          <p:cNvSpPr/>
          <p:nvPr/>
        </p:nvSpPr>
        <p:spPr>
          <a:xfrm>
            <a:off x="7406640" y="2990088"/>
            <a:ext cx="82296" cy="82296"/>
          </a:xfrm>
          <a:prstGeom prst="roundRect">
            <a:avLst/>
          </a:prstGeom>
          <a:solidFill>
            <a:srgbClr val="A96B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0" name="TextBox 59"/>
          <p:cNvSpPr txBox="1"/>
          <p:nvPr/>
        </p:nvSpPr>
        <p:spPr>
          <a:xfrm>
            <a:off x="7571231" y="2935224"/>
            <a:ext cx="1682496" cy="310896"/>
          </a:xfrm>
          <a:prstGeom prst="rect">
            <a:avLst/>
          </a:prstGeom>
          <a:noFill/>
        </p:spPr>
        <p:txBody>
          <a:bodyPr wrap="square" anchor="ctr" lIns="0" rIns="0" tIns="0" bIns="0">
            <a:norm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30" b="0">
                <a:solidFill>
                  <a:srgbClr val="52677A"/>
                </a:solidFill>
                <a:latin typeface="Noto Sans CJK TC"/>
              </a:rPr>
              <a:t>搜尋與 ingest task state</a:t>
            </a:r>
          </a:p>
        </p:txBody>
      </p:sp>
      <p:sp>
        <p:nvSpPr>
          <p:cNvPr id="61" name="Rounded Rectangle 60"/>
          <p:cNvSpPr/>
          <p:nvPr/>
        </p:nvSpPr>
        <p:spPr>
          <a:xfrm>
            <a:off x="7406640" y="3557016"/>
            <a:ext cx="82296" cy="82296"/>
          </a:xfrm>
          <a:prstGeom prst="roundRect">
            <a:avLst/>
          </a:prstGeom>
          <a:solidFill>
            <a:srgbClr val="A96B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2" name="TextBox 61"/>
          <p:cNvSpPr txBox="1"/>
          <p:nvPr/>
        </p:nvSpPr>
        <p:spPr>
          <a:xfrm>
            <a:off x="7571231" y="3502152"/>
            <a:ext cx="1682496" cy="310896"/>
          </a:xfrm>
          <a:prstGeom prst="rect">
            <a:avLst/>
          </a:prstGeom>
          <a:noFill/>
        </p:spPr>
        <p:txBody>
          <a:bodyPr wrap="square" anchor="ctr" lIns="0" rIns="0" tIns="0" bIns="0">
            <a:norm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30" b="0">
                <a:solidFill>
                  <a:srgbClr val="52677A"/>
                </a:solidFill>
                <a:latin typeface="Noto Sans CJK TC"/>
              </a:rPr>
              <a:t>cache / queue / locks</a:t>
            </a:r>
          </a:p>
        </p:txBody>
      </p:sp>
      <p:sp>
        <p:nvSpPr>
          <p:cNvPr id="63" name="Rounded Rectangle 62"/>
          <p:cNvSpPr/>
          <p:nvPr/>
        </p:nvSpPr>
        <p:spPr>
          <a:xfrm>
            <a:off x="7406640" y="4123944"/>
            <a:ext cx="82296" cy="82296"/>
          </a:xfrm>
          <a:prstGeom prst="roundRect">
            <a:avLst/>
          </a:prstGeom>
          <a:solidFill>
            <a:srgbClr val="A96B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4" name="TextBox 63"/>
          <p:cNvSpPr txBox="1"/>
          <p:nvPr/>
        </p:nvSpPr>
        <p:spPr>
          <a:xfrm>
            <a:off x="7571231" y="4069080"/>
            <a:ext cx="1682496" cy="310896"/>
          </a:xfrm>
          <a:prstGeom prst="rect">
            <a:avLst/>
          </a:prstGeom>
          <a:noFill/>
        </p:spPr>
        <p:txBody>
          <a:bodyPr wrap="square" anchor="ctr" lIns="0" rIns="0" tIns="0" bIns="0">
            <a:norm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30" b="0">
                <a:solidFill>
                  <a:srgbClr val="52677A"/>
                </a:solidFill>
                <a:latin typeface="Noto Sans CJK TC"/>
              </a:rPr>
              <a:t>TTL 與 active slot</a:t>
            </a:r>
          </a:p>
        </p:txBody>
      </p:sp>
      <p:sp>
        <p:nvSpPr>
          <p:cNvPr id="65" name="Rounded Rectangle 64"/>
          <p:cNvSpPr/>
          <p:nvPr/>
        </p:nvSpPr>
        <p:spPr>
          <a:xfrm>
            <a:off x="9509760" y="1408176"/>
            <a:ext cx="2194560" cy="38404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5DE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6" name="Rounded Rectangle 65"/>
          <p:cNvSpPr/>
          <p:nvPr/>
        </p:nvSpPr>
        <p:spPr>
          <a:xfrm>
            <a:off x="9509760" y="1408176"/>
            <a:ext cx="2194560" cy="749808"/>
          </a:xfrm>
          <a:prstGeom prst="roundRect">
            <a:avLst/>
          </a:prstGeom>
          <a:solidFill>
            <a:srgbClr val="2E9D6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7" name="Rounded Rectangle 66"/>
          <p:cNvSpPr/>
          <p:nvPr/>
        </p:nvSpPr>
        <p:spPr>
          <a:xfrm>
            <a:off x="9656064" y="1572768"/>
            <a:ext cx="384048" cy="384048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8" name="TextBox 67"/>
          <p:cNvSpPr txBox="1"/>
          <p:nvPr/>
        </p:nvSpPr>
        <p:spPr>
          <a:xfrm>
            <a:off x="9656064" y="1572768"/>
            <a:ext cx="384048" cy="384048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00" b="1">
                <a:solidFill>
                  <a:srgbClr val="2E9D68"/>
                </a:solidFill>
                <a:latin typeface="Noto Sans CJK TC"/>
              </a:rPr>
              <a:t>OC</a:t>
            </a:r>
          </a:p>
        </p:txBody>
      </p:sp>
      <p:sp>
        <p:nvSpPr>
          <p:cNvPr id="69" name="TextBox 68"/>
          <p:cNvSpPr txBox="1"/>
          <p:nvPr/>
        </p:nvSpPr>
        <p:spPr>
          <a:xfrm>
            <a:off x="10149840" y="1499616"/>
            <a:ext cx="1389888" cy="201168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1">
                <a:solidFill>
                  <a:srgbClr val="FFFFFF"/>
                </a:solidFill>
                <a:latin typeface="Noto Sans CJK TC"/>
              </a:rPr>
              <a:t>OPENCLAW</a:t>
            </a:r>
          </a:p>
        </p:txBody>
      </p:sp>
      <p:sp>
        <p:nvSpPr>
          <p:cNvPr id="70" name="TextBox 69"/>
          <p:cNvSpPr txBox="1"/>
          <p:nvPr/>
        </p:nvSpPr>
        <p:spPr>
          <a:xfrm>
            <a:off x="10149840" y="1764792"/>
            <a:ext cx="1389888" cy="164592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730" b="0">
                <a:solidFill>
                  <a:srgbClr val="FFFFFF"/>
                </a:solidFill>
                <a:latin typeface="Noto Sans CJK TC"/>
              </a:rPr>
              <a:t>AI 助理 runtime</a:t>
            </a:r>
          </a:p>
        </p:txBody>
      </p:sp>
      <p:sp>
        <p:nvSpPr>
          <p:cNvPr id="71" name="Rounded Rectangle 70"/>
          <p:cNvSpPr/>
          <p:nvPr/>
        </p:nvSpPr>
        <p:spPr>
          <a:xfrm>
            <a:off x="9674352" y="2423160"/>
            <a:ext cx="82296" cy="82296"/>
          </a:xfrm>
          <a:prstGeom prst="roundRect">
            <a:avLst/>
          </a:prstGeom>
          <a:solidFill>
            <a:srgbClr val="2E9D6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2" name="TextBox 71"/>
          <p:cNvSpPr txBox="1"/>
          <p:nvPr/>
        </p:nvSpPr>
        <p:spPr>
          <a:xfrm>
            <a:off x="9838944" y="2368296"/>
            <a:ext cx="1682496" cy="310896"/>
          </a:xfrm>
          <a:prstGeom prst="rect">
            <a:avLst/>
          </a:prstGeom>
          <a:noFill/>
        </p:spPr>
        <p:txBody>
          <a:bodyPr wrap="square" anchor="ctr" lIns="0" rIns="0" tIns="0" bIns="0">
            <a:norm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30" b="0">
                <a:solidFill>
                  <a:srgbClr val="52677A"/>
                </a:solidFill>
                <a:latin typeface="Noto Sans CJK TC"/>
              </a:rPr>
              <a:t>identity / device auth</a:t>
            </a:r>
          </a:p>
        </p:txBody>
      </p:sp>
      <p:sp>
        <p:nvSpPr>
          <p:cNvPr id="73" name="Rounded Rectangle 72"/>
          <p:cNvSpPr/>
          <p:nvPr/>
        </p:nvSpPr>
        <p:spPr>
          <a:xfrm>
            <a:off x="9674352" y="2990088"/>
            <a:ext cx="82296" cy="82296"/>
          </a:xfrm>
          <a:prstGeom prst="roundRect">
            <a:avLst/>
          </a:prstGeom>
          <a:solidFill>
            <a:srgbClr val="2E9D6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4" name="TextBox 73"/>
          <p:cNvSpPr txBox="1"/>
          <p:nvPr/>
        </p:nvSpPr>
        <p:spPr>
          <a:xfrm>
            <a:off x="9838944" y="2935224"/>
            <a:ext cx="1682496" cy="310896"/>
          </a:xfrm>
          <a:prstGeom prst="rect">
            <a:avLst/>
          </a:prstGeom>
          <a:noFill/>
        </p:spPr>
        <p:txBody>
          <a:bodyPr wrap="square" anchor="ctr" lIns="0" rIns="0" tIns="0" bIns="0">
            <a:norm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30" b="0">
                <a:solidFill>
                  <a:srgbClr val="52677A"/>
                </a:solidFill>
                <a:latin typeface="Noto Sans CJK TC"/>
              </a:rPr>
              <a:t>workspace / memory</a:t>
            </a:r>
          </a:p>
        </p:txBody>
      </p:sp>
      <p:sp>
        <p:nvSpPr>
          <p:cNvPr id="75" name="Rounded Rectangle 74"/>
          <p:cNvSpPr/>
          <p:nvPr/>
        </p:nvSpPr>
        <p:spPr>
          <a:xfrm>
            <a:off x="9674352" y="3557016"/>
            <a:ext cx="82296" cy="82296"/>
          </a:xfrm>
          <a:prstGeom prst="roundRect">
            <a:avLst/>
          </a:prstGeom>
          <a:solidFill>
            <a:srgbClr val="2E9D6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6" name="TextBox 75"/>
          <p:cNvSpPr txBox="1"/>
          <p:nvPr/>
        </p:nvSpPr>
        <p:spPr>
          <a:xfrm>
            <a:off x="9838944" y="3502152"/>
            <a:ext cx="1682496" cy="310896"/>
          </a:xfrm>
          <a:prstGeom prst="rect">
            <a:avLst/>
          </a:prstGeom>
          <a:noFill/>
        </p:spPr>
        <p:txBody>
          <a:bodyPr wrap="square" anchor="ctr" lIns="0" rIns="0" tIns="0" bIns="0">
            <a:norm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30" b="0">
                <a:solidFill>
                  <a:srgbClr val="52677A"/>
                </a:solidFill>
                <a:latin typeface="Noto Sans CJK TC"/>
              </a:rPr>
              <a:t>skills files</a:t>
            </a:r>
          </a:p>
        </p:txBody>
      </p:sp>
      <p:sp>
        <p:nvSpPr>
          <p:cNvPr id="77" name="Rounded Rectangle 76"/>
          <p:cNvSpPr/>
          <p:nvPr/>
        </p:nvSpPr>
        <p:spPr>
          <a:xfrm>
            <a:off x="9674352" y="4123944"/>
            <a:ext cx="82296" cy="82296"/>
          </a:xfrm>
          <a:prstGeom prst="roundRect">
            <a:avLst/>
          </a:prstGeom>
          <a:solidFill>
            <a:srgbClr val="2E9D6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8" name="TextBox 77"/>
          <p:cNvSpPr txBox="1"/>
          <p:nvPr/>
        </p:nvSpPr>
        <p:spPr>
          <a:xfrm>
            <a:off x="9838944" y="4069080"/>
            <a:ext cx="1682496" cy="310896"/>
          </a:xfrm>
          <a:prstGeom prst="rect">
            <a:avLst/>
          </a:prstGeom>
          <a:noFill/>
        </p:spPr>
        <p:txBody>
          <a:bodyPr wrap="square" anchor="ctr" lIns="0" rIns="0" tIns="0" bIns="0">
            <a:norm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30" b="0">
                <a:solidFill>
                  <a:srgbClr val="52677A"/>
                </a:solidFill>
                <a:latin typeface="Noto Sans CJK TC"/>
              </a:rPr>
              <a:t>session / gateway config</a:t>
            </a:r>
          </a:p>
        </p:txBody>
      </p:sp>
      <p:sp>
        <p:nvSpPr>
          <p:cNvPr id="79" name="Rounded Rectangle 78"/>
          <p:cNvSpPr/>
          <p:nvPr/>
        </p:nvSpPr>
        <p:spPr>
          <a:xfrm>
            <a:off x="438912" y="5468112"/>
            <a:ext cx="11265408" cy="731520"/>
          </a:xfrm>
          <a:prstGeom prst="roundRect">
            <a:avLst/>
          </a:prstGeom>
          <a:solidFill>
            <a:srgbClr val="0B1F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0" name="Rounded Rectangle 79"/>
          <p:cNvSpPr/>
          <p:nvPr/>
        </p:nvSpPr>
        <p:spPr>
          <a:xfrm>
            <a:off x="658368" y="5650992"/>
            <a:ext cx="841248" cy="246888"/>
          </a:xfrm>
          <a:prstGeom prst="roundRect">
            <a:avLst/>
          </a:prstGeom>
          <a:solidFill>
            <a:srgbClr val="132E46"/>
          </a:solidFill>
          <a:ln w="12700">
            <a:solidFill>
              <a:srgbClr val="31516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50800" rIns="50800" tIns="0" bIns="0"/>
          <a:lstStyle/>
          <a:p>
            <a:pPr algn="ctr"/>
            <a:r>
              <a:rPr sz="710" b="1">
                <a:solidFill>
                  <a:srgbClr val="00A6A6"/>
                </a:solidFill>
                <a:latin typeface="Noto Sans CJK TC"/>
              </a:rPr>
              <a:t>IDENTITY</a:t>
            </a:r>
          </a:p>
        </p:txBody>
      </p:sp>
      <p:sp>
        <p:nvSpPr>
          <p:cNvPr id="81" name="TextBox 80"/>
          <p:cNvSpPr txBox="1"/>
          <p:nvPr/>
        </p:nvSpPr>
        <p:spPr>
          <a:xfrm>
            <a:off x="1645920" y="5577840"/>
            <a:ext cx="2231136" cy="347472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780" b="0">
                <a:solidFill>
                  <a:srgbClr val="FFFFFF"/>
                </a:solidFill>
                <a:latin typeface="Noto Sans CJK TC"/>
              </a:rPr>
              <a:t>doc_name 與 source metadata 串起文件、chunk、圖譜與原始檔</a:t>
            </a:r>
          </a:p>
        </p:txBody>
      </p:sp>
      <p:sp>
        <p:nvSpPr>
          <p:cNvPr id="82" name="Rounded Rectangle 81"/>
          <p:cNvSpPr/>
          <p:nvPr/>
        </p:nvSpPr>
        <p:spPr>
          <a:xfrm>
            <a:off x="4187952" y="5650992"/>
            <a:ext cx="841248" cy="246888"/>
          </a:xfrm>
          <a:prstGeom prst="roundRect">
            <a:avLst/>
          </a:prstGeom>
          <a:solidFill>
            <a:srgbClr val="132E46"/>
          </a:solidFill>
          <a:ln w="12700">
            <a:solidFill>
              <a:srgbClr val="31516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50800" rIns="50800" tIns="0" bIns="0"/>
          <a:lstStyle/>
          <a:p>
            <a:pPr algn="ctr"/>
            <a:r>
              <a:rPr sz="710" b="1">
                <a:solidFill>
                  <a:srgbClr val="00A6A6"/>
                </a:solidFill>
                <a:latin typeface="Noto Sans CJK TC"/>
              </a:rPr>
              <a:t>DURABILITY</a:t>
            </a:r>
          </a:p>
        </p:txBody>
      </p:sp>
      <p:sp>
        <p:nvSpPr>
          <p:cNvPr id="83" name="TextBox 82"/>
          <p:cNvSpPr txBox="1"/>
          <p:nvPr/>
        </p:nvSpPr>
        <p:spPr>
          <a:xfrm>
            <a:off x="5175504" y="5577840"/>
            <a:ext cx="2414016" cy="347472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780" b="0">
                <a:solidFill>
                  <a:srgbClr val="FFFFFF"/>
                </a:solidFill>
                <a:latin typeface="Noto Sans CJK TC"/>
              </a:rPr>
              <a:t>release 以 volumes 保存 Redis / Neo4j / Qdrant，app/data 獨立掛載</a:t>
            </a:r>
          </a:p>
        </p:txBody>
      </p:sp>
      <p:sp>
        <p:nvSpPr>
          <p:cNvPr id="84" name="Rounded Rectangle 83"/>
          <p:cNvSpPr/>
          <p:nvPr/>
        </p:nvSpPr>
        <p:spPr>
          <a:xfrm>
            <a:off x="7900416" y="5650992"/>
            <a:ext cx="841248" cy="246888"/>
          </a:xfrm>
          <a:prstGeom prst="roundRect">
            <a:avLst/>
          </a:prstGeom>
          <a:solidFill>
            <a:srgbClr val="132E46"/>
          </a:solidFill>
          <a:ln w="12700">
            <a:solidFill>
              <a:srgbClr val="31516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50800" rIns="50800" tIns="0" bIns="0"/>
          <a:lstStyle/>
          <a:p>
            <a:pPr algn="ctr"/>
            <a:r>
              <a:rPr sz="710" b="1">
                <a:solidFill>
                  <a:srgbClr val="00A6A6"/>
                </a:solidFill>
                <a:latin typeface="Noto Sans CJK TC"/>
              </a:rPr>
              <a:t>ISOLATION</a:t>
            </a:r>
          </a:p>
        </p:txBody>
      </p:sp>
      <p:sp>
        <p:nvSpPr>
          <p:cNvPr id="85" name="TextBox 84"/>
          <p:cNvSpPr txBox="1"/>
          <p:nvPr/>
        </p:nvSpPr>
        <p:spPr>
          <a:xfrm>
            <a:off x="8887968" y="5577840"/>
            <a:ext cx="2523744" cy="347472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780" b="0">
                <a:solidFill>
                  <a:srgbClr val="FFFFFF"/>
                </a:solidFill>
                <a:latin typeface="Noto Sans CJK TC"/>
              </a:rPr>
              <a:t>目前沒有內建 tenant namespace；跨環境共庫需避免名稱與 point id 衝突</a:t>
            </a:r>
          </a:p>
        </p:txBody>
      </p:sp>
      <p:sp>
        <p:nvSpPr>
          <p:cNvPr id="86" name="Rectangle 85"/>
          <p:cNvSpPr/>
          <p:nvPr/>
        </p:nvSpPr>
        <p:spPr>
          <a:xfrm>
            <a:off x="475488" y="6391656"/>
            <a:ext cx="11137392" cy="9144"/>
          </a:xfrm>
          <a:prstGeom prst="rect">
            <a:avLst/>
          </a:prstGeom>
          <a:solidFill>
            <a:srgbClr val="D5DE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7" name="TextBox 86"/>
          <p:cNvSpPr txBox="1"/>
          <p:nvPr/>
        </p:nvSpPr>
        <p:spPr>
          <a:xfrm>
            <a:off x="475488" y="6473952"/>
            <a:ext cx="8229600" cy="173736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19" b="1">
                <a:solidFill>
                  <a:srgbClr val="52677A"/>
                </a:solidFill>
                <a:latin typeface="Noto Sans CJK TC"/>
              </a:rPr>
              <a:t>報告重點｜Qdrant、Neo4j 與檔案系統是互補資產；Redis 是可淘汰狀態，OpenClaw runtime 則屬於獨立的 AI 執行邊界。</a:t>
            </a:r>
          </a:p>
        </p:txBody>
      </p:sp>
      <p:sp>
        <p:nvSpPr>
          <p:cNvPr id="88" name="TextBox 87"/>
          <p:cNvSpPr txBox="1"/>
          <p:nvPr/>
        </p:nvSpPr>
        <p:spPr>
          <a:xfrm>
            <a:off x="8887968" y="6473952"/>
            <a:ext cx="2724912" cy="173736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700" b="0">
                <a:solidFill>
                  <a:srgbClr val="71859A"/>
                </a:solidFill>
                <a:latin typeface="Noto Sans CJK TC"/>
              </a:rPr>
              <a:t>Current-state architecture · 2026.07.17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2F6F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164592" y="0"/>
            <a:ext cx="12027103" cy="73152"/>
          </a:xfrm>
          <a:prstGeom prst="rect">
            <a:avLst/>
          </a:prstGeom>
          <a:solidFill>
            <a:srgbClr val="0B1F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75488" y="256032"/>
            <a:ext cx="5303520" cy="164592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80" b="1">
                <a:solidFill>
                  <a:srgbClr val="2F6FED"/>
                </a:solidFill>
                <a:latin typeface="Noto Sans CJK TC"/>
              </a:rPr>
              <a:t>07 · DEPLOYMENT TOPOLOGY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75488" y="475488"/>
            <a:ext cx="9875520" cy="420624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300" b="1">
                <a:solidFill>
                  <a:srgbClr val="0B1F33"/>
                </a:solidFill>
                <a:latin typeface="Noto Serif CJK TC"/>
              </a:rPr>
              <a:t>現行站台與可攜式 on-prem 發行拓撲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84632" y="914400"/>
            <a:ext cx="10332720" cy="256032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50" b="0">
                <a:solidFill>
                  <a:srgbClr val="52677A"/>
                </a:solidFill>
                <a:latin typeface="Noto Sans CJK TC"/>
              </a:rPr>
              <a:t>兩種部署共用同一應用程式，但 Qdrant、資料卷、路徑與端口的封裝方式不同；拓撲必須分開理解。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10908792" y="329184"/>
            <a:ext cx="713232" cy="310896"/>
          </a:xfrm>
          <a:prstGeom prst="roundRect">
            <a:avLst/>
          </a:prstGeom>
          <a:solidFill>
            <a:srgbClr val="0B1F33"/>
          </a:solidFill>
          <a:ln w="12700">
            <a:solidFill>
              <a:srgbClr val="0B1F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50800" rIns="50800" tIns="0" bIns="0"/>
          <a:lstStyle/>
          <a:p>
            <a:pPr algn="ctr"/>
            <a:r>
              <a:rPr sz="950" b="1">
                <a:solidFill>
                  <a:srgbClr val="FFFFFF"/>
                </a:solidFill>
                <a:latin typeface="Noto Sans CJK TC"/>
              </a:rPr>
              <a:t>08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38912" y="1353312"/>
            <a:ext cx="5486400" cy="4782312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5DE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ounded Rectangle 9"/>
          <p:cNvSpPr/>
          <p:nvPr/>
        </p:nvSpPr>
        <p:spPr>
          <a:xfrm>
            <a:off x="438912" y="1353312"/>
            <a:ext cx="5486400" cy="475488"/>
          </a:xfrm>
          <a:prstGeom prst="roundRect">
            <a:avLst/>
          </a:prstGeom>
          <a:solidFill>
            <a:srgbClr val="2F6F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40080" y="1490472"/>
            <a:ext cx="5084064" cy="201168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60" b="1">
                <a:solidFill>
                  <a:srgbClr val="FFFFFF"/>
                </a:solidFill>
                <a:latin typeface="Noto Sans CJK TC"/>
              </a:rPr>
              <a:t>CURRENT SITE · 原始站台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40080" y="1975104"/>
            <a:ext cx="1243584" cy="18288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770" b="1">
                <a:solidFill>
                  <a:srgbClr val="2F6FED"/>
                </a:solidFill>
                <a:latin typeface="Noto Sans CJK TC"/>
              </a:rPr>
              <a:t>HOST / EXTERNAL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40080" y="2221992"/>
            <a:ext cx="1563624" cy="329184"/>
          </a:xfrm>
          <a:prstGeom prst="roundRect">
            <a:avLst/>
          </a:prstGeom>
          <a:solidFill>
            <a:srgbClr val="F5F8FB"/>
          </a:solidFill>
          <a:ln w="12700">
            <a:solidFill>
              <a:srgbClr val="D5DE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50800" rIns="50800" tIns="0" bIns="0"/>
          <a:lstStyle/>
          <a:p>
            <a:pPr algn="ctr"/>
            <a:r>
              <a:rPr sz="710" b="1">
                <a:solidFill>
                  <a:srgbClr val="162B3D"/>
                </a:solidFill>
                <a:latin typeface="Noto Sans CJK TC"/>
              </a:rPr>
              <a:t>Host Qdrant :6335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2322576" y="2221992"/>
            <a:ext cx="1563624" cy="329184"/>
          </a:xfrm>
          <a:prstGeom prst="roundRect">
            <a:avLst/>
          </a:prstGeom>
          <a:solidFill>
            <a:srgbClr val="F5F8FB"/>
          </a:solidFill>
          <a:ln w="12700">
            <a:solidFill>
              <a:srgbClr val="D5DE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50800" rIns="50800" tIns="0" bIns="0"/>
          <a:lstStyle/>
          <a:p>
            <a:pPr algn="ctr"/>
            <a:r>
              <a:rPr sz="710" b="1">
                <a:solidFill>
                  <a:srgbClr val="162B3D"/>
                </a:solidFill>
                <a:latin typeface="Noto Sans CJK TC"/>
              </a:rPr>
              <a:t>Host Ollama :11434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4005072" y="2221992"/>
            <a:ext cx="1563624" cy="329184"/>
          </a:xfrm>
          <a:prstGeom prst="roundRect">
            <a:avLst/>
          </a:prstGeom>
          <a:solidFill>
            <a:srgbClr val="F5F8FB"/>
          </a:solidFill>
          <a:ln w="12700">
            <a:solidFill>
              <a:srgbClr val="D5DE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50800" rIns="50800" tIns="0" bIns="0"/>
          <a:lstStyle/>
          <a:p>
            <a:pPr algn="ctr"/>
            <a:r>
              <a:rPr sz="710" b="1">
                <a:solidFill>
                  <a:srgbClr val="162B3D"/>
                </a:solidFill>
                <a:latin typeface="Noto Sans CJK TC"/>
              </a:rPr>
              <a:t>OpenClaw Gateway</a:t>
            </a:r>
          </a:p>
        </p:txBody>
      </p:sp>
      <p:cxnSp>
        <p:nvCxnSpPr>
          <p:cNvPr id="16" name="Connector 15"/>
          <p:cNvCxnSpPr/>
          <p:nvPr/>
        </p:nvCxnSpPr>
        <p:spPr>
          <a:xfrm>
            <a:off x="3182112" y="2596896"/>
            <a:ext cx="0" cy="283464"/>
          </a:xfrm>
          <a:prstGeom prst="line">
            <a:avLst/>
          </a:prstGeom>
          <a:ln w="25400">
            <a:solidFill>
              <a:srgbClr val="2F6FE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7" name="Down Arrow 16"/>
          <p:cNvSpPr/>
          <p:nvPr/>
        </p:nvSpPr>
        <p:spPr>
          <a:xfrm>
            <a:off x="3054096" y="2688336"/>
            <a:ext cx="256032" cy="256032"/>
          </a:xfrm>
          <a:prstGeom prst="downArrow">
            <a:avLst/>
          </a:prstGeom>
          <a:solidFill>
            <a:srgbClr val="2F6F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40080" y="2871216"/>
            <a:ext cx="1481328" cy="18288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770" b="1">
                <a:solidFill>
                  <a:srgbClr val="2F6FED"/>
                </a:solidFill>
                <a:latin typeface="Noto Sans CJK TC"/>
              </a:rPr>
              <a:t>DOCKER COMPOSE BOUNDARY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621792" y="3136392"/>
            <a:ext cx="5120640" cy="1901952"/>
          </a:xfrm>
          <a:prstGeom prst="roundRect">
            <a:avLst/>
          </a:prstGeom>
          <a:solidFill>
            <a:srgbClr val="F5F8FB"/>
          </a:solidFill>
          <a:ln w="17780">
            <a:solidFill>
              <a:srgbClr val="2F6F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ounded Rectangle 19"/>
          <p:cNvSpPr/>
          <p:nvPr/>
        </p:nvSpPr>
        <p:spPr>
          <a:xfrm>
            <a:off x="768096" y="3300984"/>
            <a:ext cx="1133856" cy="658368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5DE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841247" y="3374136"/>
            <a:ext cx="987552" cy="182880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30" b="1">
                <a:solidFill>
                  <a:srgbClr val="0B1F33"/>
                </a:solidFill>
                <a:latin typeface="Noto Sans CJK TC"/>
              </a:rPr>
              <a:t>Nginx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22959" y="3630168"/>
            <a:ext cx="1024128" cy="164592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680" b="0">
                <a:solidFill>
                  <a:srgbClr val="52677A"/>
                </a:solidFill>
                <a:latin typeface="Noto Sans CJK TC"/>
              </a:rPr>
              <a:t>3030 → TLS 443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1993392" y="3300984"/>
            <a:ext cx="1133856" cy="658368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5DE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2066544" y="3374136"/>
            <a:ext cx="987552" cy="182880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30" b="1">
                <a:solidFill>
                  <a:srgbClr val="0B1F33"/>
                </a:solidFill>
                <a:latin typeface="Noto Sans CJK TC"/>
              </a:rPr>
              <a:t>FastAPI Web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2048256" y="3630168"/>
            <a:ext cx="1024128" cy="164592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680" b="0">
                <a:solidFill>
                  <a:srgbClr val="52677A"/>
                </a:solidFill>
                <a:latin typeface="Noto Sans CJK TC"/>
              </a:rPr>
              <a:t>Uvicorn :8000 ×4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3218688" y="3300984"/>
            <a:ext cx="1133856" cy="658368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5DE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3291840" y="3374136"/>
            <a:ext cx="987552" cy="182880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30" b="1">
                <a:solidFill>
                  <a:srgbClr val="0B1F33"/>
                </a:solidFill>
                <a:latin typeface="Noto Sans CJK TC"/>
              </a:rPr>
              <a:t>Redis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3273552" y="3630168"/>
            <a:ext cx="1024128" cy="164592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680" b="0">
                <a:solidFill>
                  <a:srgbClr val="52677A"/>
                </a:solidFill>
                <a:latin typeface="Noto Sans CJK TC"/>
              </a:rPr>
              <a:t>broker / result / cache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4443984" y="3300984"/>
            <a:ext cx="1133856" cy="658368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5DE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4517136" y="3374136"/>
            <a:ext cx="987552" cy="182880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30" b="1">
                <a:solidFill>
                  <a:srgbClr val="0B1F33"/>
                </a:solidFill>
                <a:latin typeface="Noto Sans CJK TC"/>
              </a:rPr>
              <a:t>Neo4j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4498848" y="3630168"/>
            <a:ext cx="1024128" cy="164592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680" b="0">
                <a:solidFill>
                  <a:srgbClr val="52677A"/>
                </a:solidFill>
                <a:latin typeface="Noto Sans CJK TC"/>
              </a:rPr>
              <a:t>container graph DB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768096" y="4096511"/>
            <a:ext cx="1133856" cy="658368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5DE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841247" y="4169663"/>
            <a:ext cx="987552" cy="182880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30" b="1">
                <a:solidFill>
                  <a:srgbClr val="0B1F33"/>
                </a:solidFill>
                <a:latin typeface="Noto Sans CJK TC"/>
              </a:rPr>
              <a:t>Search Worker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822959" y="4425696"/>
            <a:ext cx="1024128" cy="164592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680" b="0">
                <a:solidFill>
                  <a:srgbClr val="52677A"/>
                </a:solidFill>
                <a:latin typeface="Noto Sans CJK TC"/>
              </a:rPr>
              <a:t>Celery queue=search</a:t>
            </a:r>
          </a:p>
        </p:txBody>
      </p:sp>
      <p:sp>
        <p:nvSpPr>
          <p:cNvPr id="35" name="Rounded Rectangle 34"/>
          <p:cNvSpPr/>
          <p:nvPr/>
        </p:nvSpPr>
        <p:spPr>
          <a:xfrm>
            <a:off x="1993392" y="4096511"/>
            <a:ext cx="1133856" cy="658368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5DE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2066544" y="4169663"/>
            <a:ext cx="987552" cy="182880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30" b="1">
                <a:solidFill>
                  <a:srgbClr val="0B1F33"/>
                </a:solidFill>
                <a:latin typeface="Noto Sans CJK TC"/>
              </a:rPr>
              <a:t>Ingest Worker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2048256" y="4425696"/>
            <a:ext cx="1024128" cy="164592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680" b="0">
                <a:solidFill>
                  <a:srgbClr val="52677A"/>
                </a:solidFill>
                <a:latin typeface="Noto Sans CJK TC"/>
              </a:rPr>
              <a:t>Celery queue=ingest</a:t>
            </a:r>
          </a:p>
        </p:txBody>
      </p:sp>
      <p:sp>
        <p:nvSpPr>
          <p:cNvPr id="38" name="Rounded Rectangle 37"/>
          <p:cNvSpPr/>
          <p:nvPr/>
        </p:nvSpPr>
        <p:spPr>
          <a:xfrm>
            <a:off x="3218688" y="4096511"/>
            <a:ext cx="1133856" cy="658368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5DE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3291840" y="4169663"/>
            <a:ext cx="987552" cy="182880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30" b="1">
                <a:solidFill>
                  <a:srgbClr val="0B1F33"/>
                </a:solidFill>
                <a:latin typeface="Noto Sans CJK TC"/>
              </a:rPr>
              <a:t>Celery Beat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3273552" y="4425696"/>
            <a:ext cx="1024128" cy="164592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680" b="0">
                <a:solidFill>
                  <a:srgbClr val="52677A"/>
                </a:solidFill>
                <a:latin typeface="Noto Sans CJK TC"/>
              </a:rPr>
              <a:t>watch scan scheduler</a:t>
            </a:r>
          </a:p>
        </p:txBody>
      </p:sp>
      <p:sp>
        <p:nvSpPr>
          <p:cNvPr id="41" name="Rounded Rectangle 40"/>
          <p:cNvSpPr/>
          <p:nvPr/>
        </p:nvSpPr>
        <p:spPr>
          <a:xfrm>
            <a:off x="640080" y="5266944"/>
            <a:ext cx="1097280" cy="274320"/>
          </a:xfrm>
          <a:prstGeom prst="roundRect">
            <a:avLst/>
          </a:prstGeom>
          <a:solidFill>
            <a:srgbClr val="2F6FED"/>
          </a:solidFill>
          <a:ln w="12700">
            <a:solidFill>
              <a:srgbClr val="2F6F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50800" rIns="50800" tIns="0" bIns="0"/>
          <a:lstStyle/>
          <a:p>
            <a:pPr algn="ctr"/>
            <a:r>
              <a:rPr sz="700" b="1">
                <a:solidFill>
                  <a:srgbClr val="FFFFFF"/>
                </a:solidFill>
                <a:latin typeface="Noto Sans CJK TC"/>
              </a:rPr>
              <a:t>VERIFIED ENTRY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1856232" y="5230368"/>
            <a:ext cx="3767328" cy="347472"/>
          </a:xfrm>
          <a:prstGeom prst="rect">
            <a:avLst/>
          </a:prstGeom>
          <a:noFill/>
        </p:spPr>
        <p:txBody>
          <a:bodyPr wrap="square" anchor="ctr" lIns="0" rIns="0" tIns="0" bIns="0">
            <a:norm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760" b="0">
                <a:solidFill>
                  <a:srgbClr val="52677A"/>
                </a:solidFill>
                <a:latin typeface="Noto Sans CJK TC"/>
              </a:rPr>
              <a:t>https://61.216.9.52:3030/chat.html</a:t>
            </a:r>
          </a:p>
        </p:txBody>
      </p:sp>
      <p:sp>
        <p:nvSpPr>
          <p:cNvPr id="43" name="Rounded Rectangle 42"/>
          <p:cNvSpPr/>
          <p:nvPr/>
        </p:nvSpPr>
        <p:spPr>
          <a:xfrm>
            <a:off x="640080" y="5650992"/>
            <a:ext cx="5074920" cy="292608"/>
          </a:xfrm>
          <a:prstGeom prst="roundRect">
            <a:avLst/>
          </a:prstGeom>
          <a:solidFill>
            <a:srgbClr val="0B1F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749808" y="5696712"/>
            <a:ext cx="4846320" cy="164592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710" b="0">
                <a:solidFill>
                  <a:srgbClr val="FFFFFF"/>
                </a:solidFill>
                <a:latin typeface="Noto Sans CJK TC"/>
              </a:rPr>
              <a:t>bind mounts: config / data / uploads / frontend runtime</a:t>
            </a:r>
          </a:p>
        </p:txBody>
      </p:sp>
      <p:sp>
        <p:nvSpPr>
          <p:cNvPr id="45" name="Rounded Rectangle 44"/>
          <p:cNvSpPr/>
          <p:nvPr/>
        </p:nvSpPr>
        <p:spPr>
          <a:xfrm>
            <a:off x="6217920" y="1353312"/>
            <a:ext cx="5486400" cy="4782312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5DE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Rounded Rectangle 45"/>
          <p:cNvSpPr/>
          <p:nvPr/>
        </p:nvSpPr>
        <p:spPr>
          <a:xfrm>
            <a:off x="6217920" y="1353312"/>
            <a:ext cx="5486400" cy="475488"/>
          </a:xfrm>
          <a:prstGeom prst="roundRect">
            <a:avLst/>
          </a:prstGeom>
          <a:solidFill>
            <a:srgbClr val="00A6A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TextBox 46"/>
          <p:cNvSpPr txBox="1"/>
          <p:nvPr/>
        </p:nvSpPr>
        <p:spPr>
          <a:xfrm>
            <a:off x="6419088" y="1490472"/>
            <a:ext cx="5084064" cy="201168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60" b="1">
                <a:solidFill>
                  <a:srgbClr val="FFFFFF"/>
                </a:solidFill>
                <a:latin typeface="Noto Sans CJK TC"/>
              </a:rPr>
              <a:t>ON-PREM RELEASE · 可攜式發行包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6419088" y="1975104"/>
            <a:ext cx="1243584" cy="18288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770" b="1">
                <a:solidFill>
                  <a:srgbClr val="00A6A6"/>
                </a:solidFill>
                <a:latin typeface="Noto Sans CJK TC"/>
              </a:rPr>
              <a:t>HOST / EXTERNAL</a:t>
            </a:r>
          </a:p>
        </p:txBody>
      </p:sp>
      <p:sp>
        <p:nvSpPr>
          <p:cNvPr id="49" name="Rounded Rectangle 48"/>
          <p:cNvSpPr/>
          <p:nvPr/>
        </p:nvSpPr>
        <p:spPr>
          <a:xfrm>
            <a:off x="6419088" y="2221992"/>
            <a:ext cx="1563624" cy="329184"/>
          </a:xfrm>
          <a:prstGeom prst="roundRect">
            <a:avLst/>
          </a:prstGeom>
          <a:solidFill>
            <a:srgbClr val="F5F8FB"/>
          </a:solidFill>
          <a:ln w="12700">
            <a:solidFill>
              <a:srgbClr val="D5DE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50800" rIns="50800" tIns="0" bIns="0"/>
          <a:lstStyle/>
          <a:p>
            <a:pPr algn="ctr"/>
            <a:r>
              <a:rPr sz="710" b="1">
                <a:solidFill>
                  <a:srgbClr val="162B3D"/>
                </a:solidFill>
                <a:latin typeface="Noto Sans CJK TC"/>
              </a:rPr>
              <a:t>Host Ollama</a:t>
            </a:r>
          </a:p>
        </p:txBody>
      </p:sp>
      <p:sp>
        <p:nvSpPr>
          <p:cNvPr id="50" name="Rounded Rectangle 49"/>
          <p:cNvSpPr/>
          <p:nvPr/>
        </p:nvSpPr>
        <p:spPr>
          <a:xfrm>
            <a:off x="8101583" y="2221992"/>
            <a:ext cx="1563624" cy="329184"/>
          </a:xfrm>
          <a:prstGeom prst="roundRect">
            <a:avLst/>
          </a:prstGeom>
          <a:solidFill>
            <a:srgbClr val="F5F8FB"/>
          </a:solidFill>
          <a:ln w="12700">
            <a:solidFill>
              <a:srgbClr val="D5DE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50800" rIns="50800" tIns="0" bIns="0"/>
          <a:lstStyle/>
          <a:p>
            <a:pPr algn="ctr"/>
            <a:r>
              <a:rPr sz="710" b="1">
                <a:solidFill>
                  <a:srgbClr val="162B3D"/>
                </a:solidFill>
                <a:latin typeface="Noto Sans CJK TC"/>
              </a:rPr>
              <a:t>Host OpenClaw Gateway</a:t>
            </a:r>
          </a:p>
        </p:txBody>
      </p:sp>
      <p:sp>
        <p:nvSpPr>
          <p:cNvPr id="51" name="Rounded Rectangle 50"/>
          <p:cNvSpPr/>
          <p:nvPr/>
        </p:nvSpPr>
        <p:spPr>
          <a:xfrm>
            <a:off x="9784080" y="2221992"/>
            <a:ext cx="1563624" cy="329184"/>
          </a:xfrm>
          <a:prstGeom prst="roundRect">
            <a:avLst/>
          </a:prstGeom>
          <a:solidFill>
            <a:srgbClr val="F5F8FB"/>
          </a:solidFill>
          <a:ln w="12700">
            <a:solidFill>
              <a:srgbClr val="D5DE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50800" rIns="50800" tIns="0" bIns="0"/>
          <a:lstStyle/>
          <a:p>
            <a:pPr algn="ctr"/>
            <a:r>
              <a:rPr sz="710" b="1">
                <a:solidFill>
                  <a:srgbClr val="162B3D"/>
                </a:solidFill>
                <a:latin typeface="Noto Sans CJK TC"/>
              </a:rPr>
              <a:t>Installer / Upgrade</a:t>
            </a:r>
          </a:p>
        </p:txBody>
      </p:sp>
      <p:cxnSp>
        <p:nvCxnSpPr>
          <p:cNvPr id="52" name="Connector 51"/>
          <p:cNvCxnSpPr/>
          <p:nvPr/>
        </p:nvCxnSpPr>
        <p:spPr>
          <a:xfrm>
            <a:off x="8961120" y="2596896"/>
            <a:ext cx="0" cy="283464"/>
          </a:xfrm>
          <a:prstGeom prst="line">
            <a:avLst/>
          </a:prstGeom>
          <a:ln w="25400">
            <a:solidFill>
              <a:srgbClr val="00A6A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3" name="Down Arrow 52"/>
          <p:cNvSpPr/>
          <p:nvPr/>
        </p:nvSpPr>
        <p:spPr>
          <a:xfrm>
            <a:off x="8833104" y="2688336"/>
            <a:ext cx="256032" cy="256032"/>
          </a:xfrm>
          <a:prstGeom prst="downArrow">
            <a:avLst/>
          </a:prstGeom>
          <a:solidFill>
            <a:srgbClr val="00A6A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" name="TextBox 53"/>
          <p:cNvSpPr txBox="1"/>
          <p:nvPr/>
        </p:nvSpPr>
        <p:spPr>
          <a:xfrm>
            <a:off x="6419088" y="2871216"/>
            <a:ext cx="1481328" cy="18288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770" b="1">
                <a:solidFill>
                  <a:srgbClr val="00A6A6"/>
                </a:solidFill>
                <a:latin typeface="Noto Sans CJK TC"/>
              </a:rPr>
              <a:t>DOCKER COMPOSE BOUNDARY</a:t>
            </a:r>
          </a:p>
        </p:txBody>
      </p:sp>
      <p:sp>
        <p:nvSpPr>
          <p:cNvPr id="55" name="Rounded Rectangle 54"/>
          <p:cNvSpPr/>
          <p:nvPr/>
        </p:nvSpPr>
        <p:spPr>
          <a:xfrm>
            <a:off x="6400800" y="3136392"/>
            <a:ext cx="5120640" cy="1901952"/>
          </a:xfrm>
          <a:prstGeom prst="roundRect">
            <a:avLst/>
          </a:prstGeom>
          <a:solidFill>
            <a:srgbClr val="F5F8FB"/>
          </a:solidFill>
          <a:ln w="17780">
            <a:solidFill>
              <a:srgbClr val="00A6A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6" name="Rounded Rectangle 55"/>
          <p:cNvSpPr/>
          <p:nvPr/>
        </p:nvSpPr>
        <p:spPr>
          <a:xfrm>
            <a:off x="6547104" y="3300984"/>
            <a:ext cx="1133856" cy="658368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5DE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7" name="TextBox 56"/>
          <p:cNvSpPr txBox="1"/>
          <p:nvPr/>
        </p:nvSpPr>
        <p:spPr>
          <a:xfrm>
            <a:off x="6620256" y="3374136"/>
            <a:ext cx="987552" cy="182880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30" b="1">
                <a:solidFill>
                  <a:srgbClr val="0B1F33"/>
                </a:solidFill>
                <a:latin typeface="Noto Sans CJK TC"/>
              </a:rPr>
              <a:t>Nginx</a:t>
            </a:r>
          </a:p>
        </p:txBody>
      </p:sp>
      <p:sp>
        <p:nvSpPr>
          <p:cNvPr id="58" name="TextBox 57"/>
          <p:cNvSpPr txBox="1"/>
          <p:nvPr/>
        </p:nvSpPr>
        <p:spPr>
          <a:xfrm>
            <a:off x="6601968" y="3630168"/>
            <a:ext cx="1024128" cy="164592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680" b="0">
                <a:solidFill>
                  <a:srgbClr val="52677A"/>
                </a:solidFill>
                <a:latin typeface="Noto Sans CJK TC"/>
              </a:rPr>
              <a:t>configurable HTTPS</a:t>
            </a:r>
          </a:p>
        </p:txBody>
      </p:sp>
      <p:sp>
        <p:nvSpPr>
          <p:cNvPr id="59" name="Rounded Rectangle 58"/>
          <p:cNvSpPr/>
          <p:nvPr/>
        </p:nvSpPr>
        <p:spPr>
          <a:xfrm>
            <a:off x="7772400" y="3300984"/>
            <a:ext cx="1133856" cy="658368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5DE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0" name="TextBox 59"/>
          <p:cNvSpPr txBox="1"/>
          <p:nvPr/>
        </p:nvSpPr>
        <p:spPr>
          <a:xfrm>
            <a:off x="7845552" y="3374136"/>
            <a:ext cx="987552" cy="182880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30" b="1">
                <a:solidFill>
                  <a:srgbClr val="0B1F33"/>
                </a:solidFill>
                <a:latin typeface="Noto Sans CJK TC"/>
              </a:rPr>
              <a:t>FastAPI Web</a:t>
            </a:r>
          </a:p>
        </p:txBody>
      </p:sp>
      <p:sp>
        <p:nvSpPr>
          <p:cNvPr id="61" name="TextBox 60"/>
          <p:cNvSpPr txBox="1"/>
          <p:nvPr/>
        </p:nvSpPr>
        <p:spPr>
          <a:xfrm>
            <a:off x="7827264" y="3630168"/>
            <a:ext cx="1024128" cy="164592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680" b="0">
                <a:solidFill>
                  <a:srgbClr val="52677A"/>
                </a:solidFill>
                <a:latin typeface="Noto Sans CJK TC"/>
              </a:rPr>
              <a:t>release workers</a:t>
            </a:r>
          </a:p>
        </p:txBody>
      </p:sp>
      <p:sp>
        <p:nvSpPr>
          <p:cNvPr id="62" name="Rounded Rectangle 61"/>
          <p:cNvSpPr/>
          <p:nvPr/>
        </p:nvSpPr>
        <p:spPr>
          <a:xfrm>
            <a:off x="8997696" y="3300984"/>
            <a:ext cx="1133856" cy="658368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5DE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3" name="TextBox 62"/>
          <p:cNvSpPr txBox="1"/>
          <p:nvPr/>
        </p:nvSpPr>
        <p:spPr>
          <a:xfrm>
            <a:off x="9070848" y="3374136"/>
            <a:ext cx="987552" cy="182880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30" b="1">
                <a:solidFill>
                  <a:srgbClr val="0B1F33"/>
                </a:solidFill>
                <a:latin typeface="Noto Sans CJK TC"/>
              </a:rPr>
              <a:t>Redis</a:t>
            </a:r>
          </a:p>
        </p:txBody>
      </p:sp>
      <p:sp>
        <p:nvSpPr>
          <p:cNvPr id="64" name="TextBox 63"/>
          <p:cNvSpPr txBox="1"/>
          <p:nvPr/>
        </p:nvSpPr>
        <p:spPr>
          <a:xfrm>
            <a:off x="9052560" y="3630168"/>
            <a:ext cx="1024128" cy="164592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680" b="0">
                <a:solidFill>
                  <a:srgbClr val="52677A"/>
                </a:solidFill>
                <a:latin typeface="Noto Sans CJK TC"/>
              </a:rPr>
              <a:t>persistent volume</a:t>
            </a:r>
          </a:p>
        </p:txBody>
      </p:sp>
      <p:sp>
        <p:nvSpPr>
          <p:cNvPr id="65" name="Rounded Rectangle 64"/>
          <p:cNvSpPr/>
          <p:nvPr/>
        </p:nvSpPr>
        <p:spPr>
          <a:xfrm>
            <a:off x="10222992" y="3300984"/>
            <a:ext cx="1133856" cy="658368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5DE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6" name="TextBox 65"/>
          <p:cNvSpPr txBox="1"/>
          <p:nvPr/>
        </p:nvSpPr>
        <p:spPr>
          <a:xfrm>
            <a:off x="10296144" y="3374136"/>
            <a:ext cx="987552" cy="182880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30" b="1">
                <a:solidFill>
                  <a:srgbClr val="0B1F33"/>
                </a:solidFill>
                <a:latin typeface="Noto Sans CJK TC"/>
              </a:rPr>
              <a:t>Neo4j</a:t>
            </a:r>
          </a:p>
        </p:txBody>
      </p:sp>
      <p:sp>
        <p:nvSpPr>
          <p:cNvPr id="67" name="TextBox 66"/>
          <p:cNvSpPr txBox="1"/>
          <p:nvPr/>
        </p:nvSpPr>
        <p:spPr>
          <a:xfrm>
            <a:off x="10277856" y="3630168"/>
            <a:ext cx="1024128" cy="164592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680" b="0">
                <a:solidFill>
                  <a:srgbClr val="52677A"/>
                </a:solidFill>
                <a:latin typeface="Noto Sans CJK TC"/>
              </a:rPr>
              <a:t>persistent volumes</a:t>
            </a:r>
          </a:p>
        </p:txBody>
      </p:sp>
      <p:sp>
        <p:nvSpPr>
          <p:cNvPr id="68" name="Rounded Rectangle 67"/>
          <p:cNvSpPr/>
          <p:nvPr/>
        </p:nvSpPr>
        <p:spPr>
          <a:xfrm>
            <a:off x="6547104" y="4096511"/>
            <a:ext cx="1133856" cy="658368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5DE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9" name="TextBox 68"/>
          <p:cNvSpPr txBox="1"/>
          <p:nvPr/>
        </p:nvSpPr>
        <p:spPr>
          <a:xfrm>
            <a:off x="6620256" y="4169663"/>
            <a:ext cx="987552" cy="182880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30" b="1">
                <a:solidFill>
                  <a:srgbClr val="0B1F33"/>
                </a:solidFill>
                <a:latin typeface="Noto Sans CJK TC"/>
              </a:rPr>
              <a:t>Qdrant</a:t>
            </a:r>
          </a:p>
        </p:txBody>
      </p:sp>
      <p:sp>
        <p:nvSpPr>
          <p:cNvPr id="70" name="TextBox 69"/>
          <p:cNvSpPr txBox="1"/>
          <p:nvPr/>
        </p:nvSpPr>
        <p:spPr>
          <a:xfrm>
            <a:off x="6601968" y="4425696"/>
            <a:ext cx="1024128" cy="164592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680" b="0">
                <a:solidFill>
                  <a:srgbClr val="52677A"/>
                </a:solidFill>
                <a:latin typeface="Noto Sans CJK TC"/>
              </a:rPr>
              <a:t>bundled volume</a:t>
            </a:r>
          </a:p>
        </p:txBody>
      </p:sp>
      <p:sp>
        <p:nvSpPr>
          <p:cNvPr id="71" name="Rounded Rectangle 70"/>
          <p:cNvSpPr/>
          <p:nvPr/>
        </p:nvSpPr>
        <p:spPr>
          <a:xfrm>
            <a:off x="7772400" y="4096511"/>
            <a:ext cx="1133856" cy="658368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5DE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2" name="TextBox 71"/>
          <p:cNvSpPr txBox="1"/>
          <p:nvPr/>
        </p:nvSpPr>
        <p:spPr>
          <a:xfrm>
            <a:off x="7845552" y="4169663"/>
            <a:ext cx="987552" cy="182880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30" b="1">
                <a:solidFill>
                  <a:srgbClr val="0B1F33"/>
                </a:solidFill>
                <a:latin typeface="Noto Sans CJK TC"/>
              </a:rPr>
              <a:t>Search Worker</a:t>
            </a:r>
          </a:p>
        </p:txBody>
      </p:sp>
      <p:sp>
        <p:nvSpPr>
          <p:cNvPr id="73" name="TextBox 72"/>
          <p:cNvSpPr txBox="1"/>
          <p:nvPr/>
        </p:nvSpPr>
        <p:spPr>
          <a:xfrm>
            <a:off x="7827264" y="4425696"/>
            <a:ext cx="1024128" cy="164592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680" b="0">
                <a:solidFill>
                  <a:srgbClr val="52677A"/>
                </a:solidFill>
                <a:latin typeface="Noto Sans CJK TC"/>
              </a:rPr>
              <a:t>configurable concurrency</a:t>
            </a:r>
          </a:p>
        </p:txBody>
      </p:sp>
      <p:sp>
        <p:nvSpPr>
          <p:cNvPr id="74" name="Rounded Rectangle 73"/>
          <p:cNvSpPr/>
          <p:nvPr/>
        </p:nvSpPr>
        <p:spPr>
          <a:xfrm>
            <a:off x="8997696" y="4096511"/>
            <a:ext cx="1133856" cy="658368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5DE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5" name="TextBox 74"/>
          <p:cNvSpPr txBox="1"/>
          <p:nvPr/>
        </p:nvSpPr>
        <p:spPr>
          <a:xfrm>
            <a:off x="9070848" y="4169663"/>
            <a:ext cx="987552" cy="182880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30" b="1">
                <a:solidFill>
                  <a:srgbClr val="0B1F33"/>
                </a:solidFill>
                <a:latin typeface="Noto Sans CJK TC"/>
              </a:rPr>
              <a:t>Ingest Worker</a:t>
            </a:r>
          </a:p>
        </p:txBody>
      </p:sp>
      <p:sp>
        <p:nvSpPr>
          <p:cNvPr id="76" name="TextBox 75"/>
          <p:cNvSpPr txBox="1"/>
          <p:nvPr/>
        </p:nvSpPr>
        <p:spPr>
          <a:xfrm>
            <a:off x="9052560" y="4425696"/>
            <a:ext cx="1024128" cy="164592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680" b="0">
                <a:solidFill>
                  <a:srgbClr val="52677A"/>
                </a:solidFill>
                <a:latin typeface="Noto Sans CJK TC"/>
              </a:rPr>
              <a:t>isolated queue</a:t>
            </a:r>
          </a:p>
        </p:txBody>
      </p:sp>
      <p:sp>
        <p:nvSpPr>
          <p:cNvPr id="77" name="Rounded Rectangle 76"/>
          <p:cNvSpPr/>
          <p:nvPr/>
        </p:nvSpPr>
        <p:spPr>
          <a:xfrm>
            <a:off x="10222992" y="4096511"/>
            <a:ext cx="1133856" cy="658368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5DE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8" name="TextBox 77"/>
          <p:cNvSpPr txBox="1"/>
          <p:nvPr/>
        </p:nvSpPr>
        <p:spPr>
          <a:xfrm>
            <a:off x="10296144" y="4169663"/>
            <a:ext cx="987552" cy="182880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30" b="1">
                <a:solidFill>
                  <a:srgbClr val="0B1F33"/>
                </a:solidFill>
                <a:latin typeface="Noto Sans CJK TC"/>
              </a:rPr>
              <a:t>Celery Beat</a:t>
            </a:r>
          </a:p>
        </p:txBody>
      </p:sp>
      <p:sp>
        <p:nvSpPr>
          <p:cNvPr id="79" name="TextBox 78"/>
          <p:cNvSpPr txBox="1"/>
          <p:nvPr/>
        </p:nvSpPr>
        <p:spPr>
          <a:xfrm>
            <a:off x="10277856" y="4425696"/>
            <a:ext cx="1024128" cy="164592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680" b="0">
                <a:solidFill>
                  <a:srgbClr val="52677A"/>
                </a:solidFill>
                <a:latin typeface="Noto Sans CJK TC"/>
              </a:rPr>
              <a:t>scheduled ingest</a:t>
            </a:r>
          </a:p>
        </p:txBody>
      </p:sp>
      <p:sp>
        <p:nvSpPr>
          <p:cNvPr id="80" name="Rounded Rectangle 79"/>
          <p:cNvSpPr/>
          <p:nvPr/>
        </p:nvSpPr>
        <p:spPr>
          <a:xfrm>
            <a:off x="6419088" y="5266944"/>
            <a:ext cx="1097280" cy="274320"/>
          </a:xfrm>
          <a:prstGeom prst="roundRect">
            <a:avLst/>
          </a:prstGeom>
          <a:solidFill>
            <a:srgbClr val="00A6A6"/>
          </a:solidFill>
          <a:ln w="12700">
            <a:solidFill>
              <a:srgbClr val="00A6A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50800" rIns="50800" tIns="0" bIns="0"/>
          <a:lstStyle/>
          <a:p>
            <a:pPr algn="ctr"/>
            <a:r>
              <a:rPr sz="700" b="1">
                <a:solidFill>
                  <a:srgbClr val="FFFFFF"/>
                </a:solidFill>
                <a:latin typeface="Noto Sans CJK TC"/>
              </a:rPr>
              <a:t>CONFIGURABLE</a:t>
            </a:r>
          </a:p>
        </p:txBody>
      </p:sp>
      <p:sp>
        <p:nvSpPr>
          <p:cNvPr id="81" name="TextBox 80"/>
          <p:cNvSpPr txBox="1"/>
          <p:nvPr/>
        </p:nvSpPr>
        <p:spPr>
          <a:xfrm>
            <a:off x="7635240" y="5230368"/>
            <a:ext cx="3767328" cy="347472"/>
          </a:xfrm>
          <a:prstGeom prst="rect">
            <a:avLst/>
          </a:prstGeom>
          <a:noFill/>
        </p:spPr>
        <p:txBody>
          <a:bodyPr wrap="square" anchor="ctr" lIns="0" rIns="0" tIns="0" bIns="0">
            <a:norm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760" b="0">
                <a:solidFill>
                  <a:srgbClr val="52677A"/>
                </a:solidFill>
                <a:latin typeface="Noto Sans CJK TC"/>
              </a:rPr>
              <a:t>HTTPS port / project / passwords / worker counts</a:t>
            </a:r>
          </a:p>
        </p:txBody>
      </p:sp>
      <p:sp>
        <p:nvSpPr>
          <p:cNvPr id="82" name="Rounded Rectangle 81"/>
          <p:cNvSpPr/>
          <p:nvPr/>
        </p:nvSpPr>
        <p:spPr>
          <a:xfrm>
            <a:off x="6419088" y="5650992"/>
            <a:ext cx="5074920" cy="292608"/>
          </a:xfrm>
          <a:prstGeom prst="roundRect">
            <a:avLst/>
          </a:prstGeom>
          <a:solidFill>
            <a:srgbClr val="0B1F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3" name="TextBox 82"/>
          <p:cNvSpPr txBox="1"/>
          <p:nvPr/>
        </p:nvSpPr>
        <p:spPr>
          <a:xfrm>
            <a:off x="6528816" y="5696712"/>
            <a:ext cx="4846320" cy="164592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710" b="0">
                <a:solidFill>
                  <a:srgbClr val="FFFFFF"/>
                </a:solidFill>
                <a:latin typeface="Noto Sans CJK TC"/>
              </a:rPr>
              <a:t>app/data + runtime/openclaw + named volumes + release metadata</a:t>
            </a:r>
          </a:p>
        </p:txBody>
      </p:sp>
      <p:sp>
        <p:nvSpPr>
          <p:cNvPr id="84" name="Rectangle 83"/>
          <p:cNvSpPr/>
          <p:nvPr/>
        </p:nvSpPr>
        <p:spPr>
          <a:xfrm>
            <a:off x="475488" y="6391656"/>
            <a:ext cx="11137392" cy="9144"/>
          </a:xfrm>
          <a:prstGeom prst="rect">
            <a:avLst/>
          </a:prstGeom>
          <a:solidFill>
            <a:srgbClr val="D5DE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5" name="TextBox 84"/>
          <p:cNvSpPr txBox="1"/>
          <p:nvPr/>
        </p:nvSpPr>
        <p:spPr>
          <a:xfrm>
            <a:off x="475488" y="6473952"/>
            <a:ext cx="8229600" cy="173736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19" b="1">
                <a:solidFill>
                  <a:srgbClr val="52677A"/>
                </a:solidFill>
                <a:latin typeface="Noto Sans CJK TC"/>
              </a:rPr>
              <a:t>報告重點｜原始站台的 Qdrant/Ollama 位於 host；on-prem release 將 Qdrant 納入 Compose，但 Ollama 與 OpenClaw gateway 仍是外部 runtime。</a:t>
            </a:r>
          </a:p>
        </p:txBody>
      </p:sp>
      <p:sp>
        <p:nvSpPr>
          <p:cNvPr id="86" name="TextBox 85"/>
          <p:cNvSpPr txBox="1"/>
          <p:nvPr/>
        </p:nvSpPr>
        <p:spPr>
          <a:xfrm>
            <a:off x="8887968" y="6473952"/>
            <a:ext cx="2724912" cy="173736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700" b="0">
                <a:solidFill>
                  <a:srgbClr val="71859A"/>
                </a:solidFill>
                <a:latin typeface="Noto Sans CJK TC"/>
              </a:rPr>
              <a:t>Current-state architecture · 2026.07.17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2F6F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164592" y="0"/>
            <a:ext cx="12027103" cy="73152"/>
          </a:xfrm>
          <a:prstGeom prst="rect">
            <a:avLst/>
          </a:prstGeom>
          <a:solidFill>
            <a:srgbClr val="0B1F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75488" y="256032"/>
            <a:ext cx="5303520" cy="164592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80" b="1">
                <a:solidFill>
                  <a:srgbClr val="2F6FED"/>
                </a:solidFill>
                <a:latin typeface="Noto Sans CJK TC"/>
              </a:rPr>
              <a:t>08 · RELIABILITY &amp; GOVERNANCE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75488" y="475488"/>
            <a:ext cx="9875520" cy="420624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300" b="1">
                <a:solidFill>
                  <a:srgbClr val="0B1F33"/>
                </a:solidFill>
                <a:latin typeface="Noto Serif CJK TC"/>
              </a:rPr>
              <a:t>可靠度、安全與可維運性：現況控制與管理關注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84632" y="914400"/>
            <a:ext cx="10332720" cy="256032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50" b="0">
                <a:solidFill>
                  <a:srgbClr val="52677A"/>
                </a:solidFill>
                <a:latin typeface="Noto Sans CJK TC"/>
              </a:rPr>
              <a:t>系統已具備任務隔離、健康檢查與資料一致性控制；企業化下一階段應聚焦認證、秘密管理、模組化與租戶隔離。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10908792" y="329184"/>
            <a:ext cx="713232" cy="310896"/>
          </a:xfrm>
          <a:prstGeom prst="roundRect">
            <a:avLst/>
          </a:prstGeom>
          <a:solidFill>
            <a:srgbClr val="0B1F33"/>
          </a:solidFill>
          <a:ln w="12700">
            <a:solidFill>
              <a:srgbClr val="0B1F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50800" rIns="50800" tIns="0" bIns="0"/>
          <a:lstStyle/>
          <a:p>
            <a:pPr algn="ctr"/>
            <a:r>
              <a:rPr sz="950" b="1">
                <a:solidFill>
                  <a:srgbClr val="FFFFFF"/>
                </a:solidFill>
                <a:latin typeface="Noto Sans CJK TC"/>
              </a:rPr>
              <a:t>09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57200" y="1353312"/>
            <a:ext cx="5504688" cy="3602736"/>
          </a:xfrm>
          <a:prstGeom prst="roundRect">
            <a:avLst/>
          </a:prstGeom>
          <a:solidFill>
            <a:srgbClr val="E6F6EE"/>
          </a:solidFill>
          <a:ln w="12700">
            <a:solidFill>
              <a:srgbClr val="D5DE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ounded Rectangle 9"/>
          <p:cNvSpPr/>
          <p:nvPr/>
        </p:nvSpPr>
        <p:spPr>
          <a:xfrm>
            <a:off x="457200" y="1353312"/>
            <a:ext cx="5504688" cy="457200"/>
          </a:xfrm>
          <a:prstGeom prst="roundRect">
            <a:avLst/>
          </a:prstGeom>
          <a:solidFill>
            <a:srgbClr val="2E9D6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58368" y="1481328"/>
            <a:ext cx="5084064" cy="201168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50" b="1">
                <a:solidFill>
                  <a:srgbClr val="FFFFFF"/>
                </a:solidFill>
                <a:latin typeface="Noto Sans CJK TC"/>
              </a:rPr>
              <a:t>已落地控制 · EXISTING CONTROLS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58368" y="1984248"/>
            <a:ext cx="5102352" cy="612648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5DE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ounded Rectangle 12"/>
          <p:cNvSpPr/>
          <p:nvPr/>
        </p:nvSpPr>
        <p:spPr>
          <a:xfrm>
            <a:off x="777240" y="2139696"/>
            <a:ext cx="329184" cy="283464"/>
          </a:xfrm>
          <a:prstGeom prst="roundRect">
            <a:avLst/>
          </a:prstGeom>
          <a:solidFill>
            <a:srgbClr val="2E9D68"/>
          </a:solidFill>
          <a:ln w="12700">
            <a:solidFill>
              <a:srgbClr val="2E9D6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50800" rIns="50800" tIns="0" bIns="0"/>
          <a:lstStyle/>
          <a:p>
            <a:pPr algn="ctr"/>
            <a:r>
              <a:rPr sz="760" b="1">
                <a:solidFill>
                  <a:srgbClr val="FFFFFF"/>
                </a:solidFill>
                <a:latin typeface="Noto Sans CJK TC"/>
              </a:rPr>
              <a:t>1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243584" y="2057400"/>
            <a:ext cx="1097280" cy="201168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00" b="1">
                <a:solidFill>
                  <a:srgbClr val="0B1F33"/>
                </a:solidFill>
                <a:latin typeface="Noto Sans CJK TC"/>
              </a:rPr>
              <a:t>傳輸與入口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2340864" y="2057400"/>
            <a:ext cx="3200400" cy="393192"/>
          </a:xfrm>
          <a:prstGeom prst="rect">
            <a:avLst/>
          </a:prstGeom>
          <a:noFill/>
        </p:spPr>
        <p:txBody>
          <a:bodyPr wrap="square" anchor="ctr" lIns="0" rIns="0" tIns="0" bIns="0">
            <a:norm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760" b="0">
                <a:solidFill>
                  <a:srgbClr val="52677A"/>
                </a:solidFill>
                <a:latin typeface="Noto Sans CJK TC"/>
              </a:rPr>
              <a:t>TLS 1.2/1.3、Nginx proxy、HTML no-cache、內外端口分離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58368" y="2697480"/>
            <a:ext cx="5102352" cy="612648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5DE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ounded Rectangle 16"/>
          <p:cNvSpPr/>
          <p:nvPr/>
        </p:nvSpPr>
        <p:spPr>
          <a:xfrm>
            <a:off x="777240" y="2852928"/>
            <a:ext cx="329184" cy="283464"/>
          </a:xfrm>
          <a:prstGeom prst="roundRect">
            <a:avLst/>
          </a:prstGeom>
          <a:solidFill>
            <a:srgbClr val="2E9D68"/>
          </a:solidFill>
          <a:ln w="12700">
            <a:solidFill>
              <a:srgbClr val="2E9D6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50800" rIns="50800" tIns="0" bIns="0"/>
          <a:lstStyle/>
          <a:p>
            <a:pPr algn="ctr"/>
            <a:r>
              <a:rPr sz="760" b="1">
                <a:solidFill>
                  <a:srgbClr val="FFFFFF"/>
                </a:solidFill>
                <a:latin typeface="Noto Sans CJK TC"/>
              </a:rPr>
              <a:t>2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243584" y="2770632"/>
            <a:ext cx="1097280" cy="201168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00" b="1">
                <a:solidFill>
                  <a:srgbClr val="0B1F33"/>
                </a:solidFill>
                <a:latin typeface="Noto Sans CJK TC"/>
              </a:rPr>
              <a:t>任務可靠度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2340864" y="2770632"/>
            <a:ext cx="3200400" cy="393192"/>
          </a:xfrm>
          <a:prstGeom prst="rect">
            <a:avLst/>
          </a:prstGeom>
          <a:noFill/>
        </p:spPr>
        <p:txBody>
          <a:bodyPr wrap="square" anchor="ctr" lIns="0" rIns="0" tIns="0" bIns="0">
            <a:norm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760" b="0">
                <a:solidFill>
                  <a:srgbClr val="52677A"/>
                </a:solidFill>
                <a:latin typeface="Noto Sans CJK TC"/>
              </a:rPr>
              <a:t>Search/Ingest queue 分流、acks late、worker lost reject、retry/timeout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658368" y="3410712"/>
            <a:ext cx="5102352" cy="612648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5DE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ounded Rectangle 20"/>
          <p:cNvSpPr/>
          <p:nvPr/>
        </p:nvSpPr>
        <p:spPr>
          <a:xfrm>
            <a:off x="777240" y="3566160"/>
            <a:ext cx="329184" cy="283464"/>
          </a:xfrm>
          <a:prstGeom prst="roundRect">
            <a:avLst/>
          </a:prstGeom>
          <a:solidFill>
            <a:srgbClr val="2E9D68"/>
          </a:solidFill>
          <a:ln w="12700">
            <a:solidFill>
              <a:srgbClr val="2E9D6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50800" rIns="50800" tIns="0" bIns="0"/>
          <a:lstStyle/>
          <a:p>
            <a:pPr algn="ctr"/>
            <a:r>
              <a:rPr sz="760" b="1">
                <a:solidFill>
                  <a:srgbClr val="FFFFFF"/>
                </a:solidFill>
                <a:latin typeface="Noto Sans CJK TC"/>
              </a:rPr>
              <a:t>3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243584" y="3483864"/>
            <a:ext cx="1097280" cy="201168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00" b="1">
                <a:solidFill>
                  <a:srgbClr val="0B1F33"/>
                </a:solidFill>
                <a:latin typeface="Noto Sans CJK TC"/>
              </a:rPr>
              <a:t>一致性控制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2340864" y="3483864"/>
            <a:ext cx="3200400" cy="393192"/>
          </a:xfrm>
          <a:prstGeom prst="rect">
            <a:avLst/>
          </a:prstGeom>
          <a:noFill/>
        </p:spPr>
        <p:txBody>
          <a:bodyPr wrap="square" anchor="ctr" lIns="0" rIns="0" tIns="0" bIns="0">
            <a:norm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760" b="0">
                <a:solidFill>
                  <a:srgbClr val="52677A"/>
                </a:solidFill>
                <a:latin typeface="Noto Sans CJK TC"/>
              </a:rPr>
              <a:t>SHA-256 去重、processing lock、idempotency key、cleanup-before-write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658368" y="4123944"/>
            <a:ext cx="5102352" cy="612648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5DE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ounded Rectangle 24"/>
          <p:cNvSpPr/>
          <p:nvPr/>
        </p:nvSpPr>
        <p:spPr>
          <a:xfrm>
            <a:off x="777240" y="4279392"/>
            <a:ext cx="329184" cy="283464"/>
          </a:xfrm>
          <a:prstGeom prst="roundRect">
            <a:avLst/>
          </a:prstGeom>
          <a:solidFill>
            <a:srgbClr val="2E9D68"/>
          </a:solidFill>
          <a:ln w="12700">
            <a:solidFill>
              <a:srgbClr val="2E9D6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50800" rIns="50800" tIns="0" bIns="0"/>
          <a:lstStyle/>
          <a:p>
            <a:pPr algn="ctr"/>
            <a:r>
              <a:rPr sz="760" b="1">
                <a:solidFill>
                  <a:srgbClr val="FFFFFF"/>
                </a:solidFill>
                <a:latin typeface="Noto Sans CJK TC"/>
              </a:rPr>
              <a:t>4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243584" y="4197096"/>
            <a:ext cx="1097280" cy="201168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00" b="1">
                <a:solidFill>
                  <a:srgbClr val="0B1F33"/>
                </a:solidFill>
                <a:latin typeface="Noto Sans CJK TC"/>
              </a:rPr>
              <a:t>維運可視性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2340864" y="4197096"/>
            <a:ext cx="3200400" cy="393192"/>
          </a:xfrm>
          <a:prstGeom prst="rect">
            <a:avLst/>
          </a:prstGeom>
          <a:noFill/>
        </p:spPr>
        <p:txBody>
          <a:bodyPr wrap="square" anchor="ctr" lIns="0" rIns="0" tIns="0" bIns="0">
            <a:norm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760" b="0">
                <a:solidFill>
                  <a:srgbClr val="52677A"/>
                </a:solidFill>
                <a:latin typeface="Noto Sans CJK TC"/>
              </a:rPr>
              <a:t>health/stats、task state、logs/SSE、admin API、Beat schedule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6199632" y="1353312"/>
            <a:ext cx="5504688" cy="3602736"/>
          </a:xfrm>
          <a:prstGeom prst="roundRect">
            <a:avLst/>
          </a:prstGeom>
          <a:solidFill>
            <a:srgbClr val="FDECEC"/>
          </a:solidFill>
          <a:ln w="12700">
            <a:solidFill>
              <a:srgbClr val="D5DE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ounded Rectangle 28"/>
          <p:cNvSpPr/>
          <p:nvPr/>
        </p:nvSpPr>
        <p:spPr>
          <a:xfrm>
            <a:off x="6199632" y="1353312"/>
            <a:ext cx="5504688" cy="457200"/>
          </a:xfrm>
          <a:prstGeom prst="roundRect">
            <a:avLst/>
          </a:prstGeom>
          <a:solidFill>
            <a:srgbClr val="D94F4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6400800" y="1481328"/>
            <a:ext cx="5084064" cy="201168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50" b="1">
                <a:solidFill>
                  <a:srgbClr val="FFFFFF"/>
                </a:solidFill>
                <a:latin typeface="Noto Sans CJK TC"/>
              </a:rPr>
              <a:t>管理關注 · NEXT CONTROLS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6400800" y="1984248"/>
            <a:ext cx="5102352" cy="612648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5DE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Rounded Rectangle 31"/>
          <p:cNvSpPr/>
          <p:nvPr/>
        </p:nvSpPr>
        <p:spPr>
          <a:xfrm>
            <a:off x="6519672" y="2139696"/>
            <a:ext cx="329184" cy="283464"/>
          </a:xfrm>
          <a:prstGeom prst="roundRect">
            <a:avLst/>
          </a:prstGeom>
          <a:solidFill>
            <a:srgbClr val="D94F4F"/>
          </a:solidFill>
          <a:ln w="12700">
            <a:solidFill>
              <a:srgbClr val="D94F4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50800" rIns="50800" tIns="0" bIns="0"/>
          <a:lstStyle/>
          <a:p>
            <a:pPr algn="ctr"/>
            <a:r>
              <a:rPr sz="760" b="1">
                <a:solidFill>
                  <a:srgbClr val="FFFFFF"/>
                </a:solidFill>
                <a:latin typeface="Noto Sans CJK TC"/>
              </a:rPr>
              <a:t>1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6986016" y="2057400"/>
            <a:ext cx="1097280" cy="201168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00" b="1">
                <a:solidFill>
                  <a:srgbClr val="0B1F33"/>
                </a:solidFill>
                <a:latin typeface="Noto Sans CJK TC"/>
              </a:rPr>
              <a:t>身份與授權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8083296" y="2057400"/>
            <a:ext cx="3200400" cy="393192"/>
          </a:xfrm>
          <a:prstGeom prst="rect">
            <a:avLst/>
          </a:prstGeom>
          <a:noFill/>
        </p:spPr>
        <p:txBody>
          <a:bodyPr wrap="square" anchor="ctr" lIns="0" rIns="0" tIns="0" bIns="0">
            <a:norm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760" b="0">
                <a:solidFill>
                  <a:srgbClr val="52677A"/>
                </a:solidFill>
                <a:latin typeface="Noto Sans CJK TC"/>
              </a:rPr>
              <a:t>補齊 Web/API 認證、RBAC 與管理操作稽核；收斂 CORS allow-all</a:t>
            </a:r>
          </a:p>
        </p:txBody>
      </p:sp>
      <p:sp>
        <p:nvSpPr>
          <p:cNvPr id="35" name="Rounded Rectangle 34"/>
          <p:cNvSpPr/>
          <p:nvPr/>
        </p:nvSpPr>
        <p:spPr>
          <a:xfrm>
            <a:off x="6400800" y="2697480"/>
            <a:ext cx="5102352" cy="612648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5DE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Rounded Rectangle 35"/>
          <p:cNvSpPr/>
          <p:nvPr/>
        </p:nvSpPr>
        <p:spPr>
          <a:xfrm>
            <a:off x="6519672" y="2852928"/>
            <a:ext cx="329184" cy="283464"/>
          </a:xfrm>
          <a:prstGeom prst="roundRect">
            <a:avLst/>
          </a:prstGeom>
          <a:solidFill>
            <a:srgbClr val="D94F4F"/>
          </a:solidFill>
          <a:ln w="12700">
            <a:solidFill>
              <a:srgbClr val="D94F4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50800" rIns="50800" tIns="0" bIns="0"/>
          <a:lstStyle/>
          <a:p>
            <a:pPr algn="ctr"/>
            <a:r>
              <a:rPr sz="760" b="1">
                <a:solidFill>
                  <a:srgbClr val="FFFFFF"/>
                </a:solidFill>
                <a:latin typeface="Noto Sans CJK TC"/>
              </a:rPr>
              <a:t>2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6986016" y="2770632"/>
            <a:ext cx="1097280" cy="201168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00" b="1">
                <a:solidFill>
                  <a:srgbClr val="0B1F33"/>
                </a:solidFill>
                <a:latin typeface="Noto Sans CJK TC"/>
              </a:rPr>
              <a:t>秘密與設定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8083296" y="2770632"/>
            <a:ext cx="3200400" cy="393192"/>
          </a:xfrm>
          <a:prstGeom prst="rect">
            <a:avLst/>
          </a:prstGeom>
          <a:noFill/>
        </p:spPr>
        <p:txBody>
          <a:bodyPr wrap="square" anchor="ctr" lIns="0" rIns="0" tIns="0" bIns="0">
            <a:norm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760" b="0">
                <a:solidFill>
                  <a:srgbClr val="52677A"/>
                </a:solidFill>
                <a:latin typeface="Noto Sans CJK TC"/>
              </a:rPr>
              <a:t>資料庫密碼、token 與 endpoint 移入 secret store / deployment config</a:t>
            </a:r>
          </a:p>
        </p:txBody>
      </p:sp>
      <p:sp>
        <p:nvSpPr>
          <p:cNvPr id="39" name="Rounded Rectangle 38"/>
          <p:cNvSpPr/>
          <p:nvPr/>
        </p:nvSpPr>
        <p:spPr>
          <a:xfrm>
            <a:off x="6400800" y="3410712"/>
            <a:ext cx="5102352" cy="612648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5DE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Rounded Rectangle 39"/>
          <p:cNvSpPr/>
          <p:nvPr/>
        </p:nvSpPr>
        <p:spPr>
          <a:xfrm>
            <a:off x="6519672" y="3566160"/>
            <a:ext cx="329184" cy="283464"/>
          </a:xfrm>
          <a:prstGeom prst="roundRect">
            <a:avLst/>
          </a:prstGeom>
          <a:solidFill>
            <a:srgbClr val="D94F4F"/>
          </a:solidFill>
          <a:ln w="12700">
            <a:solidFill>
              <a:srgbClr val="D94F4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50800" rIns="50800" tIns="0" bIns="0"/>
          <a:lstStyle/>
          <a:p>
            <a:pPr algn="ctr"/>
            <a:r>
              <a:rPr sz="760" b="1">
                <a:solidFill>
                  <a:srgbClr val="FFFFFF"/>
                </a:solidFill>
                <a:latin typeface="Noto Sans CJK TC"/>
              </a:rPr>
              <a:t>3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6986016" y="3483864"/>
            <a:ext cx="1097280" cy="201168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00" b="1">
                <a:solidFill>
                  <a:srgbClr val="0B1F33"/>
                </a:solidFill>
                <a:latin typeface="Noto Sans CJK TC"/>
              </a:rPr>
              <a:t>應用模組化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8083296" y="3483864"/>
            <a:ext cx="3200400" cy="393192"/>
          </a:xfrm>
          <a:prstGeom prst="rect">
            <a:avLst/>
          </a:prstGeom>
          <a:noFill/>
        </p:spPr>
        <p:txBody>
          <a:bodyPr wrap="square" anchor="ctr" lIns="0" rIns="0" tIns="0" bIns="0">
            <a:norm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760" b="0">
                <a:solidFill>
                  <a:srgbClr val="52677A"/>
                </a:solidFill>
                <a:latin typeface="Noto Sans CJK TC"/>
              </a:rPr>
              <a:t>大型 FastAPI __init__.py 拆分 router/service/repository 與契約測試</a:t>
            </a:r>
          </a:p>
        </p:txBody>
      </p:sp>
      <p:sp>
        <p:nvSpPr>
          <p:cNvPr id="43" name="Rounded Rectangle 42"/>
          <p:cNvSpPr/>
          <p:nvPr/>
        </p:nvSpPr>
        <p:spPr>
          <a:xfrm>
            <a:off x="6400800" y="4123944"/>
            <a:ext cx="5102352" cy="612648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5DE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Rounded Rectangle 43"/>
          <p:cNvSpPr/>
          <p:nvPr/>
        </p:nvSpPr>
        <p:spPr>
          <a:xfrm>
            <a:off x="6519672" y="4279392"/>
            <a:ext cx="329184" cy="283464"/>
          </a:xfrm>
          <a:prstGeom prst="roundRect">
            <a:avLst/>
          </a:prstGeom>
          <a:solidFill>
            <a:srgbClr val="D94F4F"/>
          </a:solidFill>
          <a:ln w="12700">
            <a:solidFill>
              <a:srgbClr val="D94F4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50800" rIns="50800" tIns="0" bIns="0"/>
          <a:lstStyle/>
          <a:p>
            <a:pPr algn="ctr"/>
            <a:r>
              <a:rPr sz="760" b="1">
                <a:solidFill>
                  <a:srgbClr val="FFFFFF"/>
                </a:solidFill>
                <a:latin typeface="Noto Sans CJK TC"/>
              </a:rPr>
              <a:t>4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6986016" y="4197096"/>
            <a:ext cx="1097280" cy="201168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00" b="1">
                <a:solidFill>
                  <a:srgbClr val="0B1F33"/>
                </a:solidFill>
                <a:latin typeface="Noto Sans CJK TC"/>
              </a:rPr>
              <a:t>資料隔離與 DR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8083296" y="4197096"/>
            <a:ext cx="3200400" cy="393192"/>
          </a:xfrm>
          <a:prstGeom prst="rect">
            <a:avLst/>
          </a:prstGeom>
          <a:noFill/>
        </p:spPr>
        <p:txBody>
          <a:bodyPr wrap="square" anchor="ctr" lIns="0" rIns="0" tIns="0" bIns="0">
            <a:norm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760" b="0">
                <a:solidFill>
                  <a:srgbClr val="52677A"/>
                </a:solidFill>
                <a:latin typeface="Noto Sans CJK TC"/>
              </a:rPr>
              <a:t>tenant namespace、備份/還原演練、RPO/RTO、跨環境資料防碰撞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475488" y="5230368"/>
            <a:ext cx="2011680" cy="201168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80" b="1">
                <a:solidFill>
                  <a:srgbClr val="0B1F33"/>
                </a:solidFill>
                <a:latin typeface="Noto Sans CJK TC"/>
              </a:rPr>
              <a:t>OPERATING FEEDBACK LOOP</a:t>
            </a:r>
          </a:p>
        </p:txBody>
      </p:sp>
      <p:sp>
        <p:nvSpPr>
          <p:cNvPr id="48" name="Rounded Rectangle 47"/>
          <p:cNvSpPr/>
          <p:nvPr/>
        </p:nvSpPr>
        <p:spPr>
          <a:xfrm>
            <a:off x="475488" y="5550408"/>
            <a:ext cx="1975104" cy="576072"/>
          </a:xfrm>
          <a:prstGeom prst="roundRect">
            <a:avLst/>
          </a:prstGeom>
          <a:solidFill>
            <a:srgbClr val="0B1F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TextBox 48"/>
          <p:cNvSpPr txBox="1"/>
          <p:nvPr/>
        </p:nvSpPr>
        <p:spPr>
          <a:xfrm>
            <a:off x="566928" y="5614416"/>
            <a:ext cx="1792224" cy="173736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60" b="1">
                <a:solidFill>
                  <a:srgbClr val="FFFFFF"/>
                </a:solidFill>
                <a:latin typeface="Noto Sans CJK TC"/>
              </a:rPr>
              <a:t>Health &amp; Stats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548640" y="5843016"/>
            <a:ext cx="1828800" cy="146304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700" b="0">
                <a:solidFill>
                  <a:srgbClr val="B9CAD9"/>
                </a:solidFill>
                <a:latin typeface="Noto Sans CJK TC"/>
              </a:rPr>
              <a:t>服務/worker/DB</a:t>
            </a:r>
          </a:p>
        </p:txBody>
      </p:sp>
      <p:sp>
        <p:nvSpPr>
          <p:cNvPr id="51" name="Chevron 50"/>
          <p:cNvSpPr/>
          <p:nvPr/>
        </p:nvSpPr>
        <p:spPr>
          <a:xfrm>
            <a:off x="2496312" y="5696712"/>
            <a:ext cx="219456" cy="283464"/>
          </a:xfrm>
          <a:prstGeom prst="chevron">
            <a:avLst/>
          </a:prstGeom>
          <a:solidFill>
            <a:srgbClr val="00A6A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" name="Rounded Rectangle 51"/>
          <p:cNvSpPr/>
          <p:nvPr/>
        </p:nvSpPr>
        <p:spPr>
          <a:xfrm>
            <a:off x="2743200" y="5550408"/>
            <a:ext cx="1975104" cy="576072"/>
          </a:xfrm>
          <a:prstGeom prst="roundRect">
            <a:avLst/>
          </a:prstGeom>
          <a:solidFill>
            <a:srgbClr val="0B1F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" name="TextBox 52"/>
          <p:cNvSpPr txBox="1"/>
          <p:nvPr/>
        </p:nvSpPr>
        <p:spPr>
          <a:xfrm>
            <a:off x="2834640" y="5614416"/>
            <a:ext cx="1792224" cy="173736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60" b="1">
                <a:solidFill>
                  <a:srgbClr val="FFFFFF"/>
                </a:solidFill>
                <a:latin typeface="Noto Sans CJK TC"/>
              </a:rPr>
              <a:t>Logs &amp; SSE</a:t>
            </a:r>
          </a:p>
        </p:txBody>
      </p:sp>
      <p:sp>
        <p:nvSpPr>
          <p:cNvPr id="54" name="TextBox 53"/>
          <p:cNvSpPr txBox="1"/>
          <p:nvPr/>
        </p:nvSpPr>
        <p:spPr>
          <a:xfrm>
            <a:off x="2816352" y="5843016"/>
            <a:ext cx="1828800" cy="146304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700" b="0">
                <a:solidFill>
                  <a:srgbClr val="B9CAD9"/>
                </a:solidFill>
                <a:latin typeface="Noto Sans CJK TC"/>
              </a:rPr>
              <a:t>錯誤與即時事件</a:t>
            </a:r>
          </a:p>
        </p:txBody>
      </p:sp>
      <p:sp>
        <p:nvSpPr>
          <p:cNvPr id="55" name="Chevron 54"/>
          <p:cNvSpPr/>
          <p:nvPr/>
        </p:nvSpPr>
        <p:spPr>
          <a:xfrm>
            <a:off x="4764024" y="5696712"/>
            <a:ext cx="219456" cy="283464"/>
          </a:xfrm>
          <a:prstGeom prst="chevron">
            <a:avLst/>
          </a:prstGeom>
          <a:solidFill>
            <a:srgbClr val="00A6A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6" name="Rounded Rectangle 55"/>
          <p:cNvSpPr/>
          <p:nvPr/>
        </p:nvSpPr>
        <p:spPr>
          <a:xfrm>
            <a:off x="5010912" y="5550408"/>
            <a:ext cx="1975104" cy="576072"/>
          </a:xfrm>
          <a:prstGeom prst="roundRect">
            <a:avLst/>
          </a:prstGeom>
          <a:solidFill>
            <a:srgbClr val="0B1F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7" name="TextBox 56"/>
          <p:cNvSpPr txBox="1"/>
          <p:nvPr/>
        </p:nvSpPr>
        <p:spPr>
          <a:xfrm>
            <a:off x="5102352" y="5614416"/>
            <a:ext cx="1792224" cy="173736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60" b="1">
                <a:solidFill>
                  <a:srgbClr val="FFFFFF"/>
                </a:solidFill>
                <a:latin typeface="Noto Sans CJK TC"/>
              </a:rPr>
              <a:t>Browser E2E</a:t>
            </a:r>
          </a:p>
        </p:txBody>
      </p:sp>
      <p:sp>
        <p:nvSpPr>
          <p:cNvPr id="58" name="TextBox 57"/>
          <p:cNvSpPr txBox="1"/>
          <p:nvPr/>
        </p:nvSpPr>
        <p:spPr>
          <a:xfrm>
            <a:off x="5084064" y="5843016"/>
            <a:ext cx="1828800" cy="146304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700" b="0">
                <a:solidFill>
                  <a:srgbClr val="B9CAD9"/>
                </a:solidFill>
                <a:latin typeface="Noto Sans CJK TC"/>
              </a:rPr>
              <a:t>真實聊天流程</a:t>
            </a:r>
          </a:p>
        </p:txBody>
      </p:sp>
      <p:sp>
        <p:nvSpPr>
          <p:cNvPr id="59" name="Chevron 58"/>
          <p:cNvSpPr/>
          <p:nvPr/>
        </p:nvSpPr>
        <p:spPr>
          <a:xfrm>
            <a:off x="7031736" y="5696712"/>
            <a:ext cx="219456" cy="283464"/>
          </a:xfrm>
          <a:prstGeom prst="chevron">
            <a:avLst/>
          </a:prstGeom>
          <a:solidFill>
            <a:srgbClr val="00A6A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0" name="Rounded Rectangle 59"/>
          <p:cNvSpPr/>
          <p:nvPr/>
        </p:nvSpPr>
        <p:spPr>
          <a:xfrm>
            <a:off x="7278624" y="5550408"/>
            <a:ext cx="1975104" cy="576072"/>
          </a:xfrm>
          <a:prstGeom prst="roundRect">
            <a:avLst/>
          </a:prstGeom>
          <a:solidFill>
            <a:srgbClr val="0B1F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1" name="TextBox 60"/>
          <p:cNvSpPr txBox="1"/>
          <p:nvPr/>
        </p:nvSpPr>
        <p:spPr>
          <a:xfrm>
            <a:off x="7370064" y="5614416"/>
            <a:ext cx="1792224" cy="173736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60" b="1">
                <a:solidFill>
                  <a:srgbClr val="FFFFFF"/>
                </a:solidFill>
                <a:latin typeface="Noto Sans CJK TC"/>
              </a:rPr>
              <a:t>Backup / Preflight</a:t>
            </a:r>
          </a:p>
        </p:txBody>
      </p:sp>
      <p:sp>
        <p:nvSpPr>
          <p:cNvPr id="62" name="TextBox 61"/>
          <p:cNvSpPr txBox="1"/>
          <p:nvPr/>
        </p:nvSpPr>
        <p:spPr>
          <a:xfrm>
            <a:off x="7351776" y="5843016"/>
            <a:ext cx="1828800" cy="146304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700" b="0">
                <a:solidFill>
                  <a:srgbClr val="B9CAD9"/>
                </a:solidFill>
                <a:latin typeface="Noto Sans CJK TC"/>
              </a:rPr>
              <a:t>安裝與還原準備</a:t>
            </a:r>
          </a:p>
        </p:txBody>
      </p:sp>
      <p:sp>
        <p:nvSpPr>
          <p:cNvPr id="63" name="Chevron 62"/>
          <p:cNvSpPr/>
          <p:nvPr/>
        </p:nvSpPr>
        <p:spPr>
          <a:xfrm>
            <a:off x="9299448" y="5696712"/>
            <a:ext cx="219456" cy="283464"/>
          </a:xfrm>
          <a:prstGeom prst="chevron">
            <a:avLst/>
          </a:prstGeom>
          <a:solidFill>
            <a:srgbClr val="00A6A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4" name="Rounded Rectangle 63"/>
          <p:cNvSpPr/>
          <p:nvPr/>
        </p:nvSpPr>
        <p:spPr>
          <a:xfrm>
            <a:off x="9546336" y="5550408"/>
            <a:ext cx="1975104" cy="576072"/>
          </a:xfrm>
          <a:prstGeom prst="roundRect">
            <a:avLst/>
          </a:prstGeom>
          <a:solidFill>
            <a:srgbClr val="0B1F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5" name="TextBox 64"/>
          <p:cNvSpPr txBox="1"/>
          <p:nvPr/>
        </p:nvSpPr>
        <p:spPr>
          <a:xfrm>
            <a:off x="9637776" y="5614416"/>
            <a:ext cx="1792224" cy="173736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60" b="1">
                <a:solidFill>
                  <a:srgbClr val="FFFFFF"/>
                </a:solidFill>
                <a:latin typeface="Noto Sans CJK TC"/>
              </a:rPr>
              <a:t>Review &amp; Improve</a:t>
            </a:r>
          </a:p>
        </p:txBody>
      </p:sp>
      <p:sp>
        <p:nvSpPr>
          <p:cNvPr id="66" name="TextBox 65"/>
          <p:cNvSpPr txBox="1"/>
          <p:nvPr/>
        </p:nvSpPr>
        <p:spPr>
          <a:xfrm>
            <a:off x="9619488" y="5843016"/>
            <a:ext cx="1828800" cy="146304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700" b="0">
                <a:solidFill>
                  <a:srgbClr val="B9CAD9"/>
                </a:solidFill>
                <a:latin typeface="Noto Sans CJK TC"/>
              </a:rPr>
              <a:t>根因修正與回歸</a:t>
            </a:r>
          </a:p>
        </p:txBody>
      </p:sp>
      <p:sp>
        <p:nvSpPr>
          <p:cNvPr id="67" name="Rectangle 66"/>
          <p:cNvSpPr/>
          <p:nvPr/>
        </p:nvSpPr>
        <p:spPr>
          <a:xfrm>
            <a:off x="475488" y="6391656"/>
            <a:ext cx="11137392" cy="9144"/>
          </a:xfrm>
          <a:prstGeom prst="rect">
            <a:avLst/>
          </a:prstGeom>
          <a:solidFill>
            <a:srgbClr val="D5DE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8" name="TextBox 67"/>
          <p:cNvSpPr txBox="1"/>
          <p:nvPr/>
        </p:nvSpPr>
        <p:spPr>
          <a:xfrm>
            <a:off x="475488" y="6473952"/>
            <a:ext cx="8229600" cy="173736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19" b="1">
                <a:solidFill>
                  <a:srgbClr val="52677A"/>
                </a:solidFill>
                <a:latin typeface="Noto Sans CJK TC"/>
              </a:rPr>
              <a:t>報告重點｜企業級不是只看功能可用；需把身份、秘密、租戶、備援與 SLO 變成可持續驗證的控制面。</a:t>
            </a:r>
          </a:p>
        </p:txBody>
      </p:sp>
      <p:sp>
        <p:nvSpPr>
          <p:cNvPr id="69" name="TextBox 68"/>
          <p:cNvSpPr txBox="1"/>
          <p:nvPr/>
        </p:nvSpPr>
        <p:spPr>
          <a:xfrm>
            <a:off x="8887968" y="6473952"/>
            <a:ext cx="2724912" cy="173736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700" b="0">
                <a:solidFill>
                  <a:srgbClr val="71859A"/>
                </a:solidFill>
                <a:latin typeface="Noto Sans CJK TC"/>
              </a:rPr>
              <a:t>Current-state architecture · 2026.07.17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1F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7863840" y="-548640"/>
            <a:ext cx="5029200" cy="5029200"/>
          </a:xfrm>
          <a:prstGeom prst="ellipse">
            <a:avLst/>
          </a:prstGeom>
          <a:solidFill>
            <a:srgbClr val="2F6F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9418320" y="4206240"/>
            <a:ext cx="3657600" cy="3657600"/>
          </a:xfrm>
          <a:prstGeom prst="ellipse">
            <a:avLst/>
          </a:prstGeom>
          <a:solidFill>
            <a:srgbClr val="00A6A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Oval 4"/>
          <p:cNvSpPr/>
          <p:nvPr/>
        </p:nvSpPr>
        <p:spPr>
          <a:xfrm>
            <a:off x="-1097280" y="5212080"/>
            <a:ext cx="3657600" cy="1828800"/>
          </a:xfrm>
          <a:prstGeom prst="ellipse">
            <a:avLst/>
          </a:prstGeom>
          <a:solidFill>
            <a:srgbClr val="5B8DE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58368" y="402336"/>
            <a:ext cx="4389120" cy="18288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19" b="1">
                <a:solidFill>
                  <a:srgbClr val="00A6A6"/>
                </a:solidFill>
                <a:latin typeface="Noto Sans CJK TC"/>
              </a:rPr>
              <a:t>09 · MANAGEMENT TAKEAWAY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58368" y="731520"/>
            <a:ext cx="8686800" cy="548640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700" b="1">
                <a:solidFill>
                  <a:srgbClr val="FFFFFF"/>
                </a:solidFill>
                <a:latin typeface="Noto Serif CJK TC"/>
              </a:rPr>
              <a:t>主管結論：架構已具備企業知識平台骨幹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76656" y="1298448"/>
            <a:ext cx="9875520" cy="292608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50" b="0">
                <a:solidFill>
                  <a:srgbClr val="C7D8E7"/>
                </a:solidFill>
                <a:latin typeface="Noto Sans CJK TC"/>
              </a:rPr>
              <a:t>現行系統可支援 on-prem 部署、雙引擎檢索、背景攝入與 OpenClaw 助理；下一階段應從『可運作』走向『可治理、可擴展、可稽核』。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10753344" y="457200"/>
            <a:ext cx="713232" cy="310896"/>
          </a:xfrm>
          <a:prstGeom prst="roundRect">
            <a:avLst/>
          </a:prstGeom>
          <a:solidFill>
            <a:srgbClr val="2F6FED"/>
          </a:solidFill>
          <a:ln w="12700">
            <a:solidFill>
              <a:srgbClr val="2F6F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50800" rIns="50800" tIns="0" bIns="0"/>
          <a:lstStyle/>
          <a:p>
            <a:pPr algn="ctr"/>
            <a:r>
              <a:rPr sz="950" b="1">
                <a:solidFill>
                  <a:srgbClr val="FFFFFF"/>
                </a:solidFill>
                <a:latin typeface="Noto Sans CJK TC"/>
              </a:rPr>
              <a:t>10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58368" y="1865376"/>
            <a:ext cx="3529584" cy="2231136"/>
          </a:xfrm>
          <a:prstGeom prst="roundRect">
            <a:avLst/>
          </a:prstGeom>
          <a:solidFill>
            <a:srgbClr val="132E46"/>
          </a:solidFill>
          <a:ln w="12700">
            <a:solidFill>
              <a:srgbClr val="31516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ounded Rectangle 10"/>
          <p:cNvSpPr/>
          <p:nvPr/>
        </p:nvSpPr>
        <p:spPr>
          <a:xfrm>
            <a:off x="822959" y="2029968"/>
            <a:ext cx="1060704" cy="274320"/>
          </a:xfrm>
          <a:prstGeom prst="roundRect">
            <a:avLst/>
          </a:prstGeom>
          <a:solidFill>
            <a:srgbClr val="2F6FED"/>
          </a:solidFill>
          <a:ln w="12700">
            <a:solidFill>
              <a:srgbClr val="2F6F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50800" rIns="50800" tIns="0" bIns="0"/>
          <a:lstStyle/>
          <a:p>
            <a:pPr algn="ctr"/>
            <a:r>
              <a:rPr sz="740" b="1">
                <a:solidFill>
                  <a:srgbClr val="FFFFFF"/>
                </a:solidFill>
                <a:latin typeface="Noto Sans CJK TC"/>
              </a:rPr>
              <a:t>READY NOW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22959" y="2450592"/>
            <a:ext cx="3182112" cy="237744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50" b="1">
                <a:solidFill>
                  <a:srgbClr val="FFFFFF"/>
                </a:solidFill>
                <a:latin typeface="Noto Sans CJK TC"/>
              </a:rPr>
              <a:t>現有優勢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841247" y="2907792"/>
            <a:ext cx="73152" cy="73152"/>
          </a:xfrm>
          <a:prstGeom prst="roundRect">
            <a:avLst/>
          </a:prstGeom>
          <a:solidFill>
            <a:srgbClr val="2F6F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005840" y="2852928"/>
            <a:ext cx="2944368" cy="228600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50" b="0">
                <a:solidFill>
                  <a:srgbClr val="C7D8E7"/>
                </a:solidFill>
                <a:latin typeface="Noto Sans CJK TC"/>
              </a:rPr>
              <a:t>Hybrid RAG + GraphRAG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841247" y="3191256"/>
            <a:ext cx="73152" cy="73152"/>
          </a:xfrm>
          <a:prstGeom prst="roundRect">
            <a:avLst/>
          </a:prstGeom>
          <a:solidFill>
            <a:srgbClr val="2F6F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1005840" y="3136392"/>
            <a:ext cx="2944368" cy="228600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50" b="0">
                <a:solidFill>
                  <a:srgbClr val="C7D8E7"/>
                </a:solidFill>
                <a:latin typeface="Noto Sans CJK TC"/>
              </a:rPr>
              <a:t>FastAPI / Celery 非同步骨幹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841247" y="3474720"/>
            <a:ext cx="73152" cy="73152"/>
          </a:xfrm>
          <a:prstGeom prst="roundRect">
            <a:avLst/>
          </a:prstGeom>
          <a:solidFill>
            <a:srgbClr val="2F6F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1005840" y="3419856"/>
            <a:ext cx="2944368" cy="228600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50" b="0">
                <a:solidFill>
                  <a:srgbClr val="C7D8E7"/>
                </a:solidFill>
                <a:latin typeface="Noto Sans CJK TC"/>
              </a:rPr>
              <a:t>可攜式 on-prem release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841247" y="3758183"/>
            <a:ext cx="73152" cy="73152"/>
          </a:xfrm>
          <a:prstGeom prst="roundRect">
            <a:avLst/>
          </a:prstGeom>
          <a:solidFill>
            <a:srgbClr val="2F6F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1005840" y="3703320"/>
            <a:ext cx="2944368" cy="228600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50" b="0">
                <a:solidFill>
                  <a:srgbClr val="C7D8E7"/>
                </a:solidFill>
                <a:latin typeface="Noto Sans CJK TC"/>
              </a:rPr>
              <a:t>來源、Chunk 與管理 API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4389120" y="1865376"/>
            <a:ext cx="3529584" cy="2231136"/>
          </a:xfrm>
          <a:prstGeom prst="roundRect">
            <a:avLst/>
          </a:prstGeom>
          <a:solidFill>
            <a:srgbClr val="132E46"/>
          </a:solidFill>
          <a:ln w="12700">
            <a:solidFill>
              <a:srgbClr val="31516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ounded Rectangle 21"/>
          <p:cNvSpPr/>
          <p:nvPr/>
        </p:nvSpPr>
        <p:spPr>
          <a:xfrm>
            <a:off x="4553712" y="2029968"/>
            <a:ext cx="1060704" cy="274320"/>
          </a:xfrm>
          <a:prstGeom prst="roundRect">
            <a:avLst/>
          </a:prstGeom>
          <a:solidFill>
            <a:srgbClr val="F4B740"/>
          </a:solidFill>
          <a:ln w="12700">
            <a:solidFill>
              <a:srgbClr val="F4B74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50800" rIns="50800" tIns="0" bIns="0"/>
          <a:lstStyle/>
          <a:p>
            <a:pPr algn="ctr"/>
            <a:r>
              <a:rPr sz="740" b="1">
                <a:solidFill>
                  <a:srgbClr val="0B1F33"/>
                </a:solidFill>
                <a:latin typeface="Noto Sans CJK TC"/>
              </a:rPr>
              <a:t>DEPENDENCIES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4553712" y="2450592"/>
            <a:ext cx="3182112" cy="237744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50" b="1">
                <a:solidFill>
                  <a:srgbClr val="FFFFFF"/>
                </a:solidFill>
                <a:latin typeface="Noto Sans CJK TC"/>
              </a:rPr>
              <a:t>關鍵依賴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4572000" y="2907792"/>
            <a:ext cx="73152" cy="73152"/>
          </a:xfrm>
          <a:prstGeom prst="roundRect">
            <a:avLst/>
          </a:prstGeom>
          <a:solidFill>
            <a:srgbClr val="F4B7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4736592" y="2852928"/>
            <a:ext cx="2944368" cy="228600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50" b="0">
                <a:solidFill>
                  <a:srgbClr val="C7D8E7"/>
                </a:solidFill>
                <a:latin typeface="Noto Sans CJK TC"/>
              </a:rPr>
              <a:t>Ollama 模型效能與可用性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4572000" y="3191256"/>
            <a:ext cx="73152" cy="73152"/>
          </a:xfrm>
          <a:prstGeom prst="roundRect">
            <a:avLst/>
          </a:prstGeom>
          <a:solidFill>
            <a:srgbClr val="F4B7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4736592" y="3136392"/>
            <a:ext cx="2944368" cy="228600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50" b="0">
                <a:solidFill>
                  <a:srgbClr val="C7D8E7"/>
                </a:solidFill>
                <a:latin typeface="Noto Sans CJK TC"/>
              </a:rPr>
              <a:t>OpenClaw gateway / identity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4572000" y="3474720"/>
            <a:ext cx="73152" cy="73152"/>
          </a:xfrm>
          <a:prstGeom prst="roundRect">
            <a:avLst/>
          </a:prstGeom>
          <a:solidFill>
            <a:srgbClr val="F4B7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4736592" y="3419856"/>
            <a:ext cx="2944368" cy="228600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50" b="0">
                <a:solidFill>
                  <a:srgbClr val="C7D8E7"/>
                </a:solidFill>
                <a:latin typeface="Noto Sans CJK TC"/>
              </a:rPr>
              <a:t>資料品質與攝入成功率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4572000" y="3758183"/>
            <a:ext cx="73152" cy="73152"/>
          </a:xfrm>
          <a:prstGeom prst="roundRect">
            <a:avLst/>
          </a:prstGeom>
          <a:solidFill>
            <a:srgbClr val="F4B7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4736592" y="3703320"/>
            <a:ext cx="2944368" cy="228600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50" b="0">
                <a:solidFill>
                  <a:srgbClr val="C7D8E7"/>
                </a:solidFill>
                <a:latin typeface="Noto Sans CJK TC"/>
              </a:rPr>
              <a:t>Neo4j / Qdrant 持久性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8119871" y="1865376"/>
            <a:ext cx="3529584" cy="2231136"/>
          </a:xfrm>
          <a:prstGeom prst="roundRect">
            <a:avLst/>
          </a:prstGeom>
          <a:solidFill>
            <a:srgbClr val="132E46"/>
          </a:solidFill>
          <a:ln w="12700">
            <a:solidFill>
              <a:srgbClr val="31516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Rounded Rectangle 32"/>
          <p:cNvSpPr/>
          <p:nvPr/>
        </p:nvSpPr>
        <p:spPr>
          <a:xfrm>
            <a:off x="8284463" y="2029968"/>
            <a:ext cx="1060704" cy="274320"/>
          </a:xfrm>
          <a:prstGeom prst="roundRect">
            <a:avLst/>
          </a:prstGeom>
          <a:solidFill>
            <a:srgbClr val="00A6A6"/>
          </a:solidFill>
          <a:ln w="12700">
            <a:solidFill>
              <a:srgbClr val="00A6A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50800" rIns="50800" tIns="0" bIns="0"/>
          <a:lstStyle/>
          <a:p>
            <a:pPr algn="ctr"/>
            <a:r>
              <a:rPr sz="740" b="1">
                <a:solidFill>
                  <a:srgbClr val="FFFFFF"/>
                </a:solidFill>
                <a:latin typeface="Noto Sans CJK TC"/>
              </a:rPr>
              <a:t>DECISIONS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8284463" y="2450592"/>
            <a:ext cx="3182112" cy="237744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50" b="1">
                <a:solidFill>
                  <a:srgbClr val="FFFFFF"/>
                </a:solidFill>
                <a:latin typeface="Noto Sans CJK TC"/>
              </a:rPr>
              <a:t>需要主管支持</a:t>
            </a:r>
          </a:p>
        </p:txBody>
      </p:sp>
      <p:sp>
        <p:nvSpPr>
          <p:cNvPr id="35" name="Rounded Rectangle 34"/>
          <p:cNvSpPr/>
          <p:nvPr/>
        </p:nvSpPr>
        <p:spPr>
          <a:xfrm>
            <a:off x="8302751" y="2907792"/>
            <a:ext cx="73152" cy="73152"/>
          </a:xfrm>
          <a:prstGeom prst="roundRect">
            <a:avLst/>
          </a:prstGeom>
          <a:solidFill>
            <a:srgbClr val="00A6A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8467344" y="2852928"/>
            <a:ext cx="2944368" cy="228600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50" b="0">
                <a:solidFill>
                  <a:srgbClr val="C7D8E7"/>
                </a:solidFill>
                <a:latin typeface="Noto Sans CJK TC"/>
              </a:rPr>
              <a:t>明確服務 SLO 與容量目標</a:t>
            </a:r>
          </a:p>
        </p:txBody>
      </p:sp>
      <p:sp>
        <p:nvSpPr>
          <p:cNvPr id="37" name="Rounded Rectangle 36"/>
          <p:cNvSpPr/>
          <p:nvPr/>
        </p:nvSpPr>
        <p:spPr>
          <a:xfrm>
            <a:off x="8302751" y="3191256"/>
            <a:ext cx="73152" cy="73152"/>
          </a:xfrm>
          <a:prstGeom prst="roundRect">
            <a:avLst/>
          </a:prstGeom>
          <a:solidFill>
            <a:srgbClr val="00A6A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8467344" y="3136392"/>
            <a:ext cx="2944368" cy="228600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50" b="0">
                <a:solidFill>
                  <a:srgbClr val="C7D8E7"/>
                </a:solidFill>
                <a:latin typeface="Noto Sans CJK TC"/>
              </a:rPr>
              <a:t>指定資料治理與平台 owner</a:t>
            </a:r>
          </a:p>
        </p:txBody>
      </p:sp>
      <p:sp>
        <p:nvSpPr>
          <p:cNvPr id="39" name="Rounded Rectangle 38"/>
          <p:cNvSpPr/>
          <p:nvPr/>
        </p:nvSpPr>
        <p:spPr>
          <a:xfrm>
            <a:off x="8302751" y="3474720"/>
            <a:ext cx="73152" cy="73152"/>
          </a:xfrm>
          <a:prstGeom prst="roundRect">
            <a:avLst/>
          </a:prstGeom>
          <a:solidFill>
            <a:srgbClr val="00A6A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8467344" y="3419856"/>
            <a:ext cx="2944368" cy="228600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50" b="0">
                <a:solidFill>
                  <a:srgbClr val="C7D8E7"/>
                </a:solidFill>
                <a:latin typeface="Noto Sans CJK TC"/>
              </a:rPr>
              <a:t>核定安全與秘密管理優先級</a:t>
            </a:r>
          </a:p>
        </p:txBody>
      </p:sp>
      <p:sp>
        <p:nvSpPr>
          <p:cNvPr id="41" name="Rounded Rectangle 40"/>
          <p:cNvSpPr/>
          <p:nvPr/>
        </p:nvSpPr>
        <p:spPr>
          <a:xfrm>
            <a:off x="8302751" y="3758183"/>
            <a:ext cx="73152" cy="73152"/>
          </a:xfrm>
          <a:prstGeom prst="roundRect">
            <a:avLst/>
          </a:prstGeom>
          <a:solidFill>
            <a:srgbClr val="00A6A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8467344" y="3703320"/>
            <a:ext cx="2944368" cy="228600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50" b="0">
                <a:solidFill>
                  <a:srgbClr val="C7D8E7"/>
                </a:solidFill>
                <a:latin typeface="Noto Sans CJK TC"/>
              </a:rPr>
              <a:t>決定是否需要多租戶隔離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658368" y="4407408"/>
            <a:ext cx="3291840" cy="18288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80" b="1">
                <a:solidFill>
                  <a:srgbClr val="00A6A6"/>
                </a:solidFill>
                <a:latin typeface="Noto Sans CJK TC"/>
              </a:rPr>
              <a:t>90-DAY ARCHITECTURE PRIORITIES</a:t>
            </a:r>
          </a:p>
        </p:txBody>
      </p:sp>
      <p:sp>
        <p:nvSpPr>
          <p:cNvPr id="44" name="Rounded Rectangle 43"/>
          <p:cNvSpPr/>
          <p:nvPr/>
        </p:nvSpPr>
        <p:spPr>
          <a:xfrm>
            <a:off x="658368" y="4736592"/>
            <a:ext cx="2578608" cy="822960"/>
          </a:xfrm>
          <a:prstGeom prst="roundRect">
            <a:avLst/>
          </a:prstGeom>
          <a:solidFill>
            <a:srgbClr val="132E46"/>
          </a:solidFill>
          <a:ln w="12700">
            <a:solidFill>
              <a:srgbClr val="31516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Rounded Rectangle 44"/>
          <p:cNvSpPr/>
          <p:nvPr/>
        </p:nvSpPr>
        <p:spPr>
          <a:xfrm>
            <a:off x="786384" y="4892040"/>
            <a:ext cx="457200" cy="256032"/>
          </a:xfrm>
          <a:prstGeom prst="roundRect">
            <a:avLst/>
          </a:prstGeom>
          <a:solidFill>
            <a:srgbClr val="D94F4F"/>
          </a:solidFill>
          <a:ln w="12700">
            <a:solidFill>
              <a:srgbClr val="D94F4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50800" rIns="50800" tIns="0" bIns="0"/>
          <a:lstStyle/>
          <a:p>
            <a:pPr algn="ctr"/>
            <a:r>
              <a:rPr sz="720" b="1">
                <a:solidFill>
                  <a:srgbClr val="FFFFFF"/>
                </a:solidFill>
                <a:latin typeface="Noto Sans CJK TC"/>
              </a:rPr>
              <a:t>P0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1371600" y="4800600"/>
            <a:ext cx="1664208" cy="210312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60" b="1">
                <a:solidFill>
                  <a:srgbClr val="FFFFFF"/>
                </a:solidFill>
                <a:latin typeface="Noto Sans CJK TC"/>
              </a:rPr>
              <a:t>安全基線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1371600" y="5093208"/>
            <a:ext cx="1664208" cy="164592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750" b="0">
                <a:solidFill>
                  <a:srgbClr val="B9CAD9"/>
                </a:solidFill>
                <a:latin typeface="Noto Sans CJK TC"/>
              </a:rPr>
              <a:t>Secrets / CORS / API auth</a:t>
            </a:r>
          </a:p>
        </p:txBody>
      </p:sp>
      <p:sp>
        <p:nvSpPr>
          <p:cNvPr id="48" name="Chevron 47"/>
          <p:cNvSpPr/>
          <p:nvPr/>
        </p:nvSpPr>
        <p:spPr>
          <a:xfrm>
            <a:off x="3328415" y="5001768"/>
            <a:ext cx="237744" cy="292608"/>
          </a:xfrm>
          <a:prstGeom prst="chevron">
            <a:avLst/>
          </a:prstGeom>
          <a:solidFill>
            <a:srgbClr val="D94F4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Rounded Rectangle 48"/>
          <p:cNvSpPr/>
          <p:nvPr/>
        </p:nvSpPr>
        <p:spPr>
          <a:xfrm>
            <a:off x="3529584" y="4736592"/>
            <a:ext cx="2578608" cy="822960"/>
          </a:xfrm>
          <a:prstGeom prst="roundRect">
            <a:avLst/>
          </a:prstGeom>
          <a:solidFill>
            <a:srgbClr val="132E46"/>
          </a:solidFill>
          <a:ln w="12700">
            <a:solidFill>
              <a:srgbClr val="31516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Rounded Rectangle 49"/>
          <p:cNvSpPr/>
          <p:nvPr/>
        </p:nvSpPr>
        <p:spPr>
          <a:xfrm>
            <a:off x="3657600" y="4892040"/>
            <a:ext cx="457200" cy="256032"/>
          </a:xfrm>
          <a:prstGeom prst="roundRect">
            <a:avLst/>
          </a:prstGeom>
          <a:solidFill>
            <a:srgbClr val="2F6FED"/>
          </a:solidFill>
          <a:ln w="12700">
            <a:solidFill>
              <a:srgbClr val="2F6F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50800" rIns="50800" tIns="0" bIns="0"/>
          <a:lstStyle/>
          <a:p>
            <a:pPr algn="ctr"/>
            <a:r>
              <a:rPr sz="720" b="1">
                <a:solidFill>
                  <a:srgbClr val="FFFFFF"/>
                </a:solidFill>
                <a:latin typeface="Noto Sans CJK TC"/>
              </a:rPr>
              <a:t>P1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4242816" y="4800600"/>
            <a:ext cx="1664208" cy="210312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60" b="1">
                <a:solidFill>
                  <a:srgbClr val="FFFFFF"/>
                </a:solidFill>
                <a:latin typeface="Noto Sans CJK TC"/>
              </a:rPr>
              <a:t>模組邊界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4242816" y="5093208"/>
            <a:ext cx="1664208" cy="164592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750" b="0">
                <a:solidFill>
                  <a:srgbClr val="B9CAD9"/>
                </a:solidFill>
                <a:latin typeface="Noto Sans CJK TC"/>
              </a:rPr>
              <a:t>FastAPI routers + services</a:t>
            </a:r>
          </a:p>
        </p:txBody>
      </p:sp>
      <p:sp>
        <p:nvSpPr>
          <p:cNvPr id="53" name="Chevron 52"/>
          <p:cNvSpPr/>
          <p:nvPr/>
        </p:nvSpPr>
        <p:spPr>
          <a:xfrm>
            <a:off x="6199632" y="5001768"/>
            <a:ext cx="237744" cy="292608"/>
          </a:xfrm>
          <a:prstGeom prst="chevron">
            <a:avLst/>
          </a:prstGeom>
          <a:solidFill>
            <a:srgbClr val="2F6F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" name="Rounded Rectangle 53"/>
          <p:cNvSpPr/>
          <p:nvPr/>
        </p:nvSpPr>
        <p:spPr>
          <a:xfrm>
            <a:off x="6400800" y="4736592"/>
            <a:ext cx="2578608" cy="822960"/>
          </a:xfrm>
          <a:prstGeom prst="roundRect">
            <a:avLst/>
          </a:prstGeom>
          <a:solidFill>
            <a:srgbClr val="132E46"/>
          </a:solidFill>
          <a:ln w="12700">
            <a:solidFill>
              <a:srgbClr val="31516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" name="Rounded Rectangle 54"/>
          <p:cNvSpPr/>
          <p:nvPr/>
        </p:nvSpPr>
        <p:spPr>
          <a:xfrm>
            <a:off x="6528816" y="4892040"/>
            <a:ext cx="457200" cy="256032"/>
          </a:xfrm>
          <a:prstGeom prst="roundRect">
            <a:avLst/>
          </a:prstGeom>
          <a:solidFill>
            <a:srgbClr val="00A6A6"/>
          </a:solidFill>
          <a:ln w="12700">
            <a:solidFill>
              <a:srgbClr val="00A6A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50800" rIns="50800" tIns="0" bIns="0"/>
          <a:lstStyle/>
          <a:p>
            <a:pPr algn="ctr"/>
            <a:r>
              <a:rPr sz="720" b="1">
                <a:solidFill>
                  <a:srgbClr val="FFFFFF"/>
                </a:solidFill>
                <a:latin typeface="Noto Sans CJK TC"/>
              </a:rPr>
              <a:t>P1</a:t>
            </a:r>
          </a:p>
        </p:txBody>
      </p:sp>
      <p:sp>
        <p:nvSpPr>
          <p:cNvPr id="56" name="TextBox 55"/>
          <p:cNvSpPr txBox="1"/>
          <p:nvPr/>
        </p:nvSpPr>
        <p:spPr>
          <a:xfrm>
            <a:off x="7114032" y="4800600"/>
            <a:ext cx="1664208" cy="210312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60" b="1">
                <a:solidFill>
                  <a:srgbClr val="FFFFFF"/>
                </a:solidFill>
                <a:latin typeface="Noto Sans CJK TC"/>
              </a:rPr>
              <a:t>營運 SLO</a:t>
            </a:r>
          </a:p>
        </p:txBody>
      </p:sp>
      <p:sp>
        <p:nvSpPr>
          <p:cNvPr id="57" name="TextBox 56"/>
          <p:cNvSpPr txBox="1"/>
          <p:nvPr/>
        </p:nvSpPr>
        <p:spPr>
          <a:xfrm>
            <a:off x="7114032" y="5093208"/>
            <a:ext cx="1664208" cy="164592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750" b="0">
                <a:solidFill>
                  <a:srgbClr val="B9CAD9"/>
                </a:solidFill>
                <a:latin typeface="Noto Sans CJK TC"/>
              </a:rPr>
              <a:t>metrics / alert / backup drill</a:t>
            </a:r>
          </a:p>
        </p:txBody>
      </p:sp>
      <p:sp>
        <p:nvSpPr>
          <p:cNvPr id="58" name="Chevron 57"/>
          <p:cNvSpPr/>
          <p:nvPr/>
        </p:nvSpPr>
        <p:spPr>
          <a:xfrm>
            <a:off x="9070848" y="5001768"/>
            <a:ext cx="237744" cy="292608"/>
          </a:xfrm>
          <a:prstGeom prst="chevron">
            <a:avLst/>
          </a:prstGeom>
          <a:solidFill>
            <a:srgbClr val="00A6A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9" name="Rounded Rectangle 58"/>
          <p:cNvSpPr/>
          <p:nvPr/>
        </p:nvSpPr>
        <p:spPr>
          <a:xfrm>
            <a:off x="9272016" y="4736592"/>
            <a:ext cx="2578608" cy="822960"/>
          </a:xfrm>
          <a:prstGeom prst="roundRect">
            <a:avLst/>
          </a:prstGeom>
          <a:solidFill>
            <a:srgbClr val="132E46"/>
          </a:solidFill>
          <a:ln w="12700">
            <a:solidFill>
              <a:srgbClr val="31516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0" name="Rounded Rectangle 59"/>
          <p:cNvSpPr/>
          <p:nvPr/>
        </p:nvSpPr>
        <p:spPr>
          <a:xfrm>
            <a:off x="9400032" y="4892040"/>
            <a:ext cx="457200" cy="256032"/>
          </a:xfrm>
          <a:prstGeom prst="roundRect">
            <a:avLst/>
          </a:prstGeom>
          <a:solidFill>
            <a:srgbClr val="F4B740"/>
          </a:solidFill>
          <a:ln w="12700">
            <a:solidFill>
              <a:srgbClr val="F4B74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50800" rIns="50800" tIns="0" bIns="0"/>
          <a:lstStyle/>
          <a:p>
            <a:pPr algn="ctr"/>
            <a:r>
              <a:rPr sz="720" b="1">
                <a:solidFill>
                  <a:srgbClr val="0B1F33"/>
                </a:solidFill>
                <a:latin typeface="Noto Sans CJK TC"/>
              </a:rPr>
              <a:t>P2</a:t>
            </a:r>
          </a:p>
        </p:txBody>
      </p:sp>
      <p:sp>
        <p:nvSpPr>
          <p:cNvPr id="61" name="TextBox 60"/>
          <p:cNvSpPr txBox="1"/>
          <p:nvPr/>
        </p:nvSpPr>
        <p:spPr>
          <a:xfrm>
            <a:off x="9985248" y="4800600"/>
            <a:ext cx="1664208" cy="210312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60" b="1">
                <a:solidFill>
                  <a:srgbClr val="FFFFFF"/>
                </a:solidFill>
                <a:latin typeface="Noto Sans CJK TC"/>
              </a:rPr>
              <a:t>規模治理</a:t>
            </a:r>
          </a:p>
        </p:txBody>
      </p:sp>
      <p:sp>
        <p:nvSpPr>
          <p:cNvPr id="62" name="TextBox 61"/>
          <p:cNvSpPr txBox="1"/>
          <p:nvPr/>
        </p:nvSpPr>
        <p:spPr>
          <a:xfrm>
            <a:off x="9985248" y="5093208"/>
            <a:ext cx="1664208" cy="164592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750" b="0">
                <a:solidFill>
                  <a:srgbClr val="B9CAD9"/>
                </a:solidFill>
                <a:latin typeface="Noto Sans CJK TC"/>
              </a:rPr>
              <a:t>tenant namespace / DR</a:t>
            </a:r>
          </a:p>
        </p:txBody>
      </p:sp>
      <p:sp>
        <p:nvSpPr>
          <p:cNvPr id="63" name="Rounded Rectangle 62"/>
          <p:cNvSpPr/>
          <p:nvPr/>
        </p:nvSpPr>
        <p:spPr>
          <a:xfrm>
            <a:off x="658368" y="5815584"/>
            <a:ext cx="10826496" cy="457200"/>
          </a:xfrm>
          <a:prstGeom prst="roundRect">
            <a:avLst/>
          </a:prstGeom>
          <a:solidFill>
            <a:srgbClr val="2F6F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4" name="TextBox 63"/>
          <p:cNvSpPr txBox="1"/>
          <p:nvPr/>
        </p:nvSpPr>
        <p:spPr>
          <a:xfrm>
            <a:off x="859536" y="5916168"/>
            <a:ext cx="10405872" cy="210312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19" b="1">
                <a:solidFill>
                  <a:srgbClr val="FFFFFF"/>
                </a:solidFill>
                <a:latin typeface="Noto Sans CJK TC"/>
              </a:rPr>
              <a:t>建議定位：將 Knowledge Base 視為可持續營運的企業 AI 平台，而非單一聊天介面或一次性 RAG 專案。</a:t>
            </a:r>
          </a:p>
        </p:txBody>
      </p:sp>
      <p:sp>
        <p:nvSpPr>
          <p:cNvPr id="65" name="Rectangle 64"/>
          <p:cNvSpPr/>
          <p:nvPr/>
        </p:nvSpPr>
        <p:spPr>
          <a:xfrm>
            <a:off x="475488" y="6391656"/>
            <a:ext cx="11137392" cy="9144"/>
          </a:xfrm>
          <a:prstGeom prst="rect">
            <a:avLst/>
          </a:prstGeom>
          <a:solidFill>
            <a:srgbClr val="33506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6" name="TextBox 65"/>
          <p:cNvSpPr txBox="1"/>
          <p:nvPr/>
        </p:nvSpPr>
        <p:spPr>
          <a:xfrm>
            <a:off x="475488" y="6473952"/>
            <a:ext cx="8229600" cy="173736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19" b="1">
                <a:solidFill>
                  <a:srgbClr val="C4D3E0"/>
                </a:solidFill>
                <a:latin typeface="Noto Sans CJK TC"/>
              </a:rPr>
              <a:t>報告重點｜既有骨幹已足以支撐下一階段投資；管理重點是把技術能力轉成有 owner、有 SLO、有控制面的平台產品。</a:t>
            </a:r>
          </a:p>
        </p:txBody>
      </p:sp>
      <p:sp>
        <p:nvSpPr>
          <p:cNvPr id="67" name="TextBox 66"/>
          <p:cNvSpPr txBox="1"/>
          <p:nvPr/>
        </p:nvSpPr>
        <p:spPr>
          <a:xfrm>
            <a:off x="8887968" y="6473952"/>
            <a:ext cx="2724912" cy="173736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700" b="0">
                <a:solidFill>
                  <a:srgbClr val="8FA6BA"/>
                </a:solidFill>
                <a:latin typeface="Noto Sans CJK TC"/>
              </a:rPr>
              <a:t>Current-state architecture · 2026.07.17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Knowledge Base 企業級系統架構</dc:title>
  <dc:subject>Knowledge Base current-state enterprise architecture</dc:subject>
  <dc:creator>Knowledge Base Architecture Team</dc:creator>
  <cp:keywords>Knowledge Base, FastAPI, Celery, Qdrant, Neo4j, Ollama, OpenClaw, Architecture</cp:keywords>
  <dc:description>Generated from the current repository architecture on 2026-07-17.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