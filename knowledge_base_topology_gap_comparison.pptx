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37160"/>
            <a:ext cx="34747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27C"/>
                </a:solidFill>
                <a:latin typeface="Noto Sans CJK T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"/>
            <a:ext cx="566928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541"/>
                </a:solidFill>
                <a:latin typeface="Noto Sans CJK TC"/>
              </a:rPr>
              <a:t>Knowledge Base 現況 vs 最終目標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0" y="155448"/>
            <a:ext cx="5742432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6727C"/>
                </a:solidFill>
                <a:latin typeface="Noto Sans CJK TC"/>
              </a:rPr>
              <a:t>綠框＝程式庫已具備；橘框＝能力存在但尚未完整整合；紅框＝明確缺口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" y="475488"/>
            <a:ext cx="11494008" cy="0"/>
          </a:xfrm>
          <a:prstGeom prst="line">
            <a:avLst/>
          </a:prstGeom>
          <a:ln w="889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50224" y="612648"/>
            <a:ext cx="164592" cy="164592"/>
          </a:xfrm>
          <a:prstGeom prst="roundRect">
            <a:avLst/>
          </a:prstGeom>
          <a:solidFill>
            <a:srgbClr val="EAF5EC"/>
          </a:solidFill>
          <a:ln w="127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42248" y="612648"/>
            <a:ext cx="694944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10344" y="612648"/>
            <a:ext cx="164592" cy="164592"/>
          </a:xfrm>
          <a:prstGeom prst="roundRect">
            <a:avLst/>
          </a:prstGeom>
          <a:solidFill>
            <a:srgbClr val="FFF3D9"/>
          </a:solidFill>
          <a:ln w="127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8" y="612648"/>
            <a:ext cx="694944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70464" y="612648"/>
            <a:ext cx="164592" cy="164592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B4515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62488" y="612648"/>
            <a:ext cx="694944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B45151"/>
                </a:solidFill>
                <a:latin typeface="Noto Sans CJK TC"/>
              </a:rPr>
              <a:t>尚缺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325880"/>
            <a:ext cx="2788920" cy="33832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" y="122529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123443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存取與既有 Web 系統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325880"/>
            <a:ext cx="4800600" cy="33832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93592" y="1225295"/>
            <a:ext cx="2414015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1234439"/>
            <a:ext cx="2304287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Knowledge Base AI 應用系統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5074920"/>
            <a:ext cx="8001000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84832" y="4974336"/>
            <a:ext cx="3401568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9696" y="4983480"/>
            <a:ext cx="3291839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7B7C"/>
                </a:solidFill>
                <a:latin typeface="Noto Sans CJK TC"/>
              </a:rPr>
              <a:t>Unified Knowledge Data Platform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078992" y="2212848"/>
            <a:ext cx="621792" cy="301752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25296" y="2258568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HTTPS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00784" y="2212848"/>
            <a:ext cx="649224" cy="301752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56231" y="2258568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HTTPS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078992" y="2212848"/>
            <a:ext cx="621792" cy="1289304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7280" y="2852928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WSS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00784" y="2212848"/>
            <a:ext cx="649224" cy="1289304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03704" y="2852928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HTTPS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664208" y="1920240"/>
            <a:ext cx="2103120" cy="932688"/>
          </a:xfrm>
          <a:prstGeom prst="bentConnector3">
            <a:avLst/>
          </a:prstGeom>
          <a:ln w="12700">
            <a:solidFill>
              <a:srgbClr val="2872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06040" y="2176272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Search API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843784" y="1920240"/>
            <a:ext cx="923544" cy="932688"/>
          </a:xfrm>
          <a:prstGeom prst="bentConnector3">
            <a:avLst/>
          </a:prstGeom>
          <a:ln w="12700">
            <a:solidFill>
              <a:srgbClr val="75559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072384" y="242316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Admin API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664208" y="1920240"/>
            <a:ext cx="3776472" cy="1920240"/>
          </a:xfrm>
          <a:prstGeom prst="bentConnector3">
            <a:avLst/>
          </a:prstGeom>
          <a:ln w="12700">
            <a:solidFill>
              <a:srgbClr val="2872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026664" y="3026664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WebSocket /ws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2843784" y="2496312"/>
            <a:ext cx="3410712" cy="1344168"/>
          </a:xfrm>
          <a:prstGeom prst="bentConnector3">
            <a:avLst/>
          </a:prstGeom>
          <a:ln w="12700">
            <a:solidFill>
              <a:srgbClr val="4D8C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96512" y="333756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Ingest Task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90288" y="2240280"/>
            <a:ext cx="0" cy="246888"/>
          </a:xfrm>
          <a:prstGeom prst="line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54496" y="2240280"/>
            <a:ext cx="0" cy="246888"/>
          </a:xfrm>
          <a:prstGeom prst="line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92624" y="3218688"/>
            <a:ext cx="0" cy="274320"/>
          </a:xfrm>
          <a:prstGeom prst="line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52160" y="3858768"/>
            <a:ext cx="1536192" cy="0"/>
          </a:xfrm>
          <a:prstGeom prst="line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55080" y="3675887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Task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893808" y="2240280"/>
            <a:ext cx="0" cy="301752"/>
          </a:xfrm>
          <a:prstGeom prst="line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893808" y="3246120"/>
            <a:ext cx="0" cy="301752"/>
          </a:xfrm>
          <a:prstGeom prst="line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65008" y="3858768"/>
            <a:ext cx="822960" cy="0"/>
          </a:xfrm>
          <a:prstGeom prst="line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083296" y="3666744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Tool / Session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3035808" y="4251960"/>
            <a:ext cx="1426464" cy="1097280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29000" y="470916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Vector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4727448" y="4251960"/>
            <a:ext cx="374904" cy="1097280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681728" y="470916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Graph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742432" y="4251960"/>
            <a:ext cx="667512" cy="1097280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25312" y="470916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Files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744968" y="4251960"/>
            <a:ext cx="347472" cy="1097280"/>
          </a:xfrm>
          <a:prstGeom prst="bentConnector3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662672" y="470916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State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26080" y="585216"/>
            <a:ext cx="1664208" cy="621792"/>
          </a:xfrm>
          <a:prstGeom prst="roundRect">
            <a:avLst/>
          </a:prstGeom>
          <a:solidFill>
            <a:srgbClr val="EDF7FB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60" b="1">
                <a:solidFill>
                  <a:srgbClr val="28729A"/>
                </a:solidFill>
                <a:latin typeface="Noto Sans CJK TC"/>
              </a:rPr>
              <a:t>使用者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30">
                <a:solidFill>
                  <a:srgbClr val="66727C"/>
                </a:solidFill>
                <a:latin typeface="Noto Sans CJK TC"/>
              </a:rPr>
              <a:t>Search / Chat 路徑已有；身分治理未完整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31920" y="621792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82312" y="585216"/>
            <a:ext cx="1664208" cy="621792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60" b="1">
                <a:solidFill>
                  <a:srgbClr val="755595"/>
                </a:solidFill>
                <a:latin typeface="Noto Sans CJK TC"/>
              </a:rPr>
              <a:t>管理者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30">
                <a:solidFill>
                  <a:srgbClr val="66727C"/>
                </a:solidFill>
                <a:latin typeface="Noto Sans CJK TC"/>
              </a:rPr>
              <a:t>Admin 功能已有；RBAC 未形成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88152" y="621792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38544" y="585216"/>
            <a:ext cx="1664208" cy="621792"/>
          </a:xfrm>
          <a:prstGeom prst="roundRect">
            <a:avLst/>
          </a:prstGeom>
          <a:solidFill>
            <a:srgbClr val="EAF5EC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60" b="1">
                <a:solidFill>
                  <a:srgbClr val="4D8C57"/>
                </a:solidFill>
                <a:latin typeface="Noto Sans CJK TC"/>
              </a:rPr>
              <a:t>知識擁護者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30">
                <a:solidFill>
                  <a:srgbClr val="66727C"/>
                </a:solidFill>
                <a:latin typeface="Noto Sans CJK TC"/>
              </a:rPr>
              <a:t>Upload / Watch 已有；角色未強制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44383" y="621792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8096" y="1609344"/>
            <a:ext cx="1865376" cy="603504"/>
          </a:xfrm>
          <a:prstGeom prst="roundRect">
            <a:avLst/>
          </a:prstGeom>
          <a:solidFill>
            <a:srgbClr val="EDF7FB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28729A"/>
                </a:solidFill>
                <a:latin typeface="Noto Sans CJK TC"/>
              </a:rPr>
              <a:t>Nginx TLS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HTTPS :3030 / 靜態資源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93976" y="1645920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3776" y="2514600"/>
            <a:ext cx="1170432" cy="667512"/>
          </a:xfrm>
          <a:prstGeom prst="roundRect">
            <a:avLst/>
          </a:prstGeom>
          <a:solidFill>
            <a:srgbClr val="EDF7FB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28729A"/>
                </a:solidFill>
                <a:latin typeface="Noto Sans CJK TC"/>
              </a:rPr>
              <a:t>Search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查詢 / 引用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24712" y="2551176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64792" y="2514600"/>
            <a:ext cx="1078992" cy="667512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Admin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管理 / 設定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04288" y="2551176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3776" y="3502152"/>
            <a:ext cx="1170432" cy="667512"/>
          </a:xfrm>
          <a:prstGeom prst="roundRect">
            <a:avLst/>
          </a:prstGeom>
          <a:solidFill>
            <a:srgbClr val="EDF7FB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28729A"/>
                </a:solidFill>
                <a:latin typeface="Noto Sans CJK TC"/>
              </a:rPr>
              <a:t>Chat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即時對話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24712" y="3538728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764792" y="3502152"/>
            <a:ext cx="1078992" cy="667512"/>
          </a:xfrm>
          <a:prstGeom prst="roundRect">
            <a:avLst/>
          </a:prstGeom>
          <a:solidFill>
            <a:srgbClr val="EAF5EC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4D8C57"/>
                </a:solidFill>
                <a:latin typeface="Noto Sans CJK TC"/>
              </a:rPr>
              <a:t>Upload / Watch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文件 / 索引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04288" y="3538728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767328" y="1609344"/>
            <a:ext cx="1645920" cy="630936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FastAPI / Uvicorn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REST · Task · Admin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873752" y="1645920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40680" y="1609344"/>
            <a:ext cx="1645920" cy="630936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WebSocket Proxy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/ws · event relay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47104" y="1645920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767328" y="2496312"/>
            <a:ext cx="1645920" cy="722376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SearchEngine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Basic · Deep · Vector · Hybrid+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73752" y="2532888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40680" y="2496312"/>
            <a:ext cx="1645920" cy="722376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Document Pipeline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Convert / Chunk 已有；OCR 條件式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28232" y="2532888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33087" y="3493008"/>
            <a:ext cx="1719072" cy="758952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Celery Workers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Search / Ingest / Beat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312664" y="3529584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702552" y="3493008"/>
            <a:ext cx="1362456" cy="758952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Redis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Broker · Cache · Locks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525512" y="3529584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887968" y="1627632"/>
            <a:ext cx="2011680" cy="612648"/>
          </a:xfrm>
          <a:prstGeom prst="roundRect">
            <a:avLst/>
          </a:prstGeom>
          <a:solidFill>
            <a:srgbClr val="FFF4E2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C58A39"/>
                </a:solidFill>
                <a:latin typeface="Noto Sans CJK TC"/>
              </a:rPr>
              <a:t>OpenClaw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已串接；不在 KB Compose 生命週期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241280" y="1664208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887968" y="2542032"/>
            <a:ext cx="2011680" cy="704088"/>
          </a:xfrm>
          <a:prstGeom prst="roundRect">
            <a:avLst/>
          </a:prstGeom>
          <a:solidFill>
            <a:srgbClr val="FFF4E2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C58A39"/>
                </a:solidFill>
                <a:latin typeface="Noto Sans CJK TC"/>
              </a:rPr>
              <a:t>OpenClaw Runtime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Identity / Workspace / Skills 已整合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241280" y="2578608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887968" y="3547872"/>
            <a:ext cx="2011680" cy="704088"/>
          </a:xfrm>
          <a:prstGeom prst="roundRect">
            <a:avLst/>
          </a:prstGeom>
          <a:solidFill>
            <a:srgbClr val="FFF4E2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C58A39"/>
                </a:solidFill>
                <a:latin typeface="Noto Sans CJK TC"/>
              </a:rPr>
              <a:t>Ollama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qwen3-coder-next · :11434；外部相依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241280" y="3584448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88" name="Can 87"/>
          <p:cNvSpPr/>
          <p:nvPr/>
        </p:nvSpPr>
        <p:spPr>
          <a:xfrm>
            <a:off x="2240280" y="5358384"/>
            <a:ext cx="1572768" cy="713232"/>
          </a:xfrm>
          <a:prstGeom prst="can">
            <a:avLst/>
          </a:prstGeom>
          <a:solidFill>
            <a:srgbClr val="EDF8F6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Qdrant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向量庫已具備；獨立容器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6000" y="5897880"/>
            <a:ext cx="148132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90" name="Can 89"/>
          <p:cNvSpPr/>
          <p:nvPr/>
        </p:nvSpPr>
        <p:spPr>
          <a:xfrm>
            <a:off x="3922776" y="5358384"/>
            <a:ext cx="1572768" cy="713232"/>
          </a:xfrm>
          <a:prstGeom prst="can">
            <a:avLst/>
          </a:prstGeom>
          <a:solidFill>
            <a:srgbClr val="EDF8F6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Neo4j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知識圖譜 / Compose volume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68496" y="5897880"/>
            <a:ext cx="148132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92" name="Can 91"/>
          <p:cNvSpPr/>
          <p:nvPr/>
        </p:nvSpPr>
        <p:spPr>
          <a:xfrm>
            <a:off x="5605272" y="5358384"/>
            <a:ext cx="1572768" cy="713232"/>
          </a:xfrm>
          <a:prstGeom prst="can">
            <a:avLst/>
          </a:prstGeom>
          <a:solidFill>
            <a:srgbClr val="EDF8F6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File Store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Raw / Processed / Assets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50992" y="5897880"/>
            <a:ext cx="148132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94" name="Can 93"/>
          <p:cNvSpPr/>
          <p:nvPr/>
        </p:nvSpPr>
        <p:spPr>
          <a:xfrm>
            <a:off x="7287768" y="5358384"/>
            <a:ext cx="1572768" cy="713232"/>
          </a:xfrm>
          <a:prstGeom prst="can">
            <a:avLst/>
          </a:prstGeom>
          <a:solidFill>
            <a:srgbClr val="EDF8F6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Runtime State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Task / locks 有；持久 Chat Memory 未完整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33488" y="5897880"/>
            <a:ext cx="148132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7472" y="6620256"/>
            <a:ext cx="8595360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66727C"/>
                </a:solidFill>
                <a:latin typeface="Noto Sans CJK TC"/>
              </a:rPr>
              <a:t>判定基準：目前 repository 能力與部署邊界；『部分具備』不代表不可用，而是尚未達到最終統一拓樸。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81160" y="6620256"/>
            <a:ext cx="253288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66727C"/>
                </a:solidFill>
                <a:latin typeface="Noto Sans CJK TC"/>
              </a:rPr>
              <a:t>Knowledge Base · GAP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37160"/>
            <a:ext cx="34747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27C"/>
                </a:solidFill>
                <a:latin typeface="Noto Sans CJK T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"/>
            <a:ext cx="566928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541"/>
                </a:solidFill>
                <a:latin typeface="Noto Sans CJK TC"/>
              </a:rPr>
              <a:t>目前已具備的端到端主幹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0" y="155448"/>
            <a:ext cx="5742432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6727C"/>
                </a:solidFill>
                <a:latin typeface="Noto Sans CJK TC"/>
              </a:rPr>
              <a:t>核心查詢、聊天、攝入與資料寫入皆已有對應程式與部署元件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" y="475488"/>
            <a:ext cx="11494008" cy="0"/>
          </a:xfrm>
          <a:prstGeom prst="line">
            <a:avLst/>
          </a:prstGeom>
          <a:ln w="889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50224" y="612648"/>
            <a:ext cx="164592" cy="164592"/>
          </a:xfrm>
          <a:prstGeom prst="roundRect">
            <a:avLst/>
          </a:prstGeom>
          <a:solidFill>
            <a:srgbClr val="EAF5EC"/>
          </a:solidFill>
          <a:ln w="127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42248" y="612648"/>
            <a:ext cx="694944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10344" y="612648"/>
            <a:ext cx="164592" cy="164592"/>
          </a:xfrm>
          <a:prstGeom prst="roundRect">
            <a:avLst/>
          </a:prstGeom>
          <a:solidFill>
            <a:srgbClr val="FFF3D9"/>
          </a:solidFill>
          <a:ln w="127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8" y="612648"/>
            <a:ext cx="694944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70464" y="612648"/>
            <a:ext cx="164592" cy="164592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B4515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62488" y="612648"/>
            <a:ext cx="694944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>
                <a:solidFill>
                  <a:srgbClr val="B45151"/>
                </a:solidFill>
                <a:latin typeface="Noto Sans CJK TC"/>
              </a:rPr>
              <a:t>尚缺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1097280"/>
            <a:ext cx="1901952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3" y="996695"/>
            <a:ext cx="1581912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005839"/>
            <a:ext cx="1472184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入口與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33472" y="1097280"/>
            <a:ext cx="2761488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99669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100583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API 與工作程序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87568" y="1097280"/>
            <a:ext cx="2578608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59" y="99669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7024" y="100583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7B7C"/>
                </a:solidFill>
                <a:latin typeface="Noto Sans CJK TC"/>
              </a:rPr>
              <a:t>知識資料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58784" y="1097280"/>
            <a:ext cx="3182112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23376" y="99669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00583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外部 AI Runtime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65960" y="1856231"/>
            <a:ext cx="1060704" cy="0"/>
          </a:xfrm>
          <a:prstGeom prst="line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39112" y="1764791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HTTPS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65960" y="2788920"/>
            <a:ext cx="1060704" cy="0"/>
          </a:xfrm>
          <a:prstGeom prst="line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39112" y="2697479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REST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965960" y="3721608"/>
            <a:ext cx="1060704" cy="0"/>
          </a:xfrm>
          <a:prstGeom prst="line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39112" y="3630168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WSS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41063" y="2212848"/>
            <a:ext cx="0" cy="274320"/>
          </a:xfrm>
          <a:prstGeom prst="line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50791" y="2276856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enqueue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956048" y="2103120"/>
            <a:ext cx="1115568" cy="768096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48656" y="2249424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vector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56048" y="2871216"/>
            <a:ext cx="1115568" cy="374904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57800" y="292608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graph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956048" y="3977639"/>
            <a:ext cx="1115568" cy="411481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266944" y="4014215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files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56048" y="3977639"/>
            <a:ext cx="1901952" cy="1344169"/>
          </a:xfrm>
          <a:prstGeom prst="bentConnector3">
            <a:avLst/>
          </a:prstGeom>
          <a:ln w="12700">
            <a:solidFill>
              <a:srgbClr val="7A8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715000" y="4608576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state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4956048" y="2093976"/>
            <a:ext cx="3986784" cy="777240"/>
          </a:xfrm>
          <a:prstGeom prst="bentConnector3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711696" y="233172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context / prompt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4956048" y="3236976"/>
            <a:ext cx="3986784" cy="484632"/>
          </a:xfrm>
          <a:prstGeom prst="bentConnector3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702552" y="3337560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agent events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994392" y="3611880"/>
            <a:ext cx="0" cy="621792"/>
          </a:xfrm>
          <a:prstGeom prst="line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104120" y="3813048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infer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" y="1481328"/>
            <a:ext cx="1216152" cy="731520"/>
          </a:xfrm>
          <a:prstGeom prst="roundRect">
            <a:avLst/>
          </a:prstGeom>
          <a:solidFill>
            <a:srgbClr val="EDF7FB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28729A"/>
                </a:solidFill>
                <a:latin typeface="Noto Sans CJK TC"/>
              </a:rPr>
              <a:t>Nginx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TLS / 靜態檔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26463" y="1517904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8" y="2423160"/>
            <a:ext cx="1216152" cy="731520"/>
          </a:xfrm>
          <a:prstGeom prst="roundRect">
            <a:avLst/>
          </a:prstGeom>
          <a:solidFill>
            <a:srgbClr val="EDF7FB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28729A"/>
                </a:solidFill>
                <a:latin typeface="Noto Sans CJK TC"/>
              </a:rPr>
              <a:t>Search / Admin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Vue UI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26463" y="2459736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8" y="3355848"/>
            <a:ext cx="1216152" cy="731520"/>
          </a:xfrm>
          <a:prstGeom prst="roundRect">
            <a:avLst/>
          </a:prstGeom>
          <a:solidFill>
            <a:srgbClr val="EDF7FB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28729A"/>
                </a:solidFill>
                <a:latin typeface="Noto Sans CJK TC"/>
              </a:rPr>
              <a:t>Chat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引用 / 串流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26463" y="3392424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" y="4288536"/>
            <a:ext cx="1216152" cy="731520"/>
          </a:xfrm>
          <a:prstGeom prst="roundRect">
            <a:avLst/>
          </a:prstGeom>
          <a:solidFill>
            <a:srgbClr val="EAF5EC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4D8C57"/>
                </a:solidFill>
                <a:latin typeface="Noto Sans CJK TC"/>
              </a:rPr>
              <a:t>Upload / Watch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上傳 / 定時掃描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26463" y="4325112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26664" y="1481328"/>
            <a:ext cx="1929384" cy="731520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FastAPI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API / Task / WebSocket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16552" y="1517904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26664" y="2487168"/>
            <a:ext cx="1929384" cy="768096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SearchEngine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Basic / Deep / Vector / Hybrid+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16552" y="2523744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26664" y="3355848"/>
            <a:ext cx="1929384" cy="731520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Celery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Search / Ingest / Beat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16552" y="3392424"/>
            <a:ext cx="493776" cy="155448"/>
          </a:xfrm>
          <a:prstGeom prst="roundRect">
            <a:avLst/>
          </a:prstGeom>
          <a:solidFill>
            <a:srgbClr val="EAF5EC"/>
          </a:solidFill>
          <a:ln w="889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26664" y="4288536"/>
            <a:ext cx="1929384" cy="731520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Document Pipeline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Convert / Chunk / conditional OCR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97680" y="4325112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62" name="Can 61"/>
          <p:cNvSpPr/>
          <p:nvPr/>
        </p:nvSpPr>
        <p:spPr>
          <a:xfrm>
            <a:off x="6071616" y="1627632"/>
            <a:ext cx="1700784" cy="786384"/>
          </a:xfrm>
          <a:prstGeom prst="can">
            <a:avLst/>
          </a:prstGeom>
          <a:solidFill>
            <a:srgbClr val="EDF8F6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Qdrant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向量檢索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17336" y="2240280"/>
            <a:ext cx="1609344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64" name="Can 63"/>
          <p:cNvSpPr/>
          <p:nvPr/>
        </p:nvSpPr>
        <p:spPr>
          <a:xfrm>
            <a:off x="6071616" y="2825496"/>
            <a:ext cx="1700784" cy="786384"/>
          </a:xfrm>
          <a:prstGeom prst="can">
            <a:avLst/>
          </a:prstGeom>
          <a:solidFill>
            <a:srgbClr val="EDF8F6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Neo4j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圖譜 / 結構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17336" y="3438144"/>
            <a:ext cx="1609344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66" name="Can 65"/>
          <p:cNvSpPr/>
          <p:nvPr/>
        </p:nvSpPr>
        <p:spPr>
          <a:xfrm>
            <a:off x="6071616" y="4023360"/>
            <a:ext cx="1700784" cy="786384"/>
          </a:xfrm>
          <a:prstGeom prst="can">
            <a:avLst/>
          </a:prstGeom>
          <a:solidFill>
            <a:srgbClr val="EDF8F6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File Store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原文 / 轉檔 / 資產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17336" y="4636008"/>
            <a:ext cx="1609344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68" name="Can 67"/>
          <p:cNvSpPr/>
          <p:nvPr/>
        </p:nvSpPr>
        <p:spPr>
          <a:xfrm>
            <a:off x="6071616" y="5010912"/>
            <a:ext cx="1700784" cy="786384"/>
          </a:xfrm>
          <a:prstGeom prst="can">
            <a:avLst/>
          </a:prstGeom>
          <a:solidFill>
            <a:srgbClr val="EDF8F6"/>
          </a:solidFill>
          <a:ln w="25400">
            <a:solidFill>
              <a:srgbClr val="4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Redis State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任務 / 快取 / 鎖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17336" y="5623560"/>
            <a:ext cx="1609344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4D8C57"/>
                </a:solidFill>
                <a:latin typeface="Noto Sans CJK TC"/>
              </a:rPr>
              <a:t>已具備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42832" y="1691640"/>
            <a:ext cx="2103120" cy="804672"/>
          </a:xfrm>
          <a:prstGeom prst="roundRect">
            <a:avLst/>
          </a:prstGeom>
          <a:solidFill>
            <a:srgbClr val="FFF4E2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C58A39"/>
                </a:solidFill>
                <a:latin typeface="Noto Sans CJK TC"/>
              </a:rPr>
              <a:t>OpenClaw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已代理 Agent / Session 事件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87583" y="1728216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42832" y="2834640"/>
            <a:ext cx="2103120" cy="777240"/>
          </a:xfrm>
          <a:prstGeom prst="roundRect">
            <a:avLst/>
          </a:prstGeom>
          <a:solidFill>
            <a:srgbClr val="FFF4E2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C58A39"/>
                </a:solidFill>
                <a:latin typeface="Noto Sans CJK TC"/>
              </a:rPr>
              <a:t>OpenClaw Runtime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Identity / Workspace / Skills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387583" y="2871216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42832" y="4233672"/>
            <a:ext cx="2103120" cy="777240"/>
          </a:xfrm>
          <a:prstGeom prst="roundRect">
            <a:avLst/>
          </a:prstGeom>
          <a:solidFill>
            <a:srgbClr val="FFF4E2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C58A39"/>
                </a:solidFill>
                <a:latin typeface="Noto Sans CJK TC"/>
              </a:rPr>
              <a:t>Ollama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qwen3-coder-next / :11434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387583" y="4270248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15400" y="5239512"/>
            <a:ext cx="223113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C17B19"/>
                </a:solidFill>
                <a:latin typeface="Noto Sans CJK TC"/>
              </a:rPr>
              <a:t>整合程式已存在；差距在於部署、健康檢查、升級與故障復原尚未由 KB 統一管理。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7472" y="6620256"/>
            <a:ext cx="8595360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66727C"/>
                </a:solidFill>
                <a:latin typeface="Noto Sans CJK TC"/>
              </a:rPr>
              <a:t>已具備主幹：Browser → Nginx → FastAPI/Celery → Qdrant/Neo4j/File Store → OpenClaw/Ollama。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81160" y="6620256"/>
            <a:ext cx="253288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66727C"/>
                </a:solidFill>
                <a:latin typeface="Noto Sans CJK TC"/>
              </a:rPr>
              <a:t>Knowledge Base · GAP · 2026.07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37160"/>
            <a:ext cx="34747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27C"/>
                </a:solidFill>
                <a:latin typeface="Noto Sans CJK T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"/>
            <a:ext cx="566928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541"/>
                </a:solidFill>
                <a:latin typeface="Noto Sans CJK TC"/>
              </a:rPr>
              <a:t>尚缺部分與補齊順序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0" y="155448"/>
            <a:ext cx="5742432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6727C"/>
                </a:solidFill>
                <a:latin typeface="Noto Sans CJK TC"/>
              </a:rPr>
              <a:t>優先補共同機制；避免只針對單一機器、session 或部署路徑修補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" y="475488"/>
            <a:ext cx="11494008" cy="0"/>
          </a:xfrm>
          <a:prstGeom prst="line">
            <a:avLst/>
          </a:prstGeom>
          <a:ln w="889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133856"/>
            <a:ext cx="2487168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15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43584"/>
            <a:ext cx="384048" cy="219456"/>
          </a:xfrm>
          <a:prstGeom prst="roundRect">
            <a:avLst/>
          </a:prstGeom>
          <a:solidFill>
            <a:srgbClr val="FBEAEA"/>
          </a:solidFill>
          <a:ln w="10160">
            <a:solidFill>
              <a:srgbClr val="B45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43584"/>
            <a:ext cx="38404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B45151"/>
                </a:solidFill>
                <a:latin typeface="Noto Sans CJK TC"/>
              </a:rP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225296"/>
            <a:ext cx="1755648" cy="2651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63541"/>
                </a:solidFill>
                <a:latin typeface="Noto Sans CJK TC"/>
              </a:rPr>
              <a:t>角色與存取治理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38404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66727C"/>
                </a:solidFill>
                <a:latin typeface="Noto Sans CJK TC"/>
              </a:rPr>
              <a:t>現況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2212848" cy="52120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27C"/>
                </a:solidFill>
                <a:latin typeface="Noto Sans CJK TC"/>
              </a:rPr>
              <a:t>UI 與 API 路徑存在，但三種角色尚未由登入、權限與稽核強制區隔。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38404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B45151"/>
                </a:solidFill>
                <a:latin typeface="Noto Sans CJK TC"/>
              </a:rPr>
              <a:t>目標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176"/>
            <a:ext cx="221284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63541"/>
                </a:solidFill>
                <a:latin typeface="Noto Sans CJK TC"/>
              </a:rPr>
              <a:t>Identity Provider / RBAC / API scope / audit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133856"/>
            <a:ext cx="2487168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15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1243584"/>
            <a:ext cx="384048" cy="219456"/>
          </a:xfrm>
          <a:prstGeom prst="roundRect">
            <a:avLst/>
          </a:prstGeom>
          <a:solidFill>
            <a:srgbClr val="FBEAEA"/>
          </a:solidFill>
          <a:ln w="10160">
            <a:solidFill>
              <a:srgbClr val="B45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243584"/>
            <a:ext cx="38404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B45151"/>
                </a:solidFill>
                <a:latin typeface="Noto Sans CJK TC"/>
              </a:rPr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1225296"/>
            <a:ext cx="1755648" cy="2651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63541"/>
                </a:solidFill>
                <a:latin typeface="Noto Sans CJK TC"/>
              </a:rPr>
              <a:t>Runtime State 完整化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581912"/>
            <a:ext cx="38404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66727C"/>
                </a:solidFill>
                <a:latin typeface="Noto Sans CJK TC"/>
              </a:rPr>
              <a:t>現況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1783080"/>
            <a:ext cx="2212848" cy="52120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27C"/>
                </a:solidFill>
                <a:latin typeface="Noto Sans CJK TC"/>
              </a:rPr>
              <a:t>Redis 已承擔 task、cache、locks；Chat/Memory 分散於 OpenClaw session 與暫態狀態。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350008"/>
            <a:ext cx="38404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B45151"/>
                </a:solidFill>
                <a:latin typeface="Noto Sans CJK TC"/>
              </a:rPr>
              <a:t>目標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2551176"/>
            <a:ext cx="221284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63541"/>
                </a:solidFill>
                <a:latin typeface="Noto Sans CJK TC"/>
              </a:rPr>
              <a:t>統一 session metadata、持久 memory、TTL/清理與備份規則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0216" y="1133856"/>
            <a:ext cx="2487168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19088" y="1243584"/>
            <a:ext cx="384048" cy="219456"/>
          </a:xfrm>
          <a:prstGeom prst="roundRect">
            <a:avLst/>
          </a:prstGeom>
          <a:solidFill>
            <a:srgbClr val="FFF3D9"/>
          </a:solidFill>
          <a:ln w="1016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243584"/>
            <a:ext cx="38404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C17B19"/>
                </a:solidFill>
                <a:latin typeface="Noto Sans CJK TC"/>
              </a:rPr>
              <a:t>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1225296"/>
            <a:ext cx="1755648" cy="2651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63541"/>
                </a:solidFill>
                <a:latin typeface="Noto Sans CJK TC"/>
              </a:rPr>
              <a:t>外部 AI 生命週期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1581912"/>
            <a:ext cx="38404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66727C"/>
                </a:solidFill>
                <a:latin typeface="Noto Sans CJK TC"/>
              </a:rPr>
              <a:t>現況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1783080"/>
            <a:ext cx="2212848" cy="52120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27C"/>
                </a:solidFill>
                <a:latin typeface="Noto Sans CJK TC"/>
              </a:rPr>
              <a:t>OpenClaw / Ollama 已串通，但仍是 KB Compose 外部相依。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2350008"/>
            <a:ext cx="38404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C17B19"/>
                </a:solidFill>
                <a:latin typeface="Noto Sans CJK TC"/>
              </a:rPr>
              <a:t>目標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2551176"/>
            <a:ext cx="221284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63541"/>
                </a:solidFill>
                <a:latin typeface="Noto Sans CJK TC"/>
              </a:rPr>
              <a:t>preflight、版本契約、health check、升級/回復與明確責任邊界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98864" y="1133856"/>
            <a:ext cx="2487168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17736" y="1243584"/>
            <a:ext cx="384048" cy="219456"/>
          </a:xfrm>
          <a:prstGeom prst="roundRect">
            <a:avLst/>
          </a:prstGeom>
          <a:solidFill>
            <a:srgbClr val="FFF3D9"/>
          </a:solidFill>
          <a:ln w="1016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1243584"/>
            <a:ext cx="38404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C17B19"/>
                </a:solidFill>
                <a:latin typeface="Noto Sans CJK TC"/>
              </a:rPr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1225296"/>
            <a:ext cx="1755648" cy="2651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63541"/>
                </a:solidFill>
                <a:latin typeface="Noto Sans CJK TC"/>
              </a:rPr>
              <a:t>資料平台一致化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1581912"/>
            <a:ext cx="38404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66727C"/>
                </a:solidFill>
                <a:latin typeface="Noto Sans CJK TC"/>
              </a:rPr>
              <a:t>現況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1783080"/>
            <a:ext cx="2212848" cy="52120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27C"/>
                </a:solidFill>
                <a:latin typeface="Noto Sans CJK TC"/>
              </a:rPr>
              <a:t>Neo4j 與 File Store 由 KB 管理；Qdrant 以獨立容器運作，OCR 也依模型與格式條件啟用。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2350008"/>
            <a:ext cx="384048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C17B19"/>
                </a:solidFill>
                <a:latin typeface="Noto Sans CJK TC"/>
              </a:rPr>
              <a:t>目標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2551176"/>
            <a:ext cx="221284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63541"/>
                </a:solidFill>
                <a:latin typeface="Noto Sans CJK TC"/>
              </a:rPr>
              <a:t>統一部署/備份/監控；OCR capability check 與顯性失敗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529584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63541"/>
                </a:solidFill>
                <a:latin typeface="Noto Sans CJK TC"/>
              </a:rPr>
              <a:t>建議落地拓樸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39112" y="4672584"/>
            <a:ext cx="914400" cy="0"/>
          </a:xfrm>
          <a:prstGeom prst="line">
            <a:avLst/>
          </a:prstGeom>
          <a:ln w="12700">
            <a:solidFill>
              <a:srgbClr val="B45151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066543" y="4489704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token / role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00600" y="4672584"/>
            <a:ext cx="905256" cy="0"/>
          </a:xfrm>
          <a:prstGeom prst="line">
            <a:avLst/>
          </a:prstGeom>
          <a:ln w="12700">
            <a:solidFill>
              <a:srgbClr val="B45151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28032" y="4489704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state API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52944" y="4672584"/>
            <a:ext cx="914400" cy="0"/>
          </a:xfrm>
          <a:prstGeom prst="line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589520" y="4489704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contract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14432" y="4672584"/>
            <a:ext cx="841248" cy="0"/>
          </a:xfrm>
          <a:prstGeom prst="line">
            <a:avLst/>
          </a:prstGeom>
          <a:ln w="12700">
            <a:solidFill>
              <a:srgbClr val="C17B19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323576" y="4489704"/>
            <a:ext cx="91440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66727C"/>
                </a:solidFill>
                <a:latin typeface="Noto Sans CJK TC"/>
              </a:rPr>
              <a:t>backup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6656" y="4279392"/>
            <a:ext cx="1362456" cy="786384"/>
          </a:xfrm>
          <a:prstGeom prst="roundRect">
            <a:avLst/>
          </a:prstGeom>
          <a:solidFill>
            <a:srgbClr val="FBEAEA"/>
          </a:solidFill>
          <a:ln w="25400">
            <a:solidFill>
              <a:srgbClr val="B4515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B45151"/>
                </a:solidFill>
                <a:latin typeface="Noto Sans CJK TC"/>
              </a:rPr>
              <a:t>Identity / RBAC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三角色與 API scope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99616" y="4315968"/>
            <a:ext cx="493776" cy="155448"/>
          </a:xfrm>
          <a:prstGeom prst="roundRect">
            <a:avLst/>
          </a:prstGeom>
          <a:solidFill>
            <a:srgbClr val="FBEAEA"/>
          </a:solidFill>
          <a:ln w="8890">
            <a:solidFill>
              <a:srgbClr val="B45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B45151"/>
                </a:solidFill>
                <a:latin typeface="Noto Sans CJK TC"/>
              </a:rPr>
              <a:t>尚缺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53512" y="4279392"/>
            <a:ext cx="1847088" cy="786384"/>
          </a:xfrm>
          <a:prstGeom prst="roundRect">
            <a:avLst/>
          </a:prstGeom>
          <a:solidFill>
            <a:srgbClr val="F7F1FA"/>
          </a:solidFill>
          <a:ln w="25400">
            <a:solidFill>
              <a:srgbClr val="C17B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755595"/>
                </a:solidFill>
                <a:latin typeface="Noto Sans CJK TC"/>
              </a:rPr>
              <a:t>FastAPI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驗證 / 授權 / 稽核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42232" y="4315968"/>
            <a:ext cx="612648" cy="155448"/>
          </a:xfrm>
          <a:prstGeom prst="roundRect">
            <a:avLst/>
          </a:prstGeom>
          <a:solidFill>
            <a:srgbClr val="FFF3D9"/>
          </a:solidFill>
          <a:ln w="8890">
            <a:solidFill>
              <a:srgbClr val="C17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C17B19"/>
                </a:solidFill>
                <a:latin typeface="Noto Sans CJK TC"/>
              </a:rPr>
              <a:t>部分具備</a:t>
            </a:r>
          </a:p>
        </p:txBody>
      </p:sp>
      <p:sp>
        <p:nvSpPr>
          <p:cNvPr id="51" name="Can 50"/>
          <p:cNvSpPr/>
          <p:nvPr/>
        </p:nvSpPr>
        <p:spPr>
          <a:xfrm>
            <a:off x="5705856" y="4242816"/>
            <a:ext cx="1847088" cy="859536"/>
          </a:xfrm>
          <a:prstGeom prst="can">
            <a:avLst/>
          </a:prstGeom>
          <a:solidFill>
            <a:srgbClr val="EDF8F6"/>
          </a:solidFill>
          <a:ln w="25400">
            <a:solidFill>
              <a:srgbClr val="B4515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Runtime State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Session / Chat / Memory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51576" y="4928616"/>
            <a:ext cx="175564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B45151"/>
                </a:solidFill>
                <a:latin typeface="Noto Sans CJK TC"/>
              </a:rPr>
              <a:t>尚缺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67344" y="4279392"/>
            <a:ext cx="1847088" cy="786384"/>
          </a:xfrm>
          <a:prstGeom prst="roundRect">
            <a:avLst/>
          </a:prstGeom>
          <a:solidFill>
            <a:srgbClr val="FFF4E2"/>
          </a:solidFill>
          <a:ln w="25400">
            <a:solidFill>
              <a:srgbClr val="B4515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76200" bIns="38100">
            <a:norm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C58A39"/>
                </a:solidFill>
                <a:latin typeface="Noto Sans CJK TC"/>
              </a:rPr>
              <a:t>AI Runtime Manager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OpenClaw / Ollama lifecycle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74935" y="4315968"/>
            <a:ext cx="493776" cy="155448"/>
          </a:xfrm>
          <a:prstGeom prst="roundRect">
            <a:avLst/>
          </a:prstGeom>
          <a:solidFill>
            <a:srgbClr val="FBEAEA"/>
          </a:solidFill>
          <a:ln w="8890">
            <a:solidFill>
              <a:srgbClr val="B45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450" b="1">
                <a:solidFill>
                  <a:srgbClr val="B45151"/>
                </a:solidFill>
                <a:latin typeface="Noto Sans CJK TC"/>
              </a:rPr>
              <a:t>尚缺</a:t>
            </a:r>
          </a:p>
        </p:txBody>
      </p:sp>
      <p:sp>
        <p:nvSpPr>
          <p:cNvPr id="55" name="Can 54"/>
          <p:cNvSpPr/>
          <p:nvPr/>
        </p:nvSpPr>
        <p:spPr>
          <a:xfrm>
            <a:off x="11155680" y="4242816"/>
            <a:ext cx="667512" cy="859536"/>
          </a:xfrm>
          <a:prstGeom prst="can">
            <a:avLst/>
          </a:prstGeom>
          <a:solidFill>
            <a:srgbClr val="EDF8F6"/>
          </a:solidFill>
          <a:ln w="25400">
            <a:solidFill>
              <a:srgbClr val="B4515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60" b="1">
                <a:solidFill>
                  <a:srgbClr val="267B7C"/>
                </a:solidFill>
                <a:latin typeface="Noto Sans CJK TC"/>
              </a:rPr>
              <a:t>Data Ops</a:t>
            </a:r>
          </a:p>
          <a:p>
            <a:pPr algn="ctr"/>
            <a:r>
              <a:rPr sz="540">
                <a:solidFill>
                  <a:srgbClr val="66727C"/>
                </a:solidFill>
                <a:latin typeface="Noto Sans CJK TC"/>
              </a:rPr>
              <a:t>統一備份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01400" y="4928616"/>
            <a:ext cx="576072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" b="1">
                <a:solidFill>
                  <a:srgbClr val="B45151"/>
                </a:solidFill>
                <a:latin typeface="Noto Sans CJK TC"/>
              </a:rPr>
              <a:t>尚缺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550408"/>
            <a:ext cx="11320272" cy="576072"/>
          </a:xfrm>
          <a:prstGeom prst="roundRect">
            <a:avLst/>
          </a:prstGeom>
          <a:solidFill>
            <a:srgbClr val="F3F5F6"/>
          </a:solidFill>
          <a:ln w="1016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5623560"/>
            <a:ext cx="10899648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63541"/>
                </a:solidFill>
                <a:latin typeface="Noto Sans CJK TC"/>
              </a:rPr>
              <a:t>驗證門檻：不同電腦 / session / runtime / 部署路徑皆需通過；服務缺失時必須顯性失敗，並可由健康檢查定位責任域。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" y="6620256"/>
            <a:ext cx="8595360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66727C"/>
                </a:solidFill>
                <a:latin typeface="Noto Sans CJK TC"/>
              </a:rPr>
              <a:t>本頁是目標差距，不代表全部都要容器化；重點是統一契約、可觀測、可備份、可回復。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6620256"/>
            <a:ext cx="253288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>
                <a:solidFill>
                  <a:srgbClr val="66727C"/>
                </a:solidFill>
                <a:latin typeface="Noto Sans CJK TC"/>
              </a:rPr>
              <a:t>Knowledge Base · GAP · 2026.07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Base Topology Gap Comparison</dc:title>
  <dc:subject>Current-state and target-state topology comparison</dc:subject>
  <dc:creator>Knowledge Base Architecture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