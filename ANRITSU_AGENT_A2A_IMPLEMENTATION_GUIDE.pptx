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0424160" cy="82296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CJK TC"/>
              </a:rPr>
              <a:t>Anritsu Agent × KB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0"/>
            <a:ext cx="9875520" cy="51206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FD7FF"/>
                </a:solidFill>
                <a:latin typeface="Noto Sans CJK TC"/>
              </a:rPr>
              <a:t>A2A 功能實作與整合指南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88920"/>
            <a:ext cx="9326880" cy="7315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7E7F6"/>
                </a:solidFill>
                <a:latin typeface="Noto Sans CJK TC"/>
              </a:rPr>
              <a:t>讓 KB Agent 可以安全委派 Anritsu Agent 執行測試，
並沿用既有 Excel 上傳與 Neo4j / Qdrant 攝入流程。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4709160"/>
            <a:ext cx="10424160" cy="841248"/>
          </a:xfrm>
          <a:prstGeom prst="roundRect">
            <a:avLst/>
          </a:prstGeom>
          <a:solidFill>
            <a:srgbClr val="173A57"/>
          </a:solidFill>
          <a:ln w="1524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873752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TC"/>
              </a:rPr>
              <a:t>核心原則：A2A 只負責 Agent-to-Agent 委派；儀器控制留在 Anritsu；KB 核心服務不重寫。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6144768"/>
            <a:ext cx="5486400" cy="2011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D7FF"/>
                </a:solidFill>
                <a:latin typeface="Noto Sans CJK TC"/>
              </a:rPr>
              <a:t>交付對象：Anritsu Agent 開發與整合人員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144768"/>
            <a:ext cx="1874519" cy="2011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D7FF"/>
                </a:solidFill>
                <a:latin typeface="Noto Sans CJK TC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先看結論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這份指南的決策與不可違反的邊界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429000" cy="160020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3246120" cy="10698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3247"/>
                </a:solidFill>
                <a:latin typeface="Noto Sans CJK TC"/>
              </a:rPr>
              <a:t>KB Agent = A2A Client
Anritsu Agent = A2A Server
Anritsu 端保留儀器控制權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60020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1732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8F89"/>
                </a:solidFill>
                <a:latin typeface="Noto Sans CJK TC"/>
              </a:rPr>
              <a:t>資料流程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246120" cy="10698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3247"/>
                </a:solidFill>
                <a:latin typeface="Noto Sans CJK TC"/>
              </a:rPr>
              <a:t>A2A 傳測試工作與狀態
Excel 仍走既有 /api/upload/ingest
不是新增第二套 uploader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429000" cy="1600200"/>
          </a:xfrm>
          <a:prstGeom prst="roundRect">
            <a:avLst/>
          </a:prstGeom>
          <a:solidFill>
            <a:srgbClr val="FFF1D7"/>
          </a:solidFill>
          <a:ln w="1778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1732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7512"/>
                </a:solidFill>
                <a:latin typeface="Noto Sans CJK TC"/>
              </a:rPr>
              <a:t>隔離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83080"/>
            <a:ext cx="3246120" cy="10698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3247"/>
                </a:solidFill>
                <a:latin typeface="Noto Sans CJK TC"/>
              </a:rPr>
              <a:t>不讓 Anritsu 連 Neo4j、Qdrant、Redis
不修改 KB 搜尋、Celery 與資料庫
只新增 A2A 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29000"/>
            <a:ext cx="10789920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Noto Sans CJK TC"/>
              </a:rPr>
              <a:t>Anritsu Agent 必須配合的範圍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023359"/>
            <a:ext cx="868680" cy="292608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32503"/>
            <a:ext cx="86868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6FED"/>
                </a:solidFill>
                <a:latin typeface="Noto Sans CJK TC"/>
              </a:rPr>
              <a:t>新增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3977639"/>
            <a:ext cx="9509760" cy="3840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3247"/>
                </a:solidFill>
                <a:latin typeface="Noto Sans CJK TC"/>
              </a:rPr>
              <a:t>A2A Server、Agent Card、Task executor、權限與狀態管理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681727"/>
            <a:ext cx="868680" cy="29260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690871"/>
            <a:ext cx="86868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8555"/>
                </a:solidFill>
                <a:latin typeface="Noto Sans CJK TC"/>
              </a:rPr>
              <a:t>沿用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636007"/>
            <a:ext cx="9509760" cy="3840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3247"/>
                </a:solidFill>
                <a:latin typeface="Noto Sans CJK TC"/>
              </a:rPr>
              <a:t>既有儀器控制、MCP tools、Excel 產生器與 KB 上傳程式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5340095"/>
            <a:ext cx="868680" cy="292608"/>
          </a:xfrm>
          <a:prstGeom prst="roundRect">
            <a:avLst/>
          </a:prstGeom>
          <a:solidFill>
            <a:srgbClr val="FF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349239"/>
            <a:ext cx="86868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7512"/>
                </a:solidFill>
                <a:latin typeface="Noto Sans CJK TC"/>
              </a:rPr>
              <a:t>禁止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5294375"/>
            <a:ext cx="9509760" cy="3840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3247"/>
                </a:solidFill>
                <a:latin typeface="Noto Sans CJK TC"/>
              </a:rPr>
              <a:t>LLM 直接生成任意 shell / 儀器命令；A2A 不可取得資料庫權限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A2A、MCP 與既有 HTTP 的分工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不要用一種協定取代另一種協定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429000" cy="342900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A2A：Agent ↔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3246120" cy="28986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用途
• KB Agent 委派測試
• 傳送任務與 context
• 追蹤長時間 Task
• 回傳狀態與結果 metadata
Anritsu 角色：A2A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3429000"/>
          </a:xfrm>
          <a:prstGeom prst="roundRect">
            <a:avLst/>
          </a:prstGeom>
          <a:solidFill>
            <a:srgbClr val="F1ECFA"/>
          </a:solidFill>
          <a:ln w="1778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1732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653A6"/>
                </a:solidFill>
                <a:latin typeface="Noto Sans CJK TC"/>
              </a:rPr>
              <a:t>MCP：Agent ↔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246120" cy="28986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用途
• 儀器控制
• iperf 執行
• 讀取測試檔案
• Excel 驗證
既有 Anritsu MCP / tool adapter 可保留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429000" cy="342900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1732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8F89"/>
                </a:solidFill>
                <a:latin typeface="Noto Sans CJK TC"/>
              </a:rPr>
              <a:t>HTTP：Agent ↔ KB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83080"/>
            <a:ext cx="3246120" cy="28986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用途
• 上傳 Excel
• 查詢攝入 task
• Bearer token 驗證
• strict headers / KM_Metadata
既有 /api/upload/ingest 可沿用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5166360"/>
            <a:ext cx="9464040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321808"/>
            <a:ext cx="9098280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Noto Sans CJK TC"/>
              </a:rPr>
              <a:t>推薦鏈路：KB Agent → A2A → Anritsu Agent → MCP / Instrument → Excel → 既有 KB HTTP ingest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目標架構：只增加出站委派橋接層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KB 核心服務保持原樣，Anritsu 保持儀器控制權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057400" cy="132588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87451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Noto Sans CJK TC"/>
              </a:rPr>
              <a:t>使用者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74519" cy="7955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chat.html
詢問或批准測試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417320"/>
            <a:ext cx="2331720" cy="132588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508760"/>
            <a:ext cx="21488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6FED"/>
                </a:solidFill>
                <a:latin typeface="Noto Sans CJK TC"/>
              </a:rPr>
              <a:t>KB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874519"/>
            <a:ext cx="2148839" cy="7955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OpenClaw / Agent
決定是否委派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417320"/>
            <a:ext cx="2331720" cy="1325880"/>
          </a:xfrm>
          <a:prstGeom prst="roundRect">
            <a:avLst/>
          </a:prstGeom>
          <a:solidFill>
            <a:srgbClr val="F1ECFA"/>
          </a:solidFill>
          <a:ln w="1778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1508760"/>
            <a:ext cx="21488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653A6"/>
                </a:solidFill>
                <a:latin typeface="Noto Sans CJK TC"/>
              </a:rPr>
              <a:t>Delegation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1874519"/>
            <a:ext cx="2148839" cy="7955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獨立程序
A2A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417320"/>
            <a:ext cx="2971800" cy="1325880"/>
          </a:xfrm>
          <a:prstGeom prst="roundRect">
            <a:avLst/>
          </a:prstGeom>
          <a:solidFill>
            <a:srgbClr val="FFF1D7"/>
          </a:solidFill>
          <a:ln w="1778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19" y="1508760"/>
            <a:ext cx="2788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87512"/>
                </a:solidFill>
                <a:latin typeface="Noto Sans CJK TC"/>
              </a:rPr>
              <a:t>Anritsu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19" y="1874519"/>
            <a:ext cx="2788920" cy="7955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Windows 11
A2A Server + test executor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084831"/>
            <a:ext cx="411480" cy="0"/>
          </a:xfrm>
          <a:prstGeom prst="line">
            <a:avLst/>
          </a:prstGeom>
          <a:ln w="2540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2084831"/>
            <a:ext cx="502920" cy="0"/>
          </a:xfrm>
          <a:prstGeom prst="line">
            <a:avLst/>
          </a:prstGeom>
          <a:ln w="25400">
            <a:solidFill>
              <a:srgbClr val="7653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38160" y="2084831"/>
            <a:ext cx="502920" cy="0"/>
          </a:xfrm>
          <a:prstGeom prst="line">
            <a:avLst/>
          </a:prstGeom>
          <a:ln w="25400">
            <a:solidFill>
              <a:srgbClr val="C8751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200" y="1792224"/>
            <a:ext cx="594360" cy="18288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委派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1792224"/>
            <a:ext cx="658368" cy="18288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A2A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1792224"/>
            <a:ext cx="484632" cy="18288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07589"/>
                </a:solidFill>
                <a:latin typeface="Noto Sans CJK TC"/>
              </a:rPr>
              <a:t>VPN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3337560"/>
            <a:ext cx="2514600" cy="114300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3429000"/>
            <a:ext cx="23317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33A3A"/>
                </a:solidFill>
                <a:latin typeface="Noto Sans CJK TC"/>
              </a:rPr>
              <a:t>儀器 / iperf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794760"/>
            <a:ext cx="2331720" cy="6126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現有控制流程
固定 profile 執行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800600"/>
            <a:ext cx="2560320" cy="96012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892040"/>
            <a:ext cx="23774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F89"/>
                </a:solidFill>
                <a:latin typeface="Noto Sans CJK TC"/>
              </a:rPr>
              <a:t>既有 KB ingest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257800"/>
            <a:ext cx="2377439" cy="4297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/api/upload/ingest
Celery + strict contract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800600"/>
            <a:ext cx="2011680" cy="96012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1828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Noto Sans CJK TC"/>
              </a:rPr>
              <a:t>Neo4j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257800"/>
            <a:ext cx="1828800" cy="4297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TestRun / Metric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4800600"/>
            <a:ext cx="2011680" cy="96012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892040"/>
            <a:ext cx="1828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Noto Sans CJK TC"/>
              </a:rPr>
              <a:t>Qdrant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5257800"/>
            <a:ext cx="1828800" cy="4297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chunks / citations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93808" y="2743200"/>
            <a:ext cx="0" cy="594360"/>
          </a:xfrm>
          <a:prstGeom prst="line">
            <a:avLst/>
          </a:prstGeom>
          <a:ln w="25400">
            <a:solidFill>
              <a:srgbClr val="C8751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206240" y="4480560"/>
            <a:ext cx="5687568" cy="320040"/>
          </a:xfrm>
          <a:prstGeom prst="line">
            <a:avLst/>
          </a:prstGeom>
          <a:ln w="25400">
            <a:solidFill>
              <a:srgbClr val="008F8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86400" y="5285232"/>
            <a:ext cx="1097280" cy="0"/>
          </a:xfrm>
          <a:prstGeom prst="line">
            <a:avLst/>
          </a:prstGeom>
          <a:ln w="2032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95360" y="5285232"/>
            <a:ext cx="685800" cy="0"/>
          </a:xfrm>
          <a:prstGeom prst="line">
            <a:avLst/>
          </a:prstGeom>
          <a:ln w="2032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053328"/>
            <a:ext cx="1078992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Noto Sans CJK TC"/>
              </a:rPr>
              <a:t>部署原則：A2A Bridge 使用獨立程序與設定，不修改既有 KB Compose、port、資料庫或 Celery worker。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Anritsu Agent 要新增什麼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保留既有 agent；新增 adapter 與可控的執行邊界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246120" cy="123444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ED"/>
                </a:solidFill>
                <a:latin typeface="Noto Sans CJK TC"/>
              </a:rPr>
              <a:t>a2a_server.py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3063239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接收 A2A request
Agent Card / JSON-RPC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417320"/>
            <a:ext cx="3246120" cy="1234440"/>
          </a:xfrm>
          <a:prstGeom prst="roundRect">
            <a:avLst/>
          </a:prstGeom>
          <a:solidFill>
            <a:srgbClr val="F1ECFA"/>
          </a:solidFill>
          <a:ln w="1778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0876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653A6"/>
                </a:solidFill>
                <a:latin typeface="Noto Sans CJK TC"/>
              </a:rPr>
              <a:t>agent_card.json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74519"/>
            <a:ext cx="3063239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名稱、版本、skills
securitySchemes、capabilities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417320"/>
            <a:ext cx="3246120" cy="1234440"/>
          </a:xfrm>
          <a:prstGeom prst="roundRect">
            <a:avLst/>
          </a:prstGeom>
          <a:solidFill>
            <a:srgbClr val="FFF1D7"/>
          </a:solidFill>
          <a:ln w="1778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0876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7512"/>
                </a:solidFill>
                <a:latin typeface="Noto Sans CJK TC"/>
              </a:rPr>
              <a:t>task_executor.py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74519"/>
            <a:ext cx="3063239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Task 狀態、timeout
取消、重試、correlation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017520"/>
            <a:ext cx="3246120" cy="123444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0896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33A3A"/>
                </a:solidFill>
                <a:latin typeface="Noto Sans CJK TC"/>
              </a:rPr>
              <a:t>profile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474720"/>
            <a:ext cx="3063239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allowlisted 測試設定
禁止任意命令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3017520"/>
            <a:ext cx="3246120" cy="123444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10896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F89"/>
                </a:solidFill>
                <a:latin typeface="Noto Sans CJK TC"/>
              </a:rPr>
              <a:t>result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474720"/>
            <a:ext cx="3063239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呼叫既有 uploader
回傳 task_id / hash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3017520"/>
            <a:ext cx="3246120" cy="123444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10896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Noto Sans CJK TC"/>
              </a:rPr>
              <a:t>audit / local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474720"/>
            <a:ext cx="3063239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SQLite 或 JSON
事件、run_id、錯誤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901184"/>
            <a:ext cx="10652760" cy="804672"/>
          </a:xfrm>
          <a:prstGeom prst="roundRect">
            <a:avLst/>
          </a:prstGeom>
          <a:solidFill>
            <a:srgbClr val="E8F6ED"/>
          </a:solidFill>
          <a:ln w="1524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074920"/>
            <a:ext cx="10241280" cy="42062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8555"/>
                </a:solidFill>
                <a:latin typeface="Noto Sans CJK TC"/>
              </a:rPr>
              <a:t>可沿用：儀器控制程式、iperf runner、Excel 產生器、既有 MCP tools、既有 KB upload client。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943600"/>
            <a:ext cx="1065276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3A3A"/>
                </a:solidFill>
                <a:latin typeface="Noto Sans CJK TC"/>
              </a:rPr>
              <a:t>不要在 Anritsu 端安裝 Neo4j、Qdrant、Redis、Celery 或第二套 LLM。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Windows 11 套件與部署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只安裝 A2A Server 與必要的 HTTP / Excel 依賴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5257800" cy="214884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5074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必要環境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5074920" cy="16184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3247"/>
                </a:solidFill>
                <a:latin typeface="Noto Sans CJK TC"/>
              </a:rPr>
              <a:t>Python 3.10+
官方 A2A Python SDK
A2A HTTP server / FastAPI extra
httpx：呼叫 KB ingest API
openpyxl：若現有 Excel parser 未提供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214884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417320"/>
            <a:ext cx="5074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F33"/>
                </a:solidFill>
                <a:latin typeface="Noto Sans CJK TC"/>
              </a:rPr>
              <a:t>可選依賴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783080"/>
            <a:ext cx="5074920" cy="16184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3247"/>
                </a:solidFill>
                <a:latin typeface="Noto Sans CJK TC"/>
              </a:rPr>
              <a:t>python-dotenv：受保護設定
cryptography：mTLS / JWS 自行處理
uvicorn：SDK 未自帶時補裝
SQLite：Python 內建，不必另裝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40480"/>
            <a:ext cx="10863072" cy="105156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41648"/>
            <a:ext cx="10378440" cy="658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oto Sans CJK TC"/>
              </a:rPr>
              <a:t>py -3.11 -m venv .venv
.\.venv\Scripts\Activate.ps1
pip install "a2a-sdk[http-server]" httpx openpyxl python-dotenv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30368"/>
            <a:ext cx="10698480" cy="59436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93247"/>
                </a:solidFill>
                <a:latin typeface="Noto Sans CJK TC"/>
              </a:rPr>
              <a:t>若現有 Anritsu agent 已有 MCP server，保留原 MCP；A2A adapter 只呼叫既有控制函式，不重做工具層。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Agent Card 與能力宣告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讓 KB Bridge 能先發現能力，再選擇可用操作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657600" cy="342900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34747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3474720" cy="28986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https://&lt;anritsu-host&gt;/
.well-known/agent-card.json
建議 exposed interface：
POST /a2a
JSON-RPC 2.0
A2A protocolVersion 1.0
僅限 VPN / HTTPS / mTLS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325880"/>
            <a:ext cx="6903720" cy="342900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08760"/>
            <a:ext cx="6446520" cy="30632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Noto Sans CJK TC"/>
              </a:rPr>
              <a:t>{
  "name": "Anritsu Test Agent",
  "version": "1.0.0",
  "supportedInterfaces": [{
    "url": "https://anritsu/a2a",
    "protocolVersion": "1.0"
  }],
  "capabilities": {"streaming": false},
  "skills": ["run_iperf_test", "get_test_status", "cancel_test"],
  "securitySchemes": {"a2aBearer": "..."}
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38928"/>
            <a:ext cx="10561320" cy="621792"/>
          </a:xfrm>
          <a:prstGeom prst="roundRect">
            <a:avLst/>
          </a:prstGeom>
          <a:solidFill>
            <a:srgbClr val="FFF1D7"/>
          </a:solidFill>
          <a:ln w="1270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285232"/>
            <a:ext cx="101498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7512"/>
                </a:solidFill>
                <a:latin typeface="Noto Sans CJK TC"/>
              </a:rPr>
              <a:t>Agent Card 不得放 token、內部服務 URL、儀器密碼或主機檔案路徑。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測試工作訊息：固定 JSON，不傳任意命令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自然語言由 KB Agent 轉成結構化 job；Anritsu 只執行 allowlisted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80160"/>
            <a:ext cx="5257800" cy="41605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17904"/>
            <a:ext cx="4754880" cy="361188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oto Sans CJK TC"/>
              </a:rPr>
              <a:t>{
  "job_type": "run_iperf_test",
  "environment": "anritsu",
  "profile_id":
    "ncq2200b2v-throughput-v1",
  "dut_model": "NCQ2200B2V",
  "run_id": "run-20260806-001",
  "test_cases": ["sa_dl_tcp", "sa_ul_tcp"],
  "duration_seconds": 60,
  "requested_by": "user-01"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257800" cy="123444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371600"/>
            <a:ext cx="5074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允許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1737360"/>
            <a:ext cx="5074920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profile_id、run_id、test case、duration、DUT 與測試參數；由 schema 驗證型別與範圍。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743200"/>
            <a:ext cx="5257800" cy="123444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834640"/>
            <a:ext cx="5074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33A3A"/>
                </a:solidFill>
                <a:latin typeface="Noto Sans CJK TC"/>
              </a:rPr>
              <a:t>拒絕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3200400"/>
            <a:ext cx="5074920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shell command、PowerShell、任意儀器 SCPI、任意路徑、未註冊 profile、超過時間上限。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206240"/>
            <a:ext cx="5257800" cy="1234440"/>
          </a:xfrm>
          <a:prstGeom prst="roundRect">
            <a:avLst/>
          </a:prstGeom>
          <a:solidFill>
            <a:srgbClr val="FFF1D7"/>
          </a:solidFill>
          <a:ln w="1778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4297679"/>
            <a:ext cx="5074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87512"/>
                </a:solidFill>
                <a:latin typeface="Noto Sans CJK TC"/>
              </a:rPr>
              <a:t>批准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4663440"/>
            <a:ext cx="5074920" cy="704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真實測試前可要求使用者確認；dry-run 先顯示測試摘要，再執行。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端到端互動流程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A2A 負責委派與回報；Excel 走既有 KB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554480" cy="150876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84" y="1572768"/>
            <a:ext cx="530352" cy="2926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581912"/>
            <a:ext cx="530352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37160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User
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15184"/>
            <a:ext cx="1371600" cy="51206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使用者要求
執行測試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" y="2624328"/>
            <a:ext cx="384048" cy="0"/>
          </a:xfrm>
          <a:prstGeom prst="line">
            <a:avLst/>
          </a:prstGeom>
          <a:ln w="2540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41448" y="1874519"/>
            <a:ext cx="1554480" cy="150876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53512" y="1572768"/>
            <a:ext cx="530352" cy="2926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1581912"/>
            <a:ext cx="530352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057400"/>
            <a:ext cx="137160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KB Agent
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615184"/>
            <a:ext cx="1371600" cy="51206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建立 job JSON
要求確認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95928" y="2624328"/>
            <a:ext cx="384048" cy="0"/>
          </a:xfrm>
          <a:prstGeom prst="line">
            <a:avLst/>
          </a:prstGeom>
          <a:ln w="2540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9976" y="1874519"/>
            <a:ext cx="1554480" cy="150876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92040" y="1572768"/>
            <a:ext cx="530352" cy="2926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581912"/>
            <a:ext cx="530352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057400"/>
            <a:ext cx="137160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A2A
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2615184"/>
            <a:ext cx="1371600" cy="51206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送至 Anritsu
取得 taskId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34456" y="2624328"/>
            <a:ext cx="384048" cy="0"/>
          </a:xfrm>
          <a:prstGeom prst="line">
            <a:avLst/>
          </a:prstGeom>
          <a:ln w="2540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18504" y="1874519"/>
            <a:ext cx="1554480" cy="150876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30568" y="1572768"/>
            <a:ext cx="530352" cy="292608"/>
          </a:xfrm>
          <a:prstGeom prst="roundRect">
            <a:avLst/>
          </a:prstGeom>
          <a:solidFill>
            <a:srgbClr val="00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0568" y="1581912"/>
            <a:ext cx="530352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2057400"/>
            <a:ext cx="137160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Instrument
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615184"/>
            <a:ext cx="1371600" cy="51206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儀器 + iperf
產生 Excel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72983" y="2624328"/>
            <a:ext cx="384049" cy="0"/>
          </a:xfrm>
          <a:prstGeom prst="line">
            <a:avLst/>
          </a:prstGeom>
          <a:ln w="2540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57032" y="1874519"/>
            <a:ext cx="1554480" cy="150876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69096" y="1572768"/>
            <a:ext cx="530352" cy="292608"/>
          </a:xfrm>
          <a:prstGeom prst="roundRect">
            <a:avLst/>
          </a:prstGeom>
          <a:solidFill>
            <a:srgbClr val="00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9096" y="1581912"/>
            <a:ext cx="530352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2057400"/>
            <a:ext cx="137160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Existing
ingest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2615184"/>
            <a:ext cx="1371600" cy="51206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既有 upload API
Celery / DB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11512" y="2624328"/>
            <a:ext cx="384048" cy="0"/>
          </a:xfrm>
          <a:prstGeom prst="line">
            <a:avLst/>
          </a:prstGeom>
          <a:ln w="2540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95560" y="1874519"/>
            <a:ext cx="1554480" cy="150876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707624" y="1572768"/>
            <a:ext cx="530352" cy="292608"/>
          </a:xfrm>
          <a:prstGeom prst="roundRect">
            <a:avLst/>
          </a:prstGeom>
          <a:solidFill>
            <a:srgbClr val="00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7624" y="1581912"/>
            <a:ext cx="530352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2057400"/>
            <a:ext cx="137160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KB Agent
answer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2615184"/>
            <a:ext cx="1371600" cy="51206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回報狀態
引用結果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4160520"/>
            <a:ext cx="10652760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4370832"/>
            <a:ext cx="10149840" cy="58521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Correlation 必須保存：A2A taskId ↔ run_id ↔ KB ingest task_id ↔ file_hash。
A2A 回應傳 metadata，不必把 Excel 二進位內容塞入 JSON-RPC。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Task 狀態與錯誤處理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狀態要由普通程式碼維護，不交給 LLM 推測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3246120" cy="109728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ED"/>
                </a:solidFill>
                <a:latin typeface="Noto Sans CJK TC"/>
              </a:rPr>
              <a:t>submitted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3063239" cy="5669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已接受
建立 task / run_id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246120" cy="109728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1732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ED"/>
                </a:solidFill>
                <a:latin typeface="Noto Sans CJK TC"/>
              </a:rPr>
              <a:t>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063239" cy="5669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執行中
控制儀器 / iperf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1" y="1325880"/>
            <a:ext cx="3246120" cy="109728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1" y="1417320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ED"/>
                </a:solidFill>
                <a:latin typeface="Noto Sans CJK TC"/>
              </a:rPr>
              <a:t>input-required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1" y="1783080"/>
            <a:ext cx="3063239" cy="5669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需補資料
缺少參數或人工確認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34639"/>
            <a:ext cx="3246120" cy="109728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26079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8555"/>
                </a:solidFill>
                <a:latin typeface="Noto Sans CJK TC"/>
              </a:rPr>
              <a:t>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91839"/>
            <a:ext cx="3063239" cy="5669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完成
Excel 已上傳並攝入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834639"/>
            <a:ext cx="3246120" cy="109728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2926079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33A3A"/>
                </a:solidFill>
                <a:latin typeface="Noto Sans CJK TC"/>
              </a:rPr>
              <a:t>failed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291839"/>
            <a:ext cx="3063239" cy="5669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失敗
保留錯誤與 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1311" y="2834639"/>
            <a:ext cx="3246120" cy="109728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1" y="2926079"/>
            <a:ext cx="30632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33A3A"/>
                </a:solidFill>
                <a:latin typeface="Noto Sans CJK TC"/>
              </a:rPr>
              <a:t>canceled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3291839"/>
            <a:ext cx="3063239" cy="56692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取消
停止可停止的工作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663440"/>
            <a:ext cx="10652760" cy="1005840"/>
          </a:xfrm>
          <a:prstGeom prst="roundRect">
            <a:avLst/>
          </a:prstGeom>
          <a:solidFill>
            <a:srgbClr val="FFF1D7"/>
          </a:solidFill>
          <a:ln w="1270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846320"/>
            <a:ext cx="10149840" cy="6217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7512"/>
                </a:solidFill>
                <a:latin typeface="Noto Sans CJK TC"/>
              </a:rPr>
              <a:t>重點：若 Excel 上傳成功但攝入失敗，Task 必須顯示明確失敗；不能回報整體 completed。
可重試時沿用相同 run_id / idempotency 規則，避免重複測試或重複寫入。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Excel 結果流程：沿用既有功能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A2A 不取代 KB 現有上傳與攝入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2148840" cy="1417320"/>
          </a:xfrm>
          <a:prstGeom prst="roundRect">
            <a:avLst/>
          </a:prstGeom>
          <a:solidFill>
            <a:srgbClr val="FFF1D7"/>
          </a:solidFill>
          <a:ln w="1778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196596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87512"/>
                </a:solidFill>
                <a:latin typeface="Noto Sans CJK TC"/>
              </a:rPr>
              <a:t>Anritsu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1965960" cy="8869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測試完成
產生 Excel
計算 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331720" cy="141732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214883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6FED"/>
                </a:solidFill>
                <a:latin typeface="Noto Sans CJK TC"/>
              </a:rPr>
              <a:t>既有 uploader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74519"/>
            <a:ext cx="2148839" cy="8869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HTTP / MCP tool
POST /api/upload/ingest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194560" cy="141732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011679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8F89"/>
                </a:solidFill>
                <a:latin typeface="Noto Sans CJK TC"/>
              </a:rPr>
              <a:t>KB 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2011679" cy="8869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Redis / Celery
strict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17320"/>
            <a:ext cx="2286000" cy="141732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1508760"/>
            <a:ext cx="2103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Noto Sans CJK TC"/>
              </a:rP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1874519"/>
            <a:ext cx="2103120" cy="8869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Neo4j + Qdrant
source assets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07208" y="2121408"/>
            <a:ext cx="576072" cy="0"/>
          </a:xfrm>
          <a:prstGeom prst="line">
            <a:avLst/>
          </a:prstGeom>
          <a:ln w="25400">
            <a:solidFill>
              <a:srgbClr val="C8751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15000" y="2121408"/>
            <a:ext cx="594360" cy="0"/>
          </a:xfrm>
          <a:prstGeom prst="line">
            <a:avLst/>
          </a:prstGeom>
          <a:ln w="2540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03920" y="2121408"/>
            <a:ext cx="594360" cy="0"/>
          </a:xfrm>
          <a:prstGeom prst="line">
            <a:avLst/>
          </a:prstGeom>
          <a:ln w="25400">
            <a:solidFill>
              <a:srgbClr val="008F8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3429000"/>
            <a:ext cx="10652760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Noto Sans CJK TC"/>
              </a:rPr>
              <a:t>Anritsu 端需要確認的欄位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886200"/>
            <a:ext cx="10652760" cy="148132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069080"/>
            <a:ext cx="10241280" cy="109728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Noto Sans CJK TC"/>
              </a:rPr>
              <a:t>Authorization: Bearer &lt;既有 ingest token&gt;
X-Agent-ID: anritsu-agent-01
Idempotency-Key / X-KB-Source-System / X-KB-Environment-Id / X-KB-Run-Id
X-KB-Artifact-Type / X-KB-Document-Id
Excel KM_Metadata：sourceSystem、environmentId、projectId、runId、artifactType、reportSchema、documentId、idempotencyKey、generatedAt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715000"/>
            <a:ext cx="1065276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3A3A"/>
                </a:solidFill>
                <a:latin typeface="Noto Sans CJK TC"/>
              </a:rPr>
              <a:t>目前 Anritsu ingest token 只用於上傳 KB；不要用同一 token 授予儀器控制權。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認證與安全邊界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A2A 控制權限與 KB ingest 權限必須分離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383280" cy="352044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32004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KB → Anritsu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3200400" cy="2990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用途：委派與查詢 Task
建議：
• 獨立 A2A credential
• VPN + HTTPS / mTLS
• scope：test:run、test:status
• IP / agent allowlist
• audit log
不可寫入 KB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83280" cy="352044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17320"/>
            <a:ext cx="32004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8F89"/>
                </a:solidFill>
                <a:latin typeface="Noto Sans CJK TC"/>
              </a:rPr>
              <a:t>Anritsu →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783080"/>
            <a:ext cx="3200400" cy="2990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用途：上傳 Excel
沿用：
• anritsu-agent-01
• Bearer ingest token
• strict headers
• KM_Metadata
• idempotency / hash
不可控制儀器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325880"/>
            <a:ext cx="3383280" cy="352044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17320"/>
            <a:ext cx="32004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Noto Sans CJK TC"/>
              </a:rPr>
              <a:t>禁止事項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83080"/>
            <a:ext cx="3200400" cy="299008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不接受任意 shell
• 不公開儀器密碼
• 不公開內部 URL
• 不接受未註冊 profile
• 不允許無限 duration
• 不把 token 放 Excel / log
• 不把資料庫掛到 Windows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230368"/>
            <a:ext cx="10652760" cy="594360"/>
          </a:xfrm>
          <a:prstGeom prst="roundRect">
            <a:avLst/>
          </a:prstGeom>
          <a:solidFill>
            <a:srgbClr val="FFF1D7"/>
          </a:solidFill>
          <a:ln w="1270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67528"/>
            <a:ext cx="1024128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7512"/>
                </a:solidFill>
                <a:latin typeface="Noto Sans CJK TC"/>
              </a:rPr>
              <a:t>所有真實儀器操作都應可追溯到 user、run_id、profile_id、A2A taskId 與測試結果 hash。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失敗、重試與冪等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先設計失敗路徑，避免重複控制儀器或重複攝入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10863072" cy="43891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26464"/>
            <a:ext cx="1920240" cy="21945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TC"/>
              </a:rPr>
              <a:t>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26464"/>
            <a:ext cx="2971800" cy="21945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TC"/>
              </a:rPr>
              <a:t>程式行為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26464"/>
            <a:ext cx="4663440" cy="21945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TC"/>
              </a:rPr>
              <a:t>驗收要求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819656"/>
            <a:ext cx="10863072" cy="566928"/>
          </a:xfrm>
          <a:prstGeom prst="rect">
            <a:avLst/>
          </a:prstGeom>
          <a:solidFill>
            <a:srgbClr val="F4F7FA"/>
          </a:solidFill>
          <a:ln w="762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911095"/>
            <a:ext cx="19202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A2A 連線失敗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911095"/>
            <a:ext cx="2971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Bridge retry with 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11095"/>
            <a:ext cx="46634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不建立第二個實體測試；保留 request 狀態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459736"/>
            <a:ext cx="10863072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551176"/>
            <a:ext cx="19202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Anritsu Agent 離線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551176"/>
            <a:ext cx="2971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timeout → failed / retry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51176"/>
            <a:ext cx="46634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使用者可稍後重新委派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99815"/>
            <a:ext cx="10863072" cy="566928"/>
          </a:xfrm>
          <a:prstGeom prst="rect">
            <a:avLst/>
          </a:prstGeom>
          <a:solidFill>
            <a:srgbClr val="F4F7FA"/>
          </a:solidFill>
          <a:ln w="762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191256"/>
            <a:ext cx="19202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儀器執行失敗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191256"/>
            <a:ext cx="2971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failed + error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91256"/>
            <a:ext cx="46634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保留 iperf log；不假裝 completed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39896"/>
            <a:ext cx="10863072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831335"/>
            <a:ext cx="19202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Excel 上傳失敗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831335"/>
            <a:ext cx="2971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retry uploader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31335"/>
            <a:ext cx="46634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沿用同一 run_id / idempotency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379976"/>
            <a:ext cx="10863072" cy="566928"/>
          </a:xfrm>
          <a:prstGeom prst="rect">
            <a:avLst/>
          </a:prstGeom>
          <a:solidFill>
            <a:srgbClr val="F4F7FA"/>
          </a:solidFill>
          <a:ln w="762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471416"/>
            <a:ext cx="19202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KB 攝入失敗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471416"/>
            <a:ext cx="2971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查 task status / retry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471416"/>
            <a:ext cx="46634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分開顯示 test completed 與 ingest failed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020056"/>
            <a:ext cx="10863072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111496"/>
            <a:ext cx="19202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重複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111496"/>
            <a:ext cx="297180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return original task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111496"/>
            <a:ext cx="466344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93247"/>
                </a:solidFill>
                <a:latin typeface="Noto Sans CJK TC"/>
              </a:rPr>
              <a:t>以 run_id + hash 判定 duplicate/conflict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989320"/>
            <a:ext cx="106527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F33"/>
                </a:solidFill>
                <a:latin typeface="Noto Sans CJK TC"/>
              </a:rPr>
              <a:t>A2A taskId、run_id、KB task_id、file_hash 必須一起寫入 audit / local state。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風險總覽與處理優先順序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先阻止會破壞既有測試或產生錯誤數據的風險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1155680" cy="40233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594360" cy="2011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等級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280160"/>
            <a:ext cx="2377440" cy="2011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280160"/>
            <a:ext cx="2880360" cy="2011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可能影響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80160"/>
            <a:ext cx="4160520" cy="2011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必要解法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11155680" cy="484632"/>
          </a:xfrm>
          <a:prstGeom prst="rect">
            <a:avLst/>
          </a:prstGeom>
          <a:solidFill>
            <a:srgbClr val="FCECEC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37360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3A3A"/>
                </a:solidFill>
                <a:latin typeface="Noto Sans CJK TC"/>
              </a:rP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737360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儀器同時被控制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1737360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結果失真 / 儀器狀態混亂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37360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3A3A"/>
                </a:solidFill>
                <a:latin typeface="Noto Sans CJK TC"/>
              </a:rPr>
              <a:t>instrument lock + 單一 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21992"/>
            <a:ext cx="11155680" cy="484632"/>
          </a:xfrm>
          <a:prstGeom prst="rect">
            <a:avLst/>
          </a:prstGeom>
          <a:solidFill>
            <a:srgbClr val="FCECEC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295144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3A3A"/>
                </a:solidFill>
                <a:latin typeface="Noto Sans CJK TC"/>
              </a:rP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295144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任意命令注入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295144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未授權操作 / 主機風險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295144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3A3A"/>
                </a:solidFill>
                <a:latin typeface="Noto Sans CJK TC"/>
              </a:rPr>
              <a:t>profile allowlist + 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779776"/>
            <a:ext cx="11155680" cy="484632"/>
          </a:xfrm>
          <a:prstGeom prst="rect">
            <a:avLst/>
          </a:prstGeom>
          <a:solidFill>
            <a:srgbClr val="FCECEC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852928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3A3A"/>
                </a:solidFill>
                <a:latin typeface="Noto Sans CJK TC"/>
              </a:rP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852928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同進程或套件衝突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852928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原 agent 無法啟動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852928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33A3A"/>
                </a:solidFill>
                <a:latin typeface="Noto Sans CJK TC"/>
              </a:rPr>
              <a:t>sidecar + 獨立 venv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337560"/>
            <a:ext cx="11155680" cy="484632"/>
          </a:xfrm>
          <a:prstGeom prst="rect">
            <a:avLst/>
          </a:prstGeom>
          <a:solidFill>
            <a:srgbClr val="FFF1D7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410712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7512"/>
                </a:solidFill>
                <a:latin typeface="Noto Sans CJK TC"/>
              </a:rP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410712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重試造成重複測試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410712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儀器重跑 / 重複報告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410712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7512"/>
                </a:solidFill>
                <a:latin typeface="Noto Sans CJK TC"/>
              </a:rPr>
              <a:t>run_id + idempotency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95344"/>
            <a:ext cx="11155680" cy="484632"/>
          </a:xfrm>
          <a:prstGeom prst="rect">
            <a:avLst/>
          </a:prstGeom>
          <a:solidFill>
            <a:srgbClr val="FFF1D7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968496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7512"/>
                </a:solidFill>
                <a:latin typeface="Noto Sans CJK TC"/>
              </a:rPr>
              <a:t>P1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3968496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Excel / ingest 部分成功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3968496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KB 顯示錯誤完成狀態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968496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7512"/>
                </a:solidFill>
                <a:latin typeface="Noto Sans CJK TC"/>
              </a:rPr>
              <a:t>雙狀態 + reconciliation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453128"/>
            <a:ext cx="11155680" cy="484632"/>
          </a:xfrm>
          <a:prstGeom prst="rect">
            <a:avLst/>
          </a:prstGeom>
          <a:solidFill>
            <a:srgbClr val="FFF1D7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526280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7512"/>
                </a:solidFill>
                <a:latin typeface="Noto Sans CJK T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4526280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網路或服務重啟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526280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Task 遺失 / 無法回報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526280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7512"/>
                </a:solidFill>
                <a:latin typeface="Noto Sans CJK TC"/>
              </a:rPr>
              <a:t>journal + resume + outbox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010912"/>
            <a:ext cx="11155680" cy="484632"/>
          </a:xfrm>
          <a:prstGeom prst="rect">
            <a:avLst/>
          </a:prstGeom>
          <a:solidFill>
            <a:srgbClr val="EAF1FF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084064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P2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084064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版本或 schema 漂移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5084064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A2A / 報告不相容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084064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6FED"/>
                </a:solidFill>
                <a:latin typeface="Noto Sans CJK TC"/>
              </a:rPr>
              <a:t>版本固定 + contract test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568696"/>
            <a:ext cx="11155680" cy="484632"/>
          </a:xfrm>
          <a:prstGeom prst="rect">
            <a:avLst/>
          </a:prstGeom>
          <a:solidFill>
            <a:srgbClr val="EAF1FF"/>
          </a:solidFill>
          <a:ln w="635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641848"/>
            <a:ext cx="594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P2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641848"/>
            <a:ext cx="237744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3247"/>
                </a:solidFill>
                <a:latin typeface="Noto Sans CJK TC"/>
              </a:rPr>
              <a:t>Log 與監控不足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39" y="5641848"/>
            <a:ext cx="288036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93247"/>
                </a:solidFill>
                <a:latin typeface="Noto Sans CJK TC"/>
              </a:rPr>
              <a:t>事故無法追蹤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5641848"/>
            <a:ext cx="416052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6FED"/>
                </a:solidFill>
                <a:latin typeface="Noto Sans CJK TC"/>
              </a:rPr>
              <a:t>correlation + audit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6236208"/>
            <a:ext cx="10652760" cy="2011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Noto Sans CJK TC"/>
              </a:rPr>
              <a:t>Go-live 前：所有 P0 必須通過；P1 必須有自動恢復或明確人工處置；P2 必須納入維運。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風險一：程序、套件與設定衝突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A2A 故障不得連帶停止既有 Anritsu 測試功能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80160"/>
            <a:ext cx="3429000" cy="347472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Noto Sans CJK TC"/>
              </a:rPr>
              <a:t>可能影響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SDK 升級破壞既有套件
• A2A exception 終止原 agent
• port / env 名稱互相覆蓋
• log 或工作目錄混用
• Windows service 啟停連動
• rollback 時無法還原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29000" cy="347472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8555"/>
                </a:solidFill>
                <a:latin typeface="Noto Sans CJK TC"/>
              </a:rPr>
              <a:t>設計解法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A2A 採獨立 sidecar process
• 使用獨立 Python venv
• 獨立 port、.env、log、PID
• 只透過 stable adapter 呼叫原功能
• pin SDK / dependency versions
• A2A 可單獨停用與移除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280160"/>
            <a:ext cx="3429000" cy="347472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驗收方式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停止 A2A 後手動測試正常
• A2A crash 不影響原 agent
• 安裝前後套件清單可比較
• port conflict 明確失敗
• 舊啟動捷徑仍可使用
• rollback 後功能完全恢復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75504"/>
            <a:ext cx="10652760" cy="640080"/>
          </a:xfrm>
          <a:prstGeom prst="roundRect">
            <a:avLst/>
          </a:prstGeom>
          <a:solidFill>
            <a:srgbClr val="FFF1D7"/>
          </a:solidFill>
          <a:ln w="1270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10241280" cy="32918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7512"/>
                </a:solidFill>
                <a:latin typeface="Noto Sans CJK TC"/>
              </a:rPr>
              <a:t>禁止把 a2a-sdk 直接 pip install 到原 agent 的 production venv，除非先完成 dependency lock 與完整回歸。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風險二：儀器並發與主機資源競爭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同一時間只能有一個受控 owner 操作同一台儀器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80160"/>
            <a:ext cx="3429000" cy="347472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Noto Sans CJK TC"/>
              </a:rPr>
              <a:t>可能影響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人工與 A2A 同時下命令
• 兩個 A2A task 同時執行
• 儀器留在錯誤狀態
• iperf port / process 衝突
• CPU、NIC、磁碟競爭
• cancel 後背景程序仍存在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29000" cy="347472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8555"/>
                </a:solidFill>
                <a:latin typeface="Noto Sans CJK TC"/>
              </a:rPr>
              <a:t>設計解法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每台儀器建立 exclusive lock
• lock owner 保存 taskId / run_id
• 預設最大 concurrency = 1
• profile 定義 port / duration 上限
• finally block 執行儀器 cleanup
• cancel 同時終止 iperf child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280160"/>
            <a:ext cx="3429000" cy="347472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驗收方式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人工測試中 A2A 回 busy
• A2A 中人工入口顯示占用
• 第二個 task 不得控制儀器
• timeout 後 lock 必須釋放
• iperf process 無殘留
• 儀器回到已知 safe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75504"/>
            <a:ext cx="10652760" cy="64008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10241280" cy="32918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TC"/>
              </a:rPr>
              <a:t>Lock 不只是檔案旗標：必須有 owner、TTL、heartbeat 與受控釋放，避免錯誤 task 解鎖別人的工作。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風險三：Excel、結果與 KB 攝入不一致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測試完成不等於攝入完成；兩種狀態必須分開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80160"/>
            <a:ext cx="3429000" cy="347472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Noto Sans CJK TC"/>
              </a:rPr>
              <a:t>可能影響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Excel 尚未寫完就被上傳
• 同名檔案被覆蓋
• hash / KM_Metadata 不一致
• 測試成功但 ingest 失敗
• Neo4j 成功、Qdrant 失敗
• 重送造成 duplicate/conflict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29000" cy="347472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8555"/>
                </a:solidFill>
                <a:latin typeface="Noto Sans CJK TC"/>
              </a:rPr>
              <a:t>設計解法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先寫 .tmp，再 atomic rename
• 每個 run 使用唯一目錄
• 關閉 workbook 後才計算 hash
• 分開 test_status / ingest_status
• 沿用 strict headers / KM_Metadata
• outbox + reconciliation + polling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280160"/>
            <a:ext cx="3429000" cy="347472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驗收方式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上傳中的 Excel 可正常開啟
• hash 與 server 回傳一致
• 相同 run/hash 回原 task
• 相同 run/不同 hash 回 conflict
• Neo4j/Qdrant 都完成才 completed
• ingest failed 可補傳且不重測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75504"/>
            <a:ext cx="10652760" cy="640080"/>
          </a:xfrm>
          <a:prstGeom prst="roundRect">
            <a:avLst/>
          </a:prstGeom>
          <a:solidFill>
            <a:srgbClr val="FFF1D7"/>
          </a:solidFill>
          <a:ln w="1270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10241280" cy="32918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7512"/>
                </a:solidFill>
                <a:latin typeface="Noto Sans CJK TC"/>
              </a:rPr>
              <a:t>A2A completion artifact 應回傳 run_id、report_name、file_hash、KB task_id、test_status、ingest_status。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風險四：網路、認證與命令安全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把 A2A 視為儀器控制入口，而不是一般聊天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80160"/>
            <a:ext cx="3429000" cy="347472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Noto Sans CJK TC"/>
              </a:rPr>
              <a:t>可能影響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Windows port 暴露公網
• token 被複製或寫入 log
• ingest token 被用來控制儀器
• Agent Card 洩漏內部資訊
• LLM / prompt injection 產生命令
• 未授權使用者啟動真實測試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29000" cy="347472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8555"/>
                </a:solidFill>
                <a:latin typeface="Noto Sans CJK TC"/>
              </a:rPr>
              <a:t>設計解法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VPN + HTTPS，正式採 mTLS
• A2A 與 ingest credentials 分離
• test:run / test:status scopes
• profile allowlist + Pydantic schema
• 真實測試要求 user approval
• token 只放 secret store / 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280160"/>
            <a:ext cx="3429000" cy="347472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驗收方式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無憑證與錯誤 scope 被拒絕
• VPN 外無法連線
• raw shell / SCPI 被拒絕
• 超過 duration / case 上限被拒絕
• Agent Card 無秘密與內部路徑
• log 掃描找不到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75504"/>
            <a:ext cx="10652760" cy="640080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10241280" cy="32918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3A3A"/>
                </a:solidFill>
                <a:latin typeface="Noto Sans CJK TC"/>
              </a:rPr>
              <a:t>目前 anritsu-agent-01 token 僅供 KB Excel ingest；A2A 控制入口必須建立另一組 credential。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風險五：任務恢復、版本相容與回歸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系統重啟或版本更新後，不能遺失狀態或破壞手動流程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80160"/>
            <a:ext cx="3429000" cy="347472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Noto Sans CJK TC"/>
              </a:rPr>
              <a:t>可能影響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Agent 重啟後 task 消失
• working 狀態永久卡住
• A2A SDK / spec 版本不同
• job schema 新舊不相容
• Windows 時間不同步
• 新功能破壞原本 Excel / 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29000" cy="347472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8555"/>
                </a:solidFill>
                <a:latin typeface="Noto Sans CJK TC"/>
              </a:rPr>
              <a:t>設計解法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SQLite task journal + startup recovery
• heartbeat / stale-task policy
• 固定 A2A 1.0 與 package lock
• job_schema_version + report_schema
• NTP / UTC timestamp
• feature flag + one-command rollback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280160"/>
            <a:ext cx="3429000" cy="347472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71600"/>
            <a:ext cx="32461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驗收方式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46120" cy="294436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• working 時重啟並正確恢復
• stale task 可轉 failed / reconcile
• 不支援版本明確拒絕
• 舊 job / Excel fixture 仍通過
• 人工測試完整回歸
• 關閉 feature flag 即恢復原狀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75504"/>
            <a:ext cx="10652760" cy="6400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10241280" cy="32918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Noto Sans CJK TC"/>
              </a:rPr>
              <a:t>最低 audit 欄位：timestamp、caller、profile_id、run_id、A2A taskId、KB task_id、state、error_code、file_hash。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實作分階段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先驗證通訊，再逐步開放真實儀器操作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600200"/>
            <a:ext cx="1938528" cy="292608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83" y="1371600"/>
            <a:ext cx="960120" cy="2926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1380744"/>
            <a:ext cx="96012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719072" cy="53035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ED"/>
                </a:solidFill>
                <a:latin typeface="Noto Sans CJK TC"/>
              </a:rPr>
              <a:t>契約與 dry-run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79192"/>
            <a:ext cx="1664208" cy="9601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Agent Card
job schema
不控制儀器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3044952"/>
            <a:ext cx="393192" cy="0"/>
          </a:xfrm>
          <a:prstGeom prst="line">
            <a:avLst/>
          </a:prstGeom>
          <a:ln w="2286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1600200"/>
            <a:ext cx="1938528" cy="2926080"/>
          </a:xfrm>
          <a:prstGeom prst="roundRect">
            <a:avLst/>
          </a:prstGeom>
          <a:solidFill>
            <a:srgbClr val="FFF1D7"/>
          </a:solidFill>
          <a:ln w="1778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46704" y="1371600"/>
            <a:ext cx="960120" cy="292608"/>
          </a:xfrm>
          <a:prstGeom prst="roundRect">
            <a:avLst/>
          </a:prstGeom>
          <a:solidFill>
            <a:srgbClr val="C87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1380744"/>
            <a:ext cx="96012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920240"/>
            <a:ext cx="1719072" cy="53035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7512"/>
                </a:solidFill>
                <a:latin typeface="Noto Sans CJK TC"/>
              </a:rPr>
              <a:t>單一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679192"/>
            <a:ext cx="1664208" cy="9601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固定 NCQ profile
實際執行 iperf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044952"/>
            <a:ext cx="393192" cy="0"/>
          </a:xfrm>
          <a:prstGeom prst="line">
            <a:avLst/>
          </a:prstGeom>
          <a:ln w="2286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93792" y="1600200"/>
            <a:ext cx="1938528" cy="2926080"/>
          </a:xfrm>
          <a:prstGeom prst="roundRect">
            <a:avLst/>
          </a:prstGeom>
          <a:solidFill>
            <a:srgbClr val="E5F7F5"/>
          </a:solidFill>
          <a:ln w="17780">
            <a:solidFill>
              <a:srgbClr val="008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78424" y="1371600"/>
            <a:ext cx="960120" cy="292608"/>
          </a:xfrm>
          <a:prstGeom prst="roundRect">
            <a:avLst/>
          </a:prstGeom>
          <a:solidFill>
            <a:srgbClr val="00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8424" y="1380744"/>
            <a:ext cx="96012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920240"/>
            <a:ext cx="1719072" cy="53035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F89"/>
                </a:solidFill>
                <a:latin typeface="Noto Sans CJK TC"/>
              </a:rPr>
              <a:t>結果攝入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679192"/>
            <a:ext cx="1664208" cy="9601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沿用 Excel upload
驗證 Neo4j/Qdrant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0" y="3044952"/>
            <a:ext cx="393192" cy="0"/>
          </a:xfrm>
          <a:prstGeom prst="line">
            <a:avLst/>
          </a:prstGeom>
          <a:ln w="2286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25511" y="1600200"/>
            <a:ext cx="1938528" cy="2926080"/>
          </a:xfrm>
          <a:prstGeom prst="roundRect">
            <a:avLst/>
          </a:prstGeom>
          <a:solidFill>
            <a:srgbClr val="F1ECFA"/>
          </a:solidFill>
          <a:ln w="17780">
            <a:solidFill>
              <a:srgbClr val="765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10143" y="1371600"/>
            <a:ext cx="960120" cy="292608"/>
          </a:xfrm>
          <a:prstGeom prst="roundRect">
            <a:avLst/>
          </a:prstGeom>
          <a:solidFill>
            <a:srgbClr val="765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3" y="1380744"/>
            <a:ext cx="96012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39" y="1920240"/>
            <a:ext cx="1719072" cy="53035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653A6"/>
                </a:solidFill>
                <a:latin typeface="Noto Sans CJK TC"/>
              </a:rPr>
              <a:t>可靠性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2679192"/>
            <a:ext cx="1664208" cy="9601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取消、timeout
retry、audit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64039" y="3044952"/>
            <a:ext cx="393192" cy="0"/>
          </a:xfrm>
          <a:prstGeom prst="line">
            <a:avLst/>
          </a:prstGeom>
          <a:ln w="22860">
            <a:solidFill>
              <a:srgbClr val="C8D5D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57232" y="1600200"/>
            <a:ext cx="1938528" cy="2926080"/>
          </a:xfrm>
          <a:prstGeom prst="roundRect">
            <a:avLst/>
          </a:prstGeom>
          <a:solidFill>
            <a:srgbClr val="E8F6ED"/>
          </a:solidFill>
          <a:ln w="1778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41863" y="1371600"/>
            <a:ext cx="960120" cy="292608"/>
          </a:xfrm>
          <a:prstGeom prst="roundRect">
            <a:avLst/>
          </a:prstGeom>
          <a:solidFill>
            <a:srgbClr val="2E8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1863" y="1380744"/>
            <a:ext cx="960120" cy="22860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TC"/>
              </a:rPr>
              <a:t>Phase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1920240"/>
            <a:ext cx="1719072" cy="53035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8555"/>
                </a:solidFill>
                <a:latin typeface="Noto Sans CJK TC"/>
              </a:rPr>
              <a:t>擴充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2679192"/>
            <a:ext cx="1664208" cy="9601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93247"/>
                </a:solidFill>
                <a:latin typeface="Noto Sans CJK TC"/>
              </a:rPr>
              <a:t>多 profile
Amarisoft 共用契約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4983480"/>
            <a:ext cx="10652760" cy="822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5175504"/>
            <a:ext cx="10149840" cy="420624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1F33"/>
                </a:solidFill>
                <a:latin typeface="Noto Sans CJK TC"/>
              </a:rPr>
              <a:t>每一階段都必須能獨立 rollback；任何階段失敗不得影響既有 KB chat、search、ingest 與資料庫。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Anritsu Agent 驗收清單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完成下列項目才算可交付 KB 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07592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0744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380744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Agent Card 可透過 HTTPS 取得，沒有洩漏秘密或內部路徑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07592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0744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1380744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KB Bridge 可發送 A2A job，Anritsu 回傳 taskId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057400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130552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2130552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只接受 allowlisted profile，不接受任意 command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57400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130552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130552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dry-run、真實測試、取消、timeout、failed 都有明確狀態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2807208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880360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2880360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run_id、A2A taskId、KB task_id、file_hash 可相互追蹤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807208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880360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2880360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Excel 仍由既有 /api/upload/ingest 上傳，不新增第二套 uploader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557015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630168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3630168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KM_Metadata 與 strict headers 通過驗證，duplicate/conflict 行為正確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557015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630168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3630168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Neo4j 與 Qdrant 都完成後才回報攝入 completed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306824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379976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5" y="4379976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Windows agent 重啟後不會遺失未完成 task 或 audit 記錄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4306824"/>
            <a:ext cx="5074920" cy="530352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E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379976"/>
            <a:ext cx="2926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8555"/>
                </a:solidFill>
                <a:latin typeface="Noto Sans CJK TC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6" y="4379976"/>
            <a:ext cx="4407408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93247"/>
                </a:solidFill>
                <a:latin typeface="Noto Sans CJK TC"/>
              </a:rPr>
              <a:t>KB 原有 chat、search、ingest 與服務 health check 無回歸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349240"/>
            <a:ext cx="10652760" cy="566928"/>
          </a:xfrm>
          <a:prstGeom prst="roundRect">
            <a:avLst/>
          </a:prstGeom>
          <a:solidFill>
            <a:srgbClr val="FFF1D7"/>
          </a:solidFill>
          <a:ln w="12700">
            <a:solidFill>
              <a:srgbClr val="C875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486400"/>
            <a:ext cx="1024128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87512"/>
                </a:solidFill>
                <a:latin typeface="Noto Sans CJK TC"/>
              </a:rPr>
              <a:t>驗收入口：https://61.216.9.52:3030/chat.html；外部測試同時保存 Anritsu agent log 與 KB task response。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3891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F33"/>
                </a:solidFill>
                <a:latin typeface="Noto Sans CJK TC"/>
              </a:rPr>
              <a:t>交付給 Anritsu Agent 的實作順序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51560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7589"/>
                </a:solidFill>
                <a:latin typeface="Noto Sans CJK TC"/>
              </a:rPr>
              <a:t>先完成 adapter，再逐步開放實際測試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685800" cy="27432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Noto Sans CJK T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77240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KB / Anritsu A2A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47104"/>
            <a:ext cx="2148840" cy="16459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07589"/>
                </a:solidFill>
                <a:latin typeface="Noto Sans CJK TC"/>
              </a:rPr>
              <a:t>Implementation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5257800" cy="3429000"/>
          </a:xfrm>
          <a:prstGeom prst="roundRect">
            <a:avLst/>
          </a:prstGeom>
          <a:solidFill>
            <a:srgbClr val="EAF1FF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5074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FED"/>
                </a:solidFill>
                <a:latin typeface="Noto Sans CJK TC"/>
              </a:rPr>
              <a:t>本次要做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5074920" cy="28986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3247"/>
                </a:solidFill>
                <a:latin typeface="Noto Sans CJK TC"/>
              </a:rPr>
              <a:t>1. 建立 Python venv 與 A2A SDK
2. 寫 Agent Card 與 A2A server
3. 定義固定 job schema / profile
4. 包裝既有儀器控制函式
5. 建立 task state / audit
6. 接回既有 Excel uploader
7. 用 dry-run 驗證整條鏈路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3429000"/>
          </a:xfrm>
          <a:prstGeom prst="roundRect">
            <a:avLst/>
          </a:prstGeom>
          <a:solidFill>
            <a:srgbClr val="FCECEC"/>
          </a:solidFill>
          <a:ln w="17780">
            <a:solidFill>
              <a:srgbClr val="B3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417320"/>
            <a:ext cx="5074920" cy="310896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Noto Sans CJK TC"/>
              </a:rPr>
              <a:t>不可做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783080"/>
            <a:ext cx="5074920" cy="2898648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93247"/>
                </a:solidFill>
                <a:latin typeface="Noto Sans CJK TC"/>
              </a:rPr>
              <a:t>1. 不把 KB DB 掛到 Windows
2. 不新建第二套 Excel ingest
3. 不共用 ingest token 作儀器控制
4. 不讓 LLM 生成任意命令
5. 不直接暴露 Windows 到公網
6. 不將未完成測試回報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5166360"/>
            <a:ext cx="10652760" cy="65836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321808"/>
            <a:ext cx="10149840" cy="320040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CJK TC"/>
              </a:rPr>
              <a:t>官方參考：a2a-protocol.org/latest/specification、github.com/a2aproject/a2a-python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035040"/>
            <a:ext cx="10652760" cy="256032"/>
          </a:xfrm>
          <a:prstGeom prst="rect">
            <a:avLst/>
          </a:prstGeom>
          <a:noFill/>
        </p:spPr>
        <p:txBody>
          <a:bodyPr wrap="square" anchor="ctr" lIns="88900" rIns="88900" tIns="38100" bIns="3810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1F33"/>
                </a:solidFill>
                <a:latin typeface="Noto Sans CJK TC"/>
              </a:rPr>
              <a:t>完成後先提交 Agent Card、job schema、測試 log 與 dry-run 結果，再進入真實儀器測試。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