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Anritsu／Amarisoft 測試報告整合架構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TC"/>
              </a:rPr>
              <a:t>兩個測試環境獨立執行，報告經 HTTPS 傳送到 Knowledge Base，人工核准後正式入庫。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Noto Sans CJK TC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057400" cy="47548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400" b="1">
                <a:solidFill>
                  <a:srgbClr val="1E3A8A"/>
                </a:solidFill>
                <a:latin typeface="Noto Sans CJK TC"/>
              </a:rPr>
              <a:t>Anritsu 測試環境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2057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0">
                <a:solidFill>
                  <a:srgbClr val="0F172A"/>
                </a:solidFill>
                <a:latin typeface="Noto Sans CJK TC"/>
              </a:rPr>
              <a:t>儀器／DUT
測試控制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63240"/>
            <a:ext cx="2057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0">
                <a:solidFill>
                  <a:srgbClr val="0F172A"/>
                </a:solidFill>
                <a:latin typeface="Noto Sans CJK TC"/>
              </a:rPr>
              <a:t>產生標準 Excel
本機驗證與 Outbox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27632" y="2743200"/>
            <a:ext cx="0" cy="32004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528048" y="1325880"/>
            <a:ext cx="2057400" cy="47548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400" b="1">
                <a:solidFill>
                  <a:srgbClr val="92400E"/>
                </a:solidFill>
                <a:latin typeface="Noto Sans CJK TC"/>
              </a:rPr>
              <a:t>Amarisoft 測試環境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8048" y="2011680"/>
            <a:ext cx="2057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0">
                <a:solidFill>
                  <a:srgbClr val="0F172A"/>
                </a:solidFill>
                <a:latin typeface="Noto Sans CJK TC"/>
              </a:rPr>
              <a:t>儀器／DUT
測試控制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28048" y="3063240"/>
            <a:ext cx="2057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0">
                <a:solidFill>
                  <a:srgbClr val="0F172A"/>
                </a:solidFill>
                <a:latin typeface="Noto Sans CJK TC"/>
              </a:rPr>
              <a:t>產生標準 Excel
本機驗證與 Outbox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61320" y="2743200"/>
            <a:ext cx="0" cy="32004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325880"/>
            <a:ext cx="4069080" cy="47548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400" b="1">
                <a:solidFill>
                  <a:srgbClr val="166534"/>
                </a:solidFill>
                <a:latin typeface="Noto Sans CJK TC"/>
              </a:rPr>
              <a:t>Knowledge Base 平台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148840"/>
            <a:ext cx="2148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0">
                <a:solidFill>
                  <a:srgbClr val="0F172A"/>
                </a:solidFill>
                <a:latin typeface="Noto Sans CJK TC"/>
              </a:rPr>
              <a:t>HTTPS API
Token／Hash／run_id 驗證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2148840"/>
            <a:ext cx="2148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0">
                <a:solidFill>
                  <a:srgbClr val="0F172A"/>
                </a:solidFill>
                <a:latin typeface="Noto Sans CJK TC"/>
              </a:rPr>
              <a:t>Staging + Submission Registry
待審狀態與稽核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3429000"/>
            <a:ext cx="2148840" cy="7498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300" b="1">
                <a:solidFill>
                  <a:srgbClr val="9A3412"/>
                </a:solidFill>
                <a:latin typeface="Noto Sans CJK TC"/>
              </a:rPr>
              <a:t>KB 待審管理頁
核准／退回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3429000"/>
            <a:ext cx="2148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0">
                <a:solidFill>
                  <a:srgbClr val="0F172A"/>
                </a:solidFill>
                <a:latin typeface="Noto Sans CJK TC"/>
              </a:rPr>
              <a:t>Redis／Celery
核准後攝入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4800600"/>
            <a:ext cx="2148840" cy="7498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300" b="1">
                <a:solidFill>
                  <a:srgbClr val="065F46"/>
                </a:solidFill>
                <a:latin typeface="Noto Sans CJK TC"/>
              </a:rPr>
              <a:t>Neo4j
結構化測試數值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00600"/>
            <a:ext cx="2148840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300" b="1">
                <a:solidFill>
                  <a:srgbClr val="1E40AF"/>
                </a:solidFill>
                <a:latin typeface="Noto Sans CJK TC"/>
              </a:rPr>
              <a:t>Qdrant
報告內容與向量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651760" y="2514600"/>
            <a:ext cx="731520" cy="91440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7680960" y="2514600"/>
            <a:ext cx="1847088" cy="91440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32120" y="2898648"/>
            <a:ext cx="0" cy="530352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11112" y="4178808"/>
            <a:ext cx="0" cy="621792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919472" y="4178808"/>
            <a:ext cx="612648" cy="621792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71800" y="5961888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Noto Sans CJK TC"/>
              </a:rPr>
              <a:t>核心原則：測試環境不直連資料庫；KB 統一驗證、審核、攝入與索引。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Test Report 從產生到入庫的生命週期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TC"/>
              </a:rPr>
              <a:t>人工核准位於正式 Neo4j／Qdrant 寫入之前，確保可追蹤、可退回、可重送。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Noto Sans CJK T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1517904" cy="7498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100" b="1">
                <a:solidFill>
                  <a:srgbClr val="0F172A"/>
                </a:solidFill>
                <a:latin typeface="Noto Sans CJK TC"/>
              </a:rPr>
              <a:t>received
收到報告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9384" y="2523744"/>
            <a:ext cx="1828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12264" y="2148840"/>
            <a:ext cx="1517904" cy="7498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100" b="1">
                <a:solidFill>
                  <a:srgbClr val="0F172A"/>
                </a:solidFill>
                <a:latin typeface="Noto Sans CJK TC"/>
              </a:rPr>
              <a:t>validating
格式／欄位驗證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30168" y="2523744"/>
            <a:ext cx="1828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13048" y="2148840"/>
            <a:ext cx="1517904" cy="7498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000" b="1">
                <a:solidFill>
                  <a:srgbClr val="0F172A"/>
                </a:solidFill>
                <a:latin typeface="Noto Sans CJK TC"/>
              </a:rPr>
              <a:t>pending_review
待人工審核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30952" y="2523744"/>
            <a:ext cx="1828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13832" y="2148840"/>
            <a:ext cx="1517904" cy="7498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100" b="1">
                <a:solidFill>
                  <a:srgbClr val="0F172A"/>
                </a:solidFill>
                <a:latin typeface="Noto Sans CJK TC"/>
              </a:rPr>
              <a:t>approved
核准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31736" y="2523744"/>
            <a:ext cx="1828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14616" y="2148840"/>
            <a:ext cx="1517904" cy="7498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100" b="1">
                <a:solidFill>
                  <a:srgbClr val="0F172A"/>
                </a:solidFill>
                <a:latin typeface="Noto Sans CJK TC"/>
              </a:rPr>
              <a:t>queued
排入攝入佇列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32520" y="2523744"/>
            <a:ext cx="1828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15400" y="2148840"/>
            <a:ext cx="1517904" cy="7498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100" b="1">
                <a:solidFill>
                  <a:srgbClr val="0F172A"/>
                </a:solidFill>
                <a:latin typeface="Noto Sans CJK TC"/>
              </a:rPr>
              <a:t>writing
Neo4j + Qdrant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33304" y="2523744"/>
            <a:ext cx="1828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616184" y="2148840"/>
            <a:ext cx="1517904" cy="749808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100" b="1">
                <a:solidFill>
                  <a:srgbClr val="0F172A"/>
                </a:solidFill>
                <a:latin typeface="Noto Sans CJK TC"/>
              </a:rPr>
              <a:t>completed
可搜尋／可比較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3794760"/>
            <a:ext cx="2286000" cy="8046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1">
                <a:solidFill>
                  <a:srgbClr val="991B1B"/>
                </a:solidFill>
                <a:latin typeface="Noto Sans CJK TC"/>
              </a:rPr>
              <a:t>validation_failed
缺欄位／格式錯誤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3794760"/>
            <a:ext cx="2286000" cy="8046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1">
                <a:solidFill>
                  <a:srgbClr val="991B1B"/>
                </a:solidFill>
                <a:latin typeface="Noto Sans CJK TC"/>
              </a:rPr>
              <a:t>rejected
審核退回＋原因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794760"/>
            <a:ext cx="2286000" cy="8046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1">
                <a:solidFill>
                  <a:srgbClr val="991B1B"/>
                </a:solidFill>
                <a:latin typeface="Noto Sans CJK TC"/>
              </a:rPr>
              <a:t>ingest_failed
可重試／Reconciliation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70432" y="2898648"/>
            <a:ext cx="1847088" cy="896112"/>
          </a:xfrm>
          <a:prstGeom prst="line">
            <a:avLst/>
          </a:prstGeom>
          <a:ln w="127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56432" y="2898648"/>
            <a:ext cx="2624328" cy="896112"/>
          </a:xfrm>
          <a:prstGeom prst="line">
            <a:avLst/>
          </a:prstGeom>
          <a:ln w="127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47888" y="2898648"/>
            <a:ext cx="896112" cy="896112"/>
          </a:xfrm>
          <a:prstGeom prst="line">
            <a:avLst/>
          </a:prstGeom>
          <a:ln w="127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23036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Noto Sans CJK TC"/>
              </a:rPr>
              <a:t>相同 environment + run_id + SHA-256 重送時回傳既有任務；相同 run_id 但內容不同則拒絕並回報衝突。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標準報告契約與資料落點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TC"/>
              </a:rPr>
              <a:t>共同 Excel schema 讓兩套環境能使用同一套 parser，並支援精確指標比較與原文引用。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Noto Sans CJK T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8803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400" b="1">
                <a:solidFill>
                  <a:srgbClr val="1E3A8A"/>
                </a:solidFill>
                <a:latin typeface="Noto Sans CJK TC"/>
              </a:rPr>
              <a:t>標準 Excel Report v1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288036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0">
                <a:solidFill>
                  <a:srgbClr val="0F172A"/>
                </a:solidFill>
                <a:latin typeface="Noto Sans CJK TC"/>
              </a:rPr>
              <a:t>Manifest：run_id／environment／DUT／版本
RadioConfig：RAT／band／頻寬／MIMO
TestCases：case ID／條件／狀態
Measurements：數值／單位／門檻
Verdicts：Pass／Fail／原因
RawArtifacts：log／截圖／checksum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288036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400" b="1">
                <a:solidFill>
                  <a:srgbClr val="166534"/>
                </a:solidFill>
                <a:latin typeface="Noto Sans CJK TC"/>
              </a:rPr>
              <a:t>Neo4j 結構化圖譜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03120"/>
            <a:ext cx="288036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0">
                <a:solidFill>
                  <a:srgbClr val="0F172A"/>
                </a:solidFill>
                <a:latin typeface="Noto Sans CJK TC"/>
              </a:rPr>
              <a:t>TestEnvironment → TestRun
TestRun → DUT／RadioConfig
TestRun → TestCase
TestCase → Measurement／Verdict
保存數值、單位、門檻、判定
用途：精確比較、趨勢、Fail 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417320"/>
            <a:ext cx="288036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400" b="1">
                <a:solidFill>
                  <a:srgbClr val="1E40AF"/>
                </a:solidFill>
                <a:latin typeface="Noto Sans CJK TC"/>
              </a:rPr>
              <a:t>Qdrant 向量索引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103120"/>
            <a:ext cx="288036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0">
                <a:solidFill>
                  <a:srgbClr val="0F172A"/>
                </a:solidFill>
                <a:latin typeface="Noto Sans CJK TC"/>
              </a:rPr>
              <a:t>報告 Markdown 與 source chunks
run_id／environment
project／DUT／band
protocol／direction／verdict
原始報告名稱與 chunk_index
用途：語意搜尋、來源引用、Chat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3291840"/>
            <a:ext cx="8229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78040" y="3291840"/>
            <a:ext cx="8229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51663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Noto Sans CJK TC"/>
              </a:rPr>
              <a:t>共同欄位採資料驅動；Anritsu／Amarisoft 特有欄位放入可擴充 key/value 區，不在程式中硬編碼環境分支。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導入順序與驗收重點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TC"/>
              </a:rPr>
              <a:t>先完成共同契約與單一環境試行，再接入第二套環境，降低跨環境 schema 漂移風險。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Noto Sans CJK T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" cy="53035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307592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400" b="1">
                <a:solidFill>
                  <a:srgbClr val="0F172A"/>
                </a:solidFill>
                <a:latin typeface="Noto Sans CJK TC"/>
              </a:rPr>
              <a:t>凍結 Schema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99032"/>
            <a:ext cx="6720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Noto Sans CJK TC"/>
              </a:rPr>
              <a:t>建立 Excel template、fixture 與欄位驗證器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5256" y="1856231"/>
            <a:ext cx="0" cy="411481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286000"/>
            <a:ext cx="530352" cy="53035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267712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400" b="1">
                <a:solidFill>
                  <a:srgbClr val="0F172A"/>
                </a:solidFill>
                <a:latin typeface="Noto Sans CJK TC"/>
              </a:rPr>
              <a:t>建立上傳與待審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59152"/>
            <a:ext cx="6720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Noto Sans CJK TC"/>
              </a:rPr>
              <a:t>Agent token、staging、submission registry、審核頁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256" y="2816352"/>
            <a:ext cx="0" cy="41148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3246120"/>
            <a:ext cx="530352" cy="53035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227832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400" b="1">
                <a:solidFill>
                  <a:srgbClr val="0F172A"/>
                </a:solidFill>
                <a:latin typeface="Noto Sans CJK TC"/>
              </a:rPr>
              <a:t>接入正式攝入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19272"/>
            <a:ext cx="6720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Noto Sans CJK TC"/>
              </a:rPr>
              <a:t>Canonical parser → Celery → Neo4j／Qdrant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5256" y="3776472"/>
            <a:ext cx="0" cy="41148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4206240"/>
            <a:ext cx="530352" cy="53035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187952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400" b="1">
                <a:solidFill>
                  <a:srgbClr val="0F172A"/>
                </a:solidFill>
                <a:latin typeface="Noto Sans CJK TC"/>
              </a:rPr>
              <a:t>Anritsu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79392"/>
            <a:ext cx="6720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Noto Sans CJK TC"/>
              </a:rPr>
              <a:t>完成單環境端到端與失敗重送驗證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5256" y="4736592"/>
            <a:ext cx="0" cy="41148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5166359"/>
            <a:ext cx="530352" cy="53035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148072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400" b="1">
                <a:solidFill>
                  <a:srgbClr val="0F172A"/>
                </a:solidFill>
                <a:latin typeface="Noto Sans CJK TC"/>
              </a:rPr>
              <a:t>Amarisoft + 雙環境驗收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39512"/>
            <a:ext cx="6720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Noto Sans CJK TC"/>
              </a:rPr>
              <a:t>比較查詢、趨勢、Fail 分析與權限測試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144768"/>
            <a:ext cx="1069848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/>
          <a:lstStyle/>
          <a:p>
            <a:pPr algn="ctr"/>
            <a:r>
              <a:rPr sz="1200" b="1">
                <a:solidFill>
                  <a:srgbClr val="065F46"/>
                </a:solidFill>
                <a:latin typeface="Noto Sans CJK TC"/>
              </a:rPr>
              <a:t>驗收入口：使用 https://61.216.9.52:3030/chat.html 實測指定 run、Fail 案例、Anritsu／Amarisoft 比較與來源引用。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