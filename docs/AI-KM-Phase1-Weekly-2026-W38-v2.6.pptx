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881360" cy="594360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ptos"/>
              </a:rPr>
              <a:t>AI KM Phase 1 W38 進度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384048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 algn="ctr"/>
            <a:r>
              <a:rPr sz="1800" b="0">
                <a:solidFill>
                  <a:srgbClr val="DAE7F2"/>
                </a:solidFill>
                <a:latin typeface="Aptos"/>
              </a:rPr>
              <a:t>W37 KM 精確度／Rerank 補登 + W38 CSIT Read-only 整合啟動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50592"/>
            <a:ext cx="10332720" cy="274320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 algn="ctr"/>
            <a:r>
              <a:rPr sz="1200" b="0">
                <a:solidFill>
                  <a:srgbClr val="BECFDC"/>
                </a:solidFill>
                <a:latin typeface="Aptos"/>
              </a:rPr>
              <a:t>Anderson｜2026-09-14～2026-09-18｜v2.6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3246120"/>
            <a:ext cx="3154680" cy="1325880"/>
          </a:xfrm>
          <a:prstGeom prst="roundRect">
            <a:avLst/>
          </a:prstGeom>
          <a:solidFill>
            <a:srgbClr val="F2F6F9"/>
          </a:solidFill>
          <a:ln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" y="3246120"/>
            <a:ext cx="73152" cy="132588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52144" y="3337560"/>
            <a:ext cx="2898648" cy="310896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 algn="l"/>
            <a:r>
              <a:rPr sz="1400" b="1">
                <a:solidFill>
                  <a:srgbClr val="18304E"/>
                </a:solidFill>
                <a:latin typeface="Aptos"/>
              </a:rPr>
              <a:t>搜尋精確度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" y="3703320"/>
            <a:ext cx="2898648" cy="777240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 algn="l"/>
            <a:r>
              <a:rPr sz="1100" b="0">
                <a:solidFill>
                  <a:srgbClr val="24303E"/>
                </a:solidFill>
                <a:latin typeface="Aptos"/>
              </a:rPr>
              <a:t>評分欄位、score breakdown、Rerank active 與 fallback 已接入驗證。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98848" y="3246120"/>
            <a:ext cx="3154680" cy="1325880"/>
          </a:xfrm>
          <a:prstGeom prst="roundRect">
            <a:avLst/>
          </a:prstGeom>
          <a:solidFill>
            <a:srgbClr val="F2F6F9"/>
          </a:solidFill>
          <a:ln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98848" y="3246120"/>
            <a:ext cx="73152" cy="1325880"/>
          </a:xfrm>
          <a:prstGeom prst="rect">
            <a:avLst/>
          </a:prstGeom>
          <a:solidFill>
            <a:srgbClr val="27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45152" y="3337560"/>
            <a:ext cx="2898648" cy="310896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 algn="l"/>
            <a:r>
              <a:rPr sz="1400" b="1">
                <a:solidFill>
                  <a:srgbClr val="18304E"/>
                </a:solidFill>
                <a:latin typeface="Aptos"/>
              </a:rPr>
              <a:t>KM Runtime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3703320"/>
            <a:ext cx="2898648" cy="777240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 algn="l"/>
            <a:r>
              <a:rPr sz="1100" b="0">
                <a:solidFill>
                  <a:srgbClr val="24303E"/>
                </a:solidFill>
                <a:latin typeface="Aptos"/>
              </a:rPr>
              <a:t>Qwen3 Reranker、lifecycle hard filter、worker 更新已完成受控驗證。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91856" y="3246120"/>
            <a:ext cx="3154680" cy="1325880"/>
          </a:xfrm>
          <a:prstGeom prst="roundRect">
            <a:avLst/>
          </a:prstGeom>
          <a:solidFill>
            <a:srgbClr val="F2F6F9"/>
          </a:solidFill>
          <a:ln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91856" y="3246120"/>
            <a:ext cx="73152" cy="1325880"/>
          </a:xfrm>
          <a:prstGeom prst="rect">
            <a:avLst/>
          </a:prstGeom>
          <a:solidFill>
            <a:srgbClr val="276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3337560"/>
            <a:ext cx="2898648" cy="310896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 algn="l"/>
            <a:r>
              <a:rPr sz="1400" b="1">
                <a:solidFill>
                  <a:srgbClr val="18304E"/>
                </a:solidFill>
                <a:latin typeface="Aptos"/>
              </a:rPr>
              <a:t>CSIT STAGE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3703320"/>
            <a:ext cx="2898648" cy="777240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 algn="l"/>
            <a:r>
              <a:rPr sz="1100" b="0">
                <a:solidFill>
                  <a:srgbClr val="24303E"/>
                </a:solidFill>
                <a:latin typeface="Aptos"/>
              </a:rPr>
              <a:t>Cookie login 與動態 GUID read-only chain 已實測到檔案下載。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806440"/>
            <a:ext cx="10607040" cy="320040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ptos"/>
              </a:rPr>
              <a:t>未宣稱：Golden qrels 未完成、CSIT proxy 未 Production activation、命中率尚未正式判定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6565392"/>
            <a:ext cx="11384280" cy="164592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 algn="l"/>
            <a:r>
              <a:rPr sz="750" b="0">
                <a:solidFill>
                  <a:srgbClr val="5B6978"/>
                </a:solidFill>
                <a:latin typeface="Aptos"/>
              </a:rPr>
              <a:t>Evidence-based status；W36/W37歷史檔案保留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8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09728"/>
            <a:ext cx="8229600" cy="411480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主管摘要｜W37 補登與 W38 狀態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58952"/>
            <a:ext cx="10698480" cy="228600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 algn="l"/>
            <a:r>
              <a:rPr sz="950" b="0">
                <a:solidFill>
                  <a:srgbClr val="5B6978"/>
                </a:solidFill>
                <a:latin typeface="Aptos"/>
              </a:rPr>
              <a:t>只採用可追溯 evidence；規劃草稿不等於完成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164592"/>
            <a:ext cx="3429000" cy="228600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tos"/>
              </a:rPr>
              <a:t>AI KM Phase 1 | 2026-W38 | v2.6 |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3566160" cy="4480560"/>
          </a:xfrm>
          <a:prstGeom prst="roundRect">
            <a:avLst/>
          </a:prstGeom>
          <a:solidFill>
            <a:srgbClr val="F2F6F9"/>
          </a:solidFill>
          <a:ln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73152" cy="448056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325880"/>
            <a:ext cx="3310128" cy="310896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 algn="l"/>
            <a:r>
              <a:rPr sz="1400" b="1">
                <a:solidFill>
                  <a:srgbClr val="18304E"/>
                </a:solidFill>
                <a:latin typeface="Aptos"/>
              </a:rPr>
              <a:t>W37 補登：精確度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1691640"/>
            <a:ext cx="3310128" cy="3931920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 algn="l"/>
            <a:r>
              <a:rPr sz="1100" b="0">
                <a:solidFill>
                  <a:srgbClr val="24303E"/>
                </a:solidFill>
                <a:latin typeface="Aptos"/>
              </a:rPr>
              <a:t>• 0–3 relevance grade 與 query-level qrels
• Recall@20、Precision@5、MRR@10、nDCG@10
• 文件品質與 query relevance 分開
• 正確 document/chunk 標註尚待補齊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1234440"/>
            <a:ext cx="3566160" cy="4480560"/>
          </a:xfrm>
          <a:prstGeom prst="roundRect">
            <a:avLst/>
          </a:prstGeom>
          <a:solidFill>
            <a:srgbClr val="F2F6F9"/>
          </a:solidFill>
          <a:ln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15968" y="1234440"/>
            <a:ext cx="73152" cy="4480560"/>
          </a:xfrm>
          <a:prstGeom prst="rect">
            <a:avLst/>
          </a:prstGeom>
          <a:solidFill>
            <a:srgbClr val="27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62272" y="1325880"/>
            <a:ext cx="3310128" cy="310896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 algn="l"/>
            <a:r>
              <a:rPr sz="1400" b="1">
                <a:solidFill>
                  <a:srgbClr val="18304E"/>
                </a:solidFill>
                <a:latin typeface="Aptos"/>
              </a:rPr>
              <a:t>W37 補登：Rerank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62272" y="1691640"/>
            <a:ext cx="3310128" cy="3931920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 algn="l"/>
            <a:r>
              <a:rPr sz="1100" b="0">
                <a:solidFill>
                  <a:srgbClr val="24303E"/>
                </a:solidFill>
                <a:latin typeface="Aptos"/>
              </a:rPr>
              <a:t>• Qdrant candidates → hard filter → Cross-Encoder
• Qwen3-Reranker-0.6B active
• timeout/error fallback baseline
• score 與 citation/source card 綁定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9016" y="1234440"/>
            <a:ext cx="3502152" cy="4480560"/>
          </a:xfrm>
          <a:prstGeom prst="roundRect">
            <a:avLst/>
          </a:prstGeom>
          <a:solidFill>
            <a:srgbClr val="F2F6F9"/>
          </a:solidFill>
          <a:ln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29016" y="1234440"/>
            <a:ext cx="73152" cy="4480560"/>
          </a:xfrm>
          <a:prstGeom prst="rect">
            <a:avLst/>
          </a:prstGeom>
          <a:solidFill>
            <a:srgbClr val="276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325880"/>
            <a:ext cx="3246120" cy="310896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 algn="l"/>
            <a:r>
              <a:rPr sz="1400" b="1">
                <a:solidFill>
                  <a:srgbClr val="18304E"/>
                </a:solidFill>
                <a:latin typeface="Aptos"/>
              </a:rPr>
              <a:t>W38：CSIT read-only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1691640"/>
            <a:ext cx="3246120" cy="3931920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 algn="l"/>
            <a:r>
              <a:rPr sz="1100" b="0">
                <a:solidFill>
                  <a:srgbClr val="24303E"/>
                </a:solidFill>
                <a:latin typeface="Aptos"/>
              </a:rPr>
              <a:t>• Cookie session reuse
• Module → Record → Case → Task → File
• 動態 GUID
• download HTTP 200
• 不連 DB/NAS、不執行 write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6565392"/>
            <a:ext cx="11384280" cy="164592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 algn="l"/>
            <a:r>
              <a:rPr sz="750" b="0">
                <a:solidFill>
                  <a:srgbClr val="5B6978"/>
                </a:solidFill>
                <a:latin typeface="Aptos"/>
              </a:rPr>
              <a:t>Evidence-based status；W36/W37歷史檔案保留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8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09728"/>
            <a:ext cx="8229600" cy="411480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搜尋精確度與 Rerank 真實系統導入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58952"/>
            <a:ext cx="10698480" cy="228600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 algn="l"/>
            <a:r>
              <a:rPr sz="950" b="0">
                <a:solidFill>
                  <a:srgbClr val="5B6978"/>
                </a:solidFill>
                <a:latin typeface="Aptos"/>
              </a:rPr>
              <a:t>W37 工作補登；尚不宣稱業務命中率提升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164592"/>
            <a:ext cx="3429000" cy="228600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tos"/>
              </a:rPr>
              <a:t>AI KM Phase 1 | 2026-W38 | v2.6 |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5394960" cy="2011680"/>
          </a:xfrm>
          <a:prstGeom prst="roundRect">
            <a:avLst/>
          </a:prstGeom>
          <a:solidFill>
            <a:srgbClr val="F2F6F9"/>
          </a:solidFill>
          <a:ln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73152" cy="2011680"/>
          </a:xfrm>
          <a:prstGeom prst="rect">
            <a:avLst/>
          </a:prstGeom>
          <a:solidFill>
            <a:srgbClr val="27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325880"/>
            <a:ext cx="5138928" cy="310896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 algn="l"/>
            <a:r>
              <a:rPr sz="1400" b="1">
                <a:solidFill>
                  <a:srgbClr val="18304E"/>
                </a:solidFill>
                <a:latin typeface="Aptos"/>
              </a:rPr>
              <a:t>已完成可呈現與可追蹤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1691640"/>
            <a:ext cx="5138928" cy="1463040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 algn="l"/>
            <a:r>
              <a:rPr sz="1100" b="0">
                <a:solidFill>
                  <a:srgbClr val="24303E"/>
                </a:solidFill>
                <a:latin typeface="Aptos"/>
              </a:rPr>
              <a:t>真實 KM 搜尋來源可顯示相關性、文件品質、grade、score breakdown、rerank status、model identity；cache key 納入 rerank/model/embedding identity。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44768" y="1234440"/>
            <a:ext cx="5486400" cy="2011680"/>
          </a:xfrm>
          <a:prstGeom prst="roundRect">
            <a:avLst/>
          </a:prstGeom>
          <a:solidFill>
            <a:srgbClr val="F2F6F9"/>
          </a:solidFill>
          <a:ln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44768" y="1234440"/>
            <a:ext cx="73152" cy="201168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1072" y="1325880"/>
            <a:ext cx="5230368" cy="310896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 algn="l"/>
            <a:r>
              <a:rPr sz="1400" b="1">
                <a:solidFill>
                  <a:srgbClr val="18304E"/>
                </a:solidFill>
                <a:latin typeface="Aptos"/>
              </a:rPr>
              <a:t>安全與 fallback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1072" y="1691640"/>
            <a:ext cx="5230368" cy="1463040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 algn="l"/>
            <a:r>
              <a:rPr sz="1100" b="0">
                <a:solidFill>
                  <a:srgbClr val="24303E"/>
                </a:solidFill>
                <a:latin typeface="Aptos"/>
              </a:rPr>
              <a:t>ACL、published、current、environment/version 先 hard filter；模型不可用時回退 baseline，並標記 fallback，不把分數當成正確率。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520440"/>
            <a:ext cx="5394960" cy="2057400"/>
          </a:xfrm>
          <a:prstGeom prst="roundRect">
            <a:avLst/>
          </a:prstGeom>
          <a:solidFill>
            <a:srgbClr val="F2F6F9"/>
          </a:solidFill>
          <a:ln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520440"/>
            <a:ext cx="73152" cy="2057400"/>
          </a:xfrm>
          <a:prstGeom prst="rect">
            <a:avLst/>
          </a:prstGeom>
          <a:solidFill>
            <a:srgbClr val="276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" y="3611880"/>
            <a:ext cx="5138928" cy="310896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 algn="l"/>
            <a:r>
              <a:rPr sz="1400" b="1">
                <a:solidFill>
                  <a:srgbClr val="18304E"/>
                </a:solidFill>
                <a:latin typeface="Aptos"/>
              </a:rPr>
              <a:t>評估基準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" y="3977639"/>
            <a:ext cx="5138928" cy="1508760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 algn="l"/>
            <a:r>
              <a:rPr sz="1100" b="0">
                <a:solidFill>
                  <a:srgbClr val="24303E"/>
                </a:solidFill>
                <a:latin typeface="Aptos"/>
              </a:rPr>
              <a:t>Baseline：現行 Qdrant + rule rank
Candidate：quality score、fusion、Rerank、document aggregation
主要指標：Recall@20、Precision@5、HitRate@5、MRR@10、nDCG@10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44768" y="3520440"/>
            <a:ext cx="5486400" cy="2057400"/>
          </a:xfrm>
          <a:prstGeom prst="roundRect">
            <a:avLst/>
          </a:prstGeom>
          <a:solidFill>
            <a:srgbClr val="F2F6F9"/>
          </a:solidFill>
          <a:ln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44768" y="3520440"/>
            <a:ext cx="73152" cy="2057400"/>
          </a:xfrm>
          <a:prstGeom prst="rect">
            <a:avLst/>
          </a:prstGeom>
          <a:solidFill>
            <a:srgbClr val="BE7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1072" y="3611880"/>
            <a:ext cx="5230368" cy="310896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 algn="l"/>
            <a:r>
              <a:rPr sz="1400" b="1">
                <a:solidFill>
                  <a:srgbClr val="18304E"/>
                </a:solidFill>
                <a:latin typeface="Aptos"/>
              </a:rPr>
              <a:t>限制與驗收門檻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91072" y="3977639"/>
            <a:ext cx="5230368" cy="1508760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 algn="l"/>
            <a:r>
              <a:rPr sz="1100" b="0">
                <a:solidFill>
                  <a:srgbClr val="24303E"/>
                </a:solidFill>
                <a:latin typeface="Aptos"/>
              </a:rPr>
              <a:t>Golden query 尚缺正確 document/chunk/relevance 標註；完成 qrels 前只能驗收分數呈現、排序回退與流程追蹤。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" y="6565392"/>
            <a:ext cx="11384280" cy="164592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 algn="l"/>
            <a:r>
              <a:rPr sz="750" b="0">
                <a:solidFill>
                  <a:srgbClr val="5B6978"/>
                </a:solidFill>
                <a:latin typeface="Aptos"/>
              </a:rPr>
              <a:t>Evidence-based status；W36/W37歷史檔案保留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8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09728"/>
            <a:ext cx="8229600" cy="411480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KM Runtime｜Rerank、Lifecycle、Ingest Worker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58952"/>
            <a:ext cx="10698480" cy="228600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 algn="l"/>
            <a:r>
              <a:rPr sz="950" b="0">
                <a:solidFill>
                  <a:srgbClr val="5B6978"/>
                </a:solidFill>
                <a:latin typeface="Aptos"/>
              </a:rPr>
              <a:t>本週以實際 runtime 進行 bounded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164592"/>
            <a:ext cx="3429000" cy="228600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tos"/>
              </a:rPr>
              <a:t>AI KM Phase 1 | 2026-W38 | v2.6 |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3566160" cy="4526280"/>
          </a:xfrm>
          <a:prstGeom prst="roundRect">
            <a:avLst/>
          </a:prstGeom>
          <a:solidFill>
            <a:srgbClr val="F2F6F9"/>
          </a:solidFill>
          <a:ln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73152" cy="4526280"/>
          </a:xfrm>
          <a:prstGeom prst="rect">
            <a:avLst/>
          </a:prstGeom>
          <a:solidFill>
            <a:srgbClr val="27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325880"/>
            <a:ext cx="3310128" cy="310896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 algn="l"/>
            <a:r>
              <a:rPr sz="1400" b="1">
                <a:solidFill>
                  <a:srgbClr val="18304E"/>
                </a:solidFill>
                <a:latin typeface="Aptos"/>
              </a:rPr>
              <a:t>Rerank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1691640"/>
            <a:ext cx="3310128" cy="3977640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 algn="l"/>
            <a:r>
              <a:rPr sz="1100" b="0">
                <a:solidFill>
                  <a:srgbClr val="24303E"/>
                </a:solidFill>
                <a:latin typeface="Aptos"/>
              </a:rPr>
              <a:t>Image：km-v26-rerank:0d88baab
Mode：active
Model：Qwen3-Reranker-0.6B
Timeout：8 sec
Fallback：baseline
搜尋 task 回傳 active、score breakdown 與 model identity。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1234440"/>
            <a:ext cx="3566160" cy="4526280"/>
          </a:xfrm>
          <a:prstGeom prst="roundRect">
            <a:avLst/>
          </a:prstGeom>
          <a:solidFill>
            <a:srgbClr val="F2F6F9"/>
          </a:solidFill>
          <a:ln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15968" y="1234440"/>
            <a:ext cx="73152" cy="452628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62272" y="1325880"/>
            <a:ext cx="3310128" cy="310896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 algn="l"/>
            <a:r>
              <a:rPr sz="1400" b="1">
                <a:solidFill>
                  <a:srgbClr val="18304E"/>
                </a:solidFill>
                <a:latin typeface="Aptos"/>
              </a:rPr>
              <a:t>Lifecycle hard filter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62272" y="1691640"/>
            <a:ext cx="3310128" cy="3977640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 algn="l"/>
            <a:r>
              <a:rPr sz="1100" b="0">
                <a:solidFill>
                  <a:srgbClr val="24303E"/>
                </a:solidFill>
                <a:latin typeface="Aptos"/>
              </a:rPr>
              <a:t>Qdrant points：4,001
Published/current：3,583
Draft/non-current：418
Mismatch：0
Draft、非 current 不進 rerank；reindex snapshot 保留 rollback 證據。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9016" y="1234440"/>
            <a:ext cx="3502152" cy="4526280"/>
          </a:xfrm>
          <a:prstGeom prst="roundRect">
            <a:avLst/>
          </a:prstGeom>
          <a:solidFill>
            <a:srgbClr val="F2F6F9"/>
          </a:solidFill>
          <a:ln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29016" y="1234440"/>
            <a:ext cx="73152" cy="4526280"/>
          </a:xfrm>
          <a:prstGeom prst="rect">
            <a:avLst/>
          </a:prstGeom>
          <a:solidFill>
            <a:srgbClr val="276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325880"/>
            <a:ext cx="3246120" cy="310896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 algn="l"/>
            <a:r>
              <a:rPr sz="1400" b="1">
                <a:solidFill>
                  <a:srgbClr val="18304E"/>
                </a:solidFill>
                <a:latin typeface="Aptos"/>
              </a:rPr>
              <a:t>Ingest worker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1691640"/>
            <a:ext cx="3246120" cy="3977640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 algn="l"/>
            <a:r>
              <a:rPr sz="1100" b="0">
                <a:solidFill>
                  <a:srgbClr val="24303E"/>
                </a:solidFill>
                <a:latin typeface="Aptos"/>
              </a:rPr>
              <a:t>kb-celery-ingest 已更新同版 image。
Celery ready/ping pong；Embedding、Qdrant、Neo4j、Ollama 初始化成功。
6 筆舊 queued records 已清除；upload→ingest→search E2E 尚待新文件驗證。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6565392"/>
            <a:ext cx="11384280" cy="164592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 algn="l"/>
            <a:r>
              <a:rPr sz="750" b="0">
                <a:solidFill>
                  <a:srgbClr val="5B6978"/>
                </a:solidFill>
                <a:latin typeface="Aptos"/>
              </a:rPr>
              <a:t>Evidence-based status；W36/W37歷史檔案保留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8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09728"/>
            <a:ext cx="8229600" cy="411480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CSIT STAGE｜Read-only chain 實測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58952"/>
            <a:ext cx="10698480" cy="228600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 algn="l"/>
            <a:r>
              <a:rPr sz="950" b="0">
                <a:solidFill>
                  <a:srgbClr val="5B6978"/>
                </a:solidFill>
                <a:latin typeface="Aptos"/>
              </a:rPr>
              <a:t>不把 Patty 的規劃內容誤列為 KM 已完成 Production 功能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164592"/>
            <a:ext cx="3429000" cy="228600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tos"/>
              </a:rPr>
              <a:t>AI KM Phase 1 | 2026-W38 | v2.6 |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2743200" cy="4526280"/>
          </a:xfrm>
          <a:prstGeom prst="roundRect">
            <a:avLst/>
          </a:prstGeom>
          <a:solidFill>
            <a:srgbClr val="F2F6F9"/>
          </a:solidFill>
          <a:ln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73152" cy="4526280"/>
          </a:xfrm>
          <a:prstGeom prst="rect">
            <a:avLst/>
          </a:prstGeom>
          <a:solidFill>
            <a:srgbClr val="276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325880"/>
            <a:ext cx="2487168" cy="310896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 algn="l"/>
            <a:r>
              <a:rPr sz="1400" b="1">
                <a:solidFill>
                  <a:srgbClr val="18304E"/>
                </a:solidFill>
                <a:latin typeface="Aptos"/>
              </a:rPr>
              <a:t>連線與登入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1691640"/>
            <a:ext cx="2487168" cy="3977640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 algn="l"/>
            <a:r>
              <a:rPr sz="1100" b="0">
                <a:solidFill>
                  <a:srgbClr val="24303E"/>
                </a:solidFill>
                <a:latin typeface="Aptos"/>
              </a:rPr>
              <a:t>指定 IP/SNI 可連線
Swagger：HTTP 200
Cookie Login：成功
modules/enabled：HTTP 200
DNS/CA 尚未正式設定。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1234440"/>
            <a:ext cx="3657600" cy="4526280"/>
          </a:xfrm>
          <a:prstGeom prst="roundRect">
            <a:avLst/>
          </a:prstGeom>
          <a:solidFill>
            <a:srgbClr val="F2F6F9"/>
          </a:solidFill>
          <a:ln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56432" y="1234440"/>
            <a:ext cx="73152" cy="4526280"/>
          </a:xfrm>
          <a:prstGeom prst="rect">
            <a:avLst/>
          </a:prstGeom>
          <a:solidFill>
            <a:srgbClr val="27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02736" y="1325880"/>
            <a:ext cx="3401568" cy="310896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 algn="l"/>
            <a:r>
              <a:rPr sz="1400" b="1">
                <a:solidFill>
                  <a:srgbClr val="18304E"/>
                </a:solidFill>
                <a:latin typeface="Aptos"/>
              </a:rPr>
              <a:t>動態查詢鏈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2736" y="1691640"/>
            <a:ext cx="3401568" cy="3977640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 algn="l"/>
            <a:r>
              <a:rPr sz="1100" b="0">
                <a:solidFill>
                  <a:srgbClr val="24303E"/>
                </a:solidFill>
                <a:latin typeface="Aptos"/>
              </a:rPr>
              <a:t>verification module：7 records
record detail：HTTP 200
cases：1 case
case tasks：2 tasks
task files：2 files
所有 ID 由上一層回應取得。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06056" y="1234440"/>
            <a:ext cx="4325112" cy="4526280"/>
          </a:xfrm>
          <a:prstGeom prst="roundRect">
            <a:avLst/>
          </a:prstGeom>
          <a:solidFill>
            <a:srgbClr val="F2F6F9"/>
          </a:solidFill>
          <a:ln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06056" y="1234440"/>
            <a:ext cx="73152" cy="452628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52360" y="1325880"/>
            <a:ext cx="4069080" cy="310896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 algn="l"/>
            <a:r>
              <a:rPr sz="1400" b="1">
                <a:solidFill>
                  <a:srgbClr val="18304E"/>
                </a:solidFill>
                <a:latin typeface="Aptos"/>
              </a:rPr>
              <a:t>檔案與邊界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1691640"/>
            <a:ext cx="4069080" cy="3977640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 algn="l"/>
            <a:r>
              <a:rPr sz="1100" b="0">
                <a:solidFill>
                  <a:srgbClr val="24303E"/>
                </a:solidFill>
                <a:latin typeface="Aptos"/>
              </a:rPr>
              <a:t>file download：HTTP 200，約 1.3 MB Excel
只讀 GET；未連 CSIT PostgreSQL/NAS；未執行 POST/PUT/DELETE；未寫入 Qdrant/Neo4j。
KM proxy/RBAC 已 local 驗證，尚未 Production。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6565392"/>
            <a:ext cx="11384280" cy="164592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 algn="l"/>
            <a:r>
              <a:rPr sz="750" b="0">
                <a:solidFill>
                  <a:srgbClr val="5B6978"/>
                </a:solidFill>
                <a:latin typeface="Aptos"/>
              </a:rPr>
              <a:t>Evidence-based status；W36/W37歷史檔案保留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8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09728"/>
            <a:ext cx="8229600" cy="411480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W38 風險、待辦與驗收邊界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58952"/>
            <a:ext cx="10698480" cy="228600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 algn="l"/>
            <a:r>
              <a:rPr sz="950" b="0">
                <a:solidFill>
                  <a:srgbClr val="5B6978"/>
                </a:solidFill>
                <a:latin typeface="Aptos"/>
              </a:rPr>
              <a:t>分開 KM 搜尋主線與 CSIT 整合支線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164592"/>
            <a:ext cx="3429000" cy="228600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tos"/>
              </a:rPr>
              <a:t>AI KM Phase 1 | 2026-W38 | v2.6 |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3657600" cy="4526280"/>
          </a:xfrm>
          <a:prstGeom prst="roundRect">
            <a:avLst/>
          </a:prstGeom>
          <a:solidFill>
            <a:srgbClr val="F2F6F9"/>
          </a:solidFill>
          <a:ln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73152" cy="4526280"/>
          </a:xfrm>
          <a:prstGeom prst="rect">
            <a:avLst/>
          </a:prstGeom>
          <a:solidFill>
            <a:srgbClr val="BE7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325880"/>
            <a:ext cx="3401568" cy="310896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 algn="l"/>
            <a:r>
              <a:rPr sz="1400" b="1">
                <a:solidFill>
                  <a:srgbClr val="18304E"/>
                </a:solidFill>
                <a:latin typeface="Aptos"/>
              </a:rPr>
              <a:t>P1｜搜尋成效證據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1691640"/>
            <a:ext cx="3401568" cy="3977640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 algn="l"/>
            <a:r>
              <a:rPr sz="1100" b="0">
                <a:solidFill>
                  <a:srgbClr val="24303E"/>
                </a:solidFill>
                <a:latin typeface="Aptos"/>
              </a:rPr>
              <a:t>Golden qrels 尚未完整標註。
可宣稱：評分呈現、Rerank 運行、fallback、lifecycle/ACL 不回歸。
不可宣稱：命中率或精準度已提升固定百分比。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234440"/>
            <a:ext cx="3657600" cy="4526280"/>
          </a:xfrm>
          <a:prstGeom prst="roundRect">
            <a:avLst/>
          </a:prstGeom>
          <a:solidFill>
            <a:srgbClr val="F2F6F9"/>
          </a:solidFill>
          <a:ln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234440"/>
            <a:ext cx="73152" cy="4526280"/>
          </a:xfrm>
          <a:prstGeom prst="rect">
            <a:avLst/>
          </a:prstGeom>
          <a:solidFill>
            <a:srgbClr val="B1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7136" y="1325880"/>
            <a:ext cx="3401568" cy="310896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 algn="l"/>
            <a:r>
              <a:rPr sz="1400" b="1">
                <a:solidFill>
                  <a:srgbClr val="18304E"/>
                </a:solidFill>
                <a:latin typeface="Aptos"/>
              </a:rPr>
              <a:t>P1｜CSIT activation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7136" y="1691640"/>
            <a:ext cx="3401568" cy="3977640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 algn="l"/>
            <a:r>
              <a:rPr sz="1100" b="0">
                <a:solidFill>
                  <a:srgbClr val="24303E"/>
                </a:solidFill>
                <a:latin typeface="Aptos"/>
              </a:rPr>
              <a:t>API 已實測可用，但 KM proxy 尚未 Production activation。
先完成 CA/DNS/KM reader credential/RBAC，再做前端瀏覽頁與 read-only acceptance。
CSIT write、NAS、DB 直連維持禁止。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8744" y="1234440"/>
            <a:ext cx="3392424" cy="4526280"/>
          </a:xfrm>
          <a:prstGeom prst="roundRect">
            <a:avLst/>
          </a:prstGeom>
          <a:solidFill>
            <a:srgbClr val="F2F6F9"/>
          </a:solidFill>
          <a:ln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38744" y="1234440"/>
            <a:ext cx="73152" cy="452628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5048" y="1325880"/>
            <a:ext cx="3136391" cy="310896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 algn="l"/>
            <a:r>
              <a:rPr sz="1400" b="1">
                <a:solidFill>
                  <a:srgbClr val="18304E"/>
                </a:solidFill>
                <a:latin typeface="Aptos"/>
              </a:rPr>
              <a:t>下一個最小步驟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8" y="1691640"/>
            <a:ext cx="3136391" cy="3977640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 algn="l"/>
            <a:r>
              <a:rPr sz="1100" b="0">
                <a:solidFill>
                  <a:srgbClr val="24303E"/>
                </a:solidFill>
                <a:latin typeface="Aptos"/>
              </a:rPr>
              <a:t>1. qrels/evaluator artifact
2. upload→ingest→search E2E
3. CSIT deployment preflight
4. 前端只讀瀏覽頁
5. read-only acceptance
6. 再評估 report→KM ingest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6565392"/>
            <a:ext cx="11384280" cy="164592"/>
          </a:xfrm>
          <a:prstGeom prst="rect">
            <a:avLst/>
          </a:prstGeom>
          <a:noFill/>
        </p:spPr>
        <p:txBody>
          <a:bodyPr wrap="square" lIns="50800" rIns="50800" tIns="38100" bIns="38100" anchor="t">
            <a:spAutoFit/>
          </a:bodyPr>
          <a:lstStyle/>
          <a:p>
            <a:pPr algn="l"/>
            <a:r>
              <a:rPr sz="750" b="0">
                <a:solidFill>
                  <a:srgbClr val="5B6978"/>
                </a:solidFill>
                <a:latin typeface="Aptos"/>
              </a:rPr>
              <a:t>Evidence-based status；W36/W37歷史檔案保留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