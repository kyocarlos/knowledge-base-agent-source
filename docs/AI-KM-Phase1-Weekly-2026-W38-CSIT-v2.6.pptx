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W38 separate weekly package  | 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W38 KM 與 CSIT Read-only 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438912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4AAAFF"/>
                </a:solidFill>
                <a:latin typeface="Aptos"/>
              </a:defRPr>
            </a:pPr>
            <a:r>
              <a:t>CSIT Stage 動態查詢鏈與檔案下載驗證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011680"/>
            <a:ext cx="1097280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2026-W38｜KM + CSIT read-only｜Anderson｜獨立版本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3520440" cy="224028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907792"/>
            <a:ext cx="3154680" cy="31089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1">
                <a:solidFill>
                  <a:srgbClr val="EBF2FA"/>
                </a:solidFill>
                <a:latin typeface="Aptos"/>
              </a:defRPr>
            </a:pPr>
            <a:r>
              <a:t>Ingest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37560"/>
            <a:ext cx="3154680" cy="10972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kb-celery-ingest 同版 image、Celery ready/ping、舊 queued records 清理；新文件 E2E 仍待驗證。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590288"/>
            <a:ext cx="31089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部分完成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743200"/>
            <a:ext cx="3520440" cy="224028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07792"/>
            <a:ext cx="3154680" cy="31089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1">
                <a:solidFill>
                  <a:srgbClr val="EBF2FA"/>
                </a:solidFill>
                <a:latin typeface="Aptos"/>
              </a:defRPr>
            </a:pPr>
            <a:r>
              <a:t>CSIT 登入與查詢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3154680" cy="10972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Cookie login reuse；modules → records → cases → tasks → files，GUID 由回應動態取得。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590288"/>
            <a:ext cx="31089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read-only 已驗證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2743200"/>
            <a:ext cx="3520440" cy="224028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907792"/>
            <a:ext cx="3154680" cy="31089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1">
                <a:solidFill>
                  <a:srgbClr val="EBF2FA"/>
                </a:solidFill>
                <a:latin typeface="Aptos"/>
              </a:defRPr>
            </a:pPr>
            <a:r>
              <a:t>檔案下載與邊界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337560"/>
            <a:ext cx="3154680" cy="10972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300" b="0">
                <a:solidFill>
                  <a:srgbClr val="A8B9CC"/>
                </a:solidFill>
                <a:latin typeface="Aptos"/>
              </a:defRPr>
            </a:pPr>
            <a:r>
              <a:t>File download 成功；不直連 PostgreSQL/NAS、不執行 POST/PUT/DELETE。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590288"/>
            <a:ext cx="31089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Stage 驗證完成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W38 separate weekly package  |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主管摘要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800" b="1">
                <a:solidFill>
                  <a:srgbClr val="4AAAFF"/>
                </a:solidFill>
                <a:latin typeface="Aptos"/>
              </a:defRPr>
            </a:pPr>
            <a:r>
              <a:t>本週範圍與可宣稱結果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Ingest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57400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kb-celery-ingest 同版 image、Celery ready/ping、舊 queued records 清理；新文件 E2E 仍待驗證。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176272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部分完成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98648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08376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CSIT 登入與查詢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90088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Cookie login reuse；modules → records → cases → tasks → files，GUID 由回應動態取得。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3108960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read-only 已驗證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31335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41063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檔案下載與邊界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22775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File download 成功；不直連 PostgreSQL/NAS、不執行 POST/PUT/DELETE。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4041648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4DCD91"/>
                </a:solidFill>
                <a:latin typeface="Aptos"/>
              </a:defRPr>
            </a:pPr>
            <a:r>
              <a:t>Stage 驗證完成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64023"/>
            <a:ext cx="10744200" cy="749808"/>
          </a:xfrm>
          <a:prstGeom prst="roundRect">
            <a:avLst/>
          </a:prstGeom>
          <a:solidFill>
            <a:srgbClr val="162237"/>
          </a:solidFill>
          <a:ln>
            <a:solidFill>
              <a:srgbClr val="2D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73751"/>
            <a:ext cx="2194560" cy="22860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1">
                <a:solidFill>
                  <a:srgbClr val="EBF2FA"/>
                </a:solidFill>
                <a:latin typeface="Aptos"/>
              </a:defRPr>
            </a:pPr>
            <a:r>
              <a:t>受控部署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855463"/>
            <a:ext cx="6903720" cy="475488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CA/DNS、KM reader secret、RBAC 與前端瀏覽頁為下一階段；不自動 Production deploy。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4974336"/>
            <a:ext cx="1234440" cy="219456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100" b="1">
                <a:solidFill>
                  <a:srgbClr val="F7B84A"/>
                </a:solidFill>
                <a:latin typeface="Aptos"/>
              </a:defRPr>
            </a:pPr>
            <a:r>
              <a:t>尚未部署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W38 separate weekly package  |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驗證證據與邊界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21208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4DCD91"/>
                </a:solidFill>
                <a:latin typeface="Aptos"/>
              </a:defRPr>
            </a:pPr>
            <a:r>
              <a:t>已完成／可宣稱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21208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F7B84A"/>
                </a:solidFill>
                <a:latin typeface="Aptos"/>
              </a:defRPr>
            </a:pPr>
            <a:r>
              <a:t>未完成／不可宣稱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3566160"/>
          </a:xfrm>
          <a:prstGeom prst="roundRect">
            <a:avLst/>
          </a:prstGeom>
          <a:solidFill>
            <a:srgbClr val="162237"/>
          </a:solidFill>
          <a:ln>
            <a:solidFill>
              <a:srgbClr val="4DC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09160" cy="30632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0">
                <a:solidFill>
                  <a:srgbClr val="EBF2FA"/>
                </a:solidFill>
                <a:latin typeface="Aptos"/>
              </a:defRPr>
            </a:pPr>
            <a:r>
              <a:t>• CSIT Stage Cookie login 成功</a:t>
            </a:r>
            <a:br/>
            <a:r>
              <a:t>• Project/Record → Case → Task → File chain 可動態走完</a:t>
            </a:r>
            <a:br/>
            <a:r>
              <a:t>• 檔案下載成功且維持 GET-only 邊界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12080" cy="3566160"/>
          </a:xfrm>
          <a:prstGeom prst="roundRect">
            <a:avLst/>
          </a:prstGeom>
          <a:solidFill>
            <a:srgbClr val="162237"/>
          </a:solidFill>
          <a:ln>
            <a:solidFill>
              <a:srgbClr val="F7B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709160" cy="30632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400" b="0">
                <a:solidFill>
                  <a:srgbClr val="EBF2FA"/>
                </a:solidFill>
                <a:latin typeface="Aptos"/>
              </a:defRPr>
            </a:pPr>
            <a:r>
              <a:t>• KM proxy/RBAC 尚未 Production activation</a:t>
            </a:r>
            <a:br/>
            <a:r>
              <a:t>• CA/DNS/reader credential/前端頁面仍待受控部署</a:t>
            </a:r>
            <a:br/>
            <a:r>
              <a:t>• CSIT write、NAS、DB 直連不在本週範圍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200" b="0">
                <a:solidFill>
                  <a:srgbClr val="A8B9CC"/>
                </a:solidFill>
                <a:latin typeface="Aptos"/>
              </a:defRPr>
            </a:pPr>
            <a:r>
              <a:t>AI KM Phase 1  |  v2.6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900" b="0">
                <a:solidFill>
                  <a:srgbClr val="A8B9CC"/>
                </a:solidFill>
                <a:latin typeface="Aptos"/>
              </a:defRPr>
            </a:pPr>
            <a:r>
              <a:t>W38 separate weekly package  |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59436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2700" b="1">
                <a:solidFill>
                  <a:srgbClr val="EBF2FA"/>
                </a:solidFill>
                <a:latin typeface="Aptos"/>
              </a:defRPr>
            </a:pPr>
            <a:r>
              <a:t>下一步工作安排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27432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700" b="1">
                <a:solidFill>
                  <a:srgbClr val="4AAAFF"/>
                </a:solidFill>
                <a:latin typeface="Aptos"/>
              </a:defRPr>
            </a:pPr>
            <a:r>
              <a:t>依序完成，通過驗收後再擴大範圍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0744200" cy="3474720"/>
          </a:xfrm>
          <a:prstGeom prst="roundRect">
            <a:avLst/>
          </a:prstGeom>
          <a:solidFill>
            <a:srgbClr val="162237"/>
          </a:solidFill>
          <a:ln>
            <a:solidFill>
              <a:srgbClr val="4A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0149840" cy="2834640"/>
          </a:xfrm>
          <a:prstGeom prst="rect">
            <a:avLst/>
          </a:prstGeom>
          <a:noFill/>
        </p:spPr>
        <p:txBody>
          <a:bodyPr wrap="square" lIns="109728" rIns="109728" tIns="54864">
            <a:spAutoFit/>
          </a:bodyPr>
          <a:lstStyle/>
          <a:p>
            <a:pPr>
              <a:defRPr sz="1600" b="0">
                <a:solidFill>
                  <a:srgbClr val="EBF2FA"/>
                </a:solidFill>
                <a:latin typeface="Aptos"/>
              </a:defRPr>
            </a:pPr>
            <a:r>
              <a:t>1. 完成 CSIT deployment preflight 與憑證信任設定</a:t>
            </a:r>
            <a:br/>
            <a:r>
              <a:t>2. 以受控 secret mount 啟動 KM proxy，驗證 RBAC</a:t>
            </a:r>
            <a:br/>
            <a:r>
              <a:t>3. 完成前端只讀瀏覽頁與 acceptance evidence</a:t>
            </a:r>
            <a:br/>
            <a:r>
              <a:t>4. 再評估 report/file → KM ingest，不擴大到 write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