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EEK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02920" y="6473952"/>
            <a:ext cx="4114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KM｜2026-W34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732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40080" y="914400"/>
            <a:ext cx="100584" cy="4297680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60120" y="1005840"/>
            <a:ext cx="9966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AI KM 改善進度週報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987552" y="1828800"/>
            <a:ext cx="9692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BFE7E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2026-W34｜PR #5／#7 合併後驗收更新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87552" y="2743200"/>
            <a:ext cx="8138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 AI KM MVP（Production Ready）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報告日期：2026-08-20</a:t>
            </a: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統計期間：2026-08-17～2026-08-19 17:00（Asia/Taipei）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961120" y="429768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2400" b="1" dirty="0">
                <a:solidFill>
                  <a:srgbClr val="78D6DA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全計畫 12.3%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10789920" y="635508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FC1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 / 7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主管摘要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本週結論：Phase 1 已有前置實作成果，但 Gate 尚未正式關閉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594360" y="1417320"/>
            <a:ext cx="3474720" cy="1828800"/>
          </a:xfrm>
          <a:prstGeom prst="roundRect">
            <a:avLst>
              <a:gd name="adj" fmla="val 2000"/>
            </a:avLst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417320"/>
            <a:ext cx="73152" cy="1828800"/>
          </a:xfrm>
          <a:prstGeom prst="rect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7276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全計畫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777240" y="1984248"/>
            <a:ext cx="3154680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12.3%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01_AI_KM_Phase規劃_v2.6.xlsx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343400" y="1417320"/>
            <a:ext cx="3474720" cy="1828800"/>
          </a:xfrm>
          <a:prstGeom prst="roundRect">
            <a:avLst>
              <a:gd name="adj" fmla="val 2000"/>
            </a:avLst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43400" y="1417320"/>
            <a:ext cx="73152" cy="1828800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26280" y="157276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87F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26280" y="1984248"/>
            <a:ext cx="3154680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20.6%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WP0 94%｜WP1 91%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8092440" y="1417320"/>
            <a:ext cx="3474720" cy="1828800"/>
          </a:xfrm>
          <a:prstGeom prst="roundRect">
            <a:avLst>
              <a:gd name="adj" fmla="val 2000"/>
            </a:avLst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092440" y="1417320"/>
            <a:ext cx="73152" cy="1828800"/>
          </a:xfrm>
          <a:prstGeom prst="rect">
            <a:avLst/>
          </a:prstGeom>
          <a:solidFill>
            <a:srgbClr val="B16D00"/>
          </a:solidFill>
          <a:ln w="12700">
            <a:solidFill>
              <a:srgbClr val="B16D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75320" y="157276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16D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主管關注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75320" y="1984248"/>
            <a:ext cx="3154680" cy="11155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WP0 正式入口長期 artifact 與獨立 Reviewer 仍有限制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WP1 獨立交付 PR、長時間故障注入與 backup/restore 尚待補強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" y="3794760"/>
            <a:ext cx="10607040" cy="1783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W33 歷史基準保留 WP0 85%／WP1 87%／Phase 1 19.1%／全計畫 11.5%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W34／2026-08-20 驗收更新為 WP0 94%／WP1 91%／Phase 1 20.6%／全計畫 12.3%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v2.6 Excel 已納入 Git 並完成 SHA-256 核對；PR #3 收斂為歷史規劃 Draft，不與交付驗收混用</a:t>
            </a:r>
            <a:endParaRPr lang="en-US" sz="1600" dirty="0"/>
          </a:p>
          <a:p>
            <a:pPr marL="177800" indent="-177800">
              <a:buSzPct val="100000"/>
              <a:buChar char="•"/>
            </a:pPr>
            <a:r>
              <a:rPr lang="en-US" sz="16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WP2 維持未開始，等待 Patty Contract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1～5 總進度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規劃完成不等於實作完成；Phase 分數由所屬 WP 平均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822960" y="1417320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1 AI KM MVP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697480" y="1444752"/>
            <a:ext cx="8001000" cy="164592"/>
          </a:xfrm>
          <a:prstGeom prst="rect">
            <a:avLst/>
          </a:prstGeom>
          <a:solidFill>
            <a:srgbClr val="E4EAED"/>
          </a:solidFill>
          <a:ln w="12700">
            <a:solidFill>
              <a:srgbClr val="E4EAE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697480" y="1444752"/>
            <a:ext cx="1648206" cy="164592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771632" y="1389888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87F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20.6%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167128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2 Compile-Time RAG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697480" y="2194560"/>
            <a:ext cx="8001000" cy="164592"/>
          </a:xfrm>
          <a:prstGeom prst="rect">
            <a:avLst/>
          </a:prstGeom>
          <a:solidFill>
            <a:srgbClr val="E4EAED"/>
          </a:solidFill>
          <a:ln w="12700">
            <a:solidFill>
              <a:srgbClr val="E4EAE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771632" y="2139696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6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822960" y="2916936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3 Agentic RAG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697480" y="2944368"/>
            <a:ext cx="8001000" cy="164592"/>
          </a:xfrm>
          <a:prstGeom prst="rect">
            <a:avLst/>
          </a:prstGeom>
          <a:solidFill>
            <a:srgbClr val="E4EAED"/>
          </a:solidFill>
          <a:ln w="12700">
            <a:solidFill>
              <a:srgbClr val="E4EA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771632" y="2889504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6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822960" y="3666744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4 AI Analysis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697480" y="3694176"/>
            <a:ext cx="8001000" cy="164592"/>
          </a:xfrm>
          <a:prstGeom prst="rect">
            <a:avLst/>
          </a:prstGeom>
          <a:solidFill>
            <a:srgbClr val="E4EAED"/>
          </a:solidFill>
          <a:ln w="12700">
            <a:solidFill>
              <a:srgbClr val="E4E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771632" y="3639312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6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822960" y="441655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Phase 5 Enterprise Evolution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697480" y="4443984"/>
            <a:ext cx="8001000" cy="164592"/>
          </a:xfrm>
          <a:prstGeom prst="rect">
            <a:avLst/>
          </a:prstGeom>
          <a:solidFill>
            <a:srgbClr val="E4EAED"/>
          </a:solidFill>
          <a:ln w="12700">
            <a:solidFill>
              <a:srgbClr val="E4EAE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71632" y="4389120"/>
            <a:ext cx="548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66778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0%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22960" y="5623560"/>
            <a:ext cx="10515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全計畫進度 12.3%（15 個 WP 等權平均）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 WP 成果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只呈現有 commit、PR、CI 或驗收證據的工作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371600"/>
            <a:ext cx="5303520" cy="3246120"/>
          </a:xfrm>
          <a:prstGeom prst="roundRect">
            <a:avLst>
              <a:gd name="adj" fmla="val 1127"/>
            </a:avLst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71600"/>
            <a:ext cx="73152" cy="3246120"/>
          </a:xfrm>
          <a:prstGeom prst="rect">
            <a:avLst/>
          </a:prstGeom>
          <a:solidFill>
            <a:srgbClr val="B16D00"/>
          </a:solidFill>
          <a:ln w="12700">
            <a:solidFill>
              <a:srgbClr val="B16D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52704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16D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WP0｜94%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938528"/>
            <a:ext cx="4983480" cy="2532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FastAPI／REST API 與測試基線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head 2b60cfb1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PR #5 Owner Acceptance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exact-head CI 全部成功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merge eb1eb925；production synthetic E2E／rollback evidence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45352" y="1371600"/>
            <a:ext cx="5303520" cy="3246120"/>
          </a:xfrm>
          <a:prstGeom prst="roundRect">
            <a:avLst>
              <a:gd name="adj" fmla="val 1127"/>
            </a:avLst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45352" y="1371600"/>
            <a:ext cx="73152" cy="3246120"/>
          </a:xfrm>
          <a:prstGeom prst="rect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8232" y="1527048"/>
            <a:ext cx="4983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87F8C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WP1｜91%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28232" y="1938528"/>
            <a:ext cx="4983480" cy="25328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Docker／Redis／Celery／環境正式化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head 2b60cfb1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PR #5／#7 已合併至 v2.6 base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CI、production synthetic E2E與rollback有證據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• WP1 獨立交付、長時間故障與backup/restore仍待補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914400" y="5074920"/>
            <a:ext cx="103327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WP2～WP13：0%｜依 v2.6 新 WP 對應，無實作證據</a:t>
            </a:r>
            <a:endParaRPr lang="en-US" sz="1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Gate 與品質狀態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Gate 未通過，不以程式存在或單一測試成功替代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85800" y="1371600"/>
            <a:ext cx="10789920" cy="1078992"/>
          </a:xfrm>
          <a:prstGeom prst="roundRect">
            <a:avLst>
              <a:gd name="adj" fmla="val 3390"/>
            </a:avLst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371600"/>
            <a:ext cx="73152" cy="1078992"/>
          </a:xfrm>
          <a:prstGeom prst="rect">
            <a:avLst/>
          </a:prstGeom>
          <a:solidFill>
            <a:srgbClr val="B16D00"/>
          </a:solidFill>
          <a:ln w="12700">
            <a:solidFill>
              <a:srgbClr val="B16D0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68680" y="1527048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16D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G0 API baseline｜條件通過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938528"/>
            <a:ext cx="104698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驗收分支 CI green；缺 PR review/merge 與正式入口 E2E artifact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85800" y="2788920"/>
            <a:ext cx="10789920" cy="1078992"/>
          </a:xfrm>
          <a:prstGeom prst="roundRect">
            <a:avLst>
              <a:gd name="adj" fmla="val 3390"/>
            </a:avLst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2788920"/>
            <a:ext cx="73152" cy="1078992"/>
          </a:xfrm>
          <a:prstGeom prst="rect">
            <a:avLst/>
          </a:prstGeom>
          <a:solidFill>
            <a:srgbClr val="B16D00"/>
          </a:solidFill>
          <a:ln w="12700">
            <a:solidFill>
              <a:srgbClr val="B16D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944368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16D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G1 Job reliability｜條件通過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355848"/>
            <a:ext cx="104698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CI green 與隔離 runtime 證據；缺 PR/merge、正式環境故障演練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85800" y="4206240"/>
            <a:ext cx="10789920" cy="1078992"/>
          </a:xfrm>
          <a:prstGeom prst="roundRect">
            <a:avLst>
              <a:gd name="adj" fmla="val 3390"/>
            </a:avLst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4206240"/>
            <a:ext cx="73152" cy="1078992"/>
          </a:xfrm>
          <a:prstGeom prst="rect">
            <a:avLst/>
          </a:prstGeom>
          <a:solidFill>
            <a:srgbClr val="667783"/>
          </a:solidFill>
          <a:ln w="12700">
            <a:solidFill>
              <a:srgbClr val="66778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4361688"/>
            <a:ext cx="10469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G2～G8｜未開始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4773168"/>
            <a:ext cx="1046988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WP2～WP13 無實作證據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風險與待主管決策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本週需要明確 owner 與 Gate 判定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5349240" cy="4343400"/>
          </a:xfrm>
          <a:prstGeom prst="roundRect">
            <a:avLst>
              <a:gd name="adj" fmla="val 842"/>
            </a:avLst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325880"/>
            <a:ext cx="73152" cy="4343400"/>
          </a:xfrm>
          <a:prstGeom prst="rect">
            <a:avLst/>
          </a:prstGeom>
          <a:solidFill>
            <a:srgbClr val="A83B3B"/>
          </a:solidFill>
          <a:ln w="12700">
            <a:solidFill>
              <a:srgbClr val="A83B3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4813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A83B3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主要風險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1892808"/>
            <a:ext cx="5029200" cy="3630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WP0 正式入口長期 artifact 與獨立 Reviewer 仍有限制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WP1 獨立交付 PR、長時間故障注入與 backup/restore 尚待補強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PR #3 為歷史規劃 Draft，需避免與交付 PR 混淆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WP2 依賴 Patty 提供 CSIT API、Booking、Validation Request Contract；Anderson 不得猜測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217920" y="1325880"/>
            <a:ext cx="5349240" cy="4343400"/>
          </a:xfrm>
          <a:prstGeom prst="roundRect">
            <a:avLst>
              <a:gd name="adj" fmla="val 842"/>
            </a:avLst>
          </a:prstGeom>
          <a:solidFill>
            <a:srgbClr val="F4F7F8"/>
          </a:solidFill>
          <a:ln w="12700">
            <a:solidFill>
              <a:srgbClr val="CDD9D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17920" y="1325880"/>
            <a:ext cx="73152" cy="4343400"/>
          </a:xfrm>
          <a:prstGeom prst="rect">
            <a:avLst/>
          </a:prstGeom>
          <a:solidFill>
            <a:srgbClr val="B16D00"/>
          </a:solidFill>
          <a:ln w="12700">
            <a:solidFill>
              <a:srgbClr val="B16D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0" y="1481328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B16D00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待主管決策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00800" y="1892808"/>
            <a:ext cx="5029200" cy="3630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W33 與 W34 分離保存，不覆蓋歷史基準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PR #3 收斂為規劃交接紀錄，不承擔 WP0／WP1 交付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WP1 先補專屬可靠性驗收，再評估進度提升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4. 由 Patty 提供 WP2 的 CSIT API／Booking／Validation Request Contract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10642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17324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下週承諾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566928" y="932688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承諾以可驗證輸出與 Gate 為單位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822960" y="1325880"/>
            <a:ext cx="502920" cy="502920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3898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554480" y="1307592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補齊 WP0 正式入口長期 artifact 與 review policy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822960" y="2468880"/>
            <a:ext cx="502920" cy="502920"/>
          </a:xfrm>
          <a:prstGeom prst="ellipse">
            <a:avLst/>
          </a:prstGeom>
          <a:solidFill>
            <a:srgbClr val="087F8C"/>
          </a:solidFill>
          <a:ln w="12700">
            <a:solidFill>
              <a:srgbClr val="087F8C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25328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554480" y="2450592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補強 WP1 專屬長時間故障注入、backup/restore 與交付追溯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822960" y="3611880"/>
            <a:ext cx="502920" cy="502920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2960" y="36758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554480" y="3593592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完成 Patty Contract 審查前不開始 WP2 正式實作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822960" y="4754880"/>
            <a:ext cx="502920" cy="502920"/>
          </a:xfrm>
          <a:prstGeom prst="ellipse">
            <a:avLst/>
          </a:prstGeom>
          <a:solidFill>
            <a:srgbClr val="17324D"/>
          </a:solidFill>
          <a:ln w="12700">
            <a:solidFill>
              <a:srgbClr val="17324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818888"/>
            <a:ext cx="502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554480" y="4736592"/>
            <a:ext cx="9692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26333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建立下一週 JSON、Evidence、Markdown 與 PPTX 並保留歷史版本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868680" y="5806440"/>
            <a:ext cx="10515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6778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下週完成定義：有 commit、測試、Evidence、PR/Gate 狀態，且 W34 JSON／Markdown／PPTX 數字一致。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55680" y="6419088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67783"/>
                </a:solidFill>
                <a:latin typeface="Aptos"/>
                <a:ea typeface="Aptos"/>
                <a:cs typeface="Aptos"/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Jheng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Jheng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Askey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AI-KM-Weekly-2026-W34</dc:title>
  <dc:subject>AI KM 2026-W34 weekly report</dc:subject>
  <dc:creator>AI KM Weekly Reporting</dc:creator>
  <cp:lastModifiedBy>AI KM Weekly Reporting</cp:lastModifiedBy>
  <cp:revision>1</cp:revision>
  <dcterms:created xsi:type="dcterms:W3CDTF">2026-08-20T06:11:44Z</dcterms:created>
  <dcterms:modified xsi:type="dcterms:W3CDTF">2026-08-20T06:11:44Z</dcterms:modified>
</cp:coreProperties>
</file>