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7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143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Knowledge Base Modernization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402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DCF0F2"/>
                </a:solidFill>
                <a:latin typeface="Aptos"/>
              </a:defRPr>
            </a:pPr>
            <a:r>
              <a:t>WP0–WP13 implementation roadmap</a:t>
            </a:r>
          </a:p>
          <a:p>
            <a:pPr>
              <a:spcAft>
                <a:spcPts val="500"/>
              </a:spcAft>
              <a:defRPr sz="2200" b="0">
                <a:solidFill>
                  <a:srgbClr val="DCF0F2"/>
                </a:solidFill>
                <a:latin typeface="Aptos"/>
              </a:defRPr>
            </a:pPr>
            <a:r>
              <a:t>WP0/WP1 current delivery status and execution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978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D2DCE6"/>
                </a:solidFill>
                <a:latin typeface="Aptos"/>
              </a:defRPr>
            </a:pPr>
            <a:r>
              <a:t>2026-08-10  |  branch: agent/wp1-job-config-reliability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7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375C"/>
                </a:solidFill>
                <a:latin typeface="Aptos"/>
              </a:defRPr>
            </a:pPr>
            <a:r>
              <a:t>簡報目的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515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F6973"/>
                </a:solidFill>
                <a:latin typeface="Aptos"/>
              </a:defRPr>
            </a:pPr>
            <a:r>
              <a:t>先建立可靠底座，再逐步導入正式資料契約、治理與 Agentic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本簡報不是一次性重構清單，而是依 Gate 分階段交付。</a:t>
            </a:r>
          </a:p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每個 WP 獨立分支／PR；前一個 Gate 未通過，不修改下一階段 production path。</a:t>
            </a:r>
          </a:p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既有 Portal、chat、search、report upload/review、ingest 與 A2A dry-run 保持相容。</a:t>
            </a:r>
          </a:p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任何未驗證的外部依賴，必須標示為 blocker，不以 HTTP 200 或 UI demo 取代驗收。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7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375C"/>
                </a:solidFill>
                <a:latin typeface="Aptos"/>
              </a:defRPr>
            </a:pPr>
            <a:r>
              <a:t>目標架構與資料流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011680"/>
            <a:ext cx="2057400" cy="1508760"/>
          </a:xfrm>
          <a:prstGeom prst="roundRect">
            <a:avLst/>
          </a:prstGeom>
          <a:solidFill>
            <a:srgbClr val="EDF4F7"/>
          </a:solidFill>
          <a:ln>
            <a:solidFill>
              <a:srgbClr val="14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214884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4375C"/>
                </a:solidFill>
                <a:latin typeface="Aptos"/>
              </a:defRPr>
            </a:pPr>
            <a:r>
              <a:t>Portal / OpenClaw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2578608"/>
            <a:ext cx="1737360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32A32"/>
                </a:solidFill>
                <a:latin typeface="Aptos"/>
              </a:defRPr>
            </a:pPr>
            <a:r>
              <a:t>使用者查詢、報告審核、受控工具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87168" y="2514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00787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0632" y="2011680"/>
            <a:ext cx="2057400" cy="1508760"/>
          </a:xfrm>
          <a:prstGeom prst="roundRect">
            <a:avLst/>
          </a:prstGeom>
          <a:solidFill>
            <a:srgbClr val="EDF4F7"/>
          </a:solidFill>
          <a:ln>
            <a:solidFill>
              <a:srgbClr val="00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35224" y="214884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00787D"/>
                </a:solidFill>
                <a:latin typeface="Aptos"/>
              </a:defRPr>
            </a:pPr>
            <a:r>
              <a:t>AI KM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5224" y="2578608"/>
            <a:ext cx="1737360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32A32"/>
                </a:solidFill>
                <a:latin typeface="Aptos"/>
              </a:defRPr>
            </a:pPr>
            <a:r>
              <a:t>FastAPI contract、Auth、Audit、Job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514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00787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9784" y="2011680"/>
            <a:ext cx="2057400" cy="1508760"/>
          </a:xfrm>
          <a:prstGeom prst="roundRect">
            <a:avLst/>
          </a:prstGeom>
          <a:solidFill>
            <a:srgbClr val="EDF4F7"/>
          </a:solidFill>
          <a:ln>
            <a:solidFill>
              <a:srgbClr val="14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94376" y="214884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4375C"/>
                </a:solidFill>
                <a:latin typeface="Aptos"/>
              </a:defRPr>
            </a:pPr>
            <a:r>
              <a:t>Job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94376" y="2578608"/>
            <a:ext cx="1737360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32A32"/>
                </a:solidFill>
                <a:latin typeface="Aptos"/>
              </a:defRPr>
            </a:pPr>
            <a:r>
              <a:t>Redis + Celery</a:t>
            </a:r>
          </a:p>
          <a:p>
            <a:pPr>
              <a:spcAft>
                <a:spcPts val="500"/>
              </a:spcAft>
              <a:defRPr sz="1200" b="0">
                <a:solidFill>
                  <a:srgbClr val="232A32"/>
                </a:solidFill>
                <a:latin typeface="Aptos"/>
              </a:defRPr>
            </a:pPr>
            <a:r>
              <a:t>queue / retry /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5472" y="2514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00787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88936" y="2011680"/>
            <a:ext cx="2057400" cy="1508760"/>
          </a:xfrm>
          <a:prstGeom prst="roundRect">
            <a:avLst/>
          </a:prstGeom>
          <a:solidFill>
            <a:srgbClr val="EDF4F7"/>
          </a:solidFill>
          <a:ln>
            <a:solidFill>
              <a:srgbClr val="00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53527" y="214884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00787D"/>
                </a:solidFill>
                <a:latin typeface="Aptos"/>
              </a:defRPr>
            </a:pPr>
            <a:r>
              <a:t>Knowledge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3527" y="2578608"/>
            <a:ext cx="1737360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32A32"/>
                </a:solidFill>
                <a:latin typeface="Aptos"/>
              </a:defRPr>
            </a:pPr>
            <a:r>
              <a:t>Package validation</a:t>
            </a:r>
          </a:p>
          <a:p>
            <a:pPr>
              <a:spcAft>
                <a:spcPts val="500"/>
              </a:spcAft>
              <a:defRPr sz="1200" b="0">
                <a:solidFill>
                  <a:srgbClr val="232A32"/>
                </a:solidFill>
                <a:latin typeface="Aptos"/>
              </a:defRPr>
            </a:pPr>
            <a:r>
              <a:t>Vector / Graph / Time-series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64624" y="2514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00787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48088" y="2011680"/>
            <a:ext cx="2057400" cy="1508760"/>
          </a:xfrm>
          <a:prstGeom prst="roundRect">
            <a:avLst/>
          </a:prstGeom>
          <a:solidFill>
            <a:srgbClr val="EDF4F7"/>
          </a:solidFill>
          <a:ln>
            <a:solidFill>
              <a:srgbClr val="14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12680" y="214884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4375C"/>
                </a:solidFill>
                <a:latin typeface="Aptos"/>
              </a:defRPr>
            </a:pPr>
            <a:r>
              <a:t>External Systems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12680" y="2578608"/>
            <a:ext cx="1737360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32A32"/>
                </a:solidFill>
                <a:latin typeface="Aptos"/>
              </a:defRPr>
            </a:pPr>
            <a:r>
              <a:t>CSIT、Anritsu、Amarisoft</a:t>
            </a:r>
          </a:p>
          <a:p>
            <a:pPr>
              <a:spcAft>
                <a:spcPts val="500"/>
              </a:spcAft>
              <a:defRPr sz="1200" b="0">
                <a:solidFill>
                  <a:srgbClr val="232A32"/>
                </a:solidFill>
                <a:latin typeface="Aptos"/>
              </a:defRPr>
            </a:pPr>
            <a:r>
              <a:t>A2A bridge 預設關閉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7548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14375C"/>
                </a:solidFill>
                <a:latin typeface="Aptos"/>
              </a:defRPr>
            </a:pPr>
            <a:r>
              <a:t>資料原則：Parser → Knowledge Package → Validation → Publish Ledger → Projection / Query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7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375C"/>
                </a:solidFill>
                <a:latin typeface="Aptos"/>
              </a:defRPr>
            </a:pPr>
            <a:r>
              <a:t>今天完成的 WP0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515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F6973"/>
                </a:solidFill>
                <a:latin typeface="Aptos"/>
              </a:defRPr>
            </a:pPr>
            <a:r>
              <a:t>FastAPI contract baseline，commit 2c46c834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新增 app/ FastAPI shell、/api/v1 health/version、統一 response/error envelope。</a:t>
            </a:r>
          </a:p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X-Trace-ID middleware 與穩定 exception boundary；不回傳 stack、path、secret。</a:t>
            </a:r>
          </a:p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保留 legacy /health、/search、/ws、report、ingest 與 A2A dry-run。</a:t>
            </a:r>
          </a:p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測試證據：76 passed、compileall、Compose config、Vue build、release package、Portal smoke。</a:t>
            </a:r>
          </a:p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未部署 production；PR #2 base=agent/km-modify-codex-plan，head=agent/wp0-fastapi-contract。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7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375C"/>
                </a:solidFill>
                <a:latin typeface="Aptos"/>
              </a:defRPr>
            </a:pPr>
            <a:r>
              <a:t>今天完成的 WP1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515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F6973"/>
                </a:solidFill>
                <a:latin typeface="Aptos"/>
              </a:defRPr>
            </a:pPr>
            <a:r>
              <a:t>Job/config reliability baseline，commit 7cfa1d6e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JobConfig typed env：concurrency、TTL、timeout、retry、queue、Beat。</a:t>
            </a:r>
          </a:p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JobStatus：queued / running / succeeded / failed / retrying / cancelled。</a:t>
            </a:r>
          </a:p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保留 search/ingest，新增 default/document/indexing queue contract。</a:t>
            </a:r>
          </a:p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X-Trace-ID → Celery headers；transient／non-retryable retry policy。</a:t>
            </a:r>
          </a:p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Compose：named volume、可配置 host paths、restart policy、Beat opt-in、Neo4j healthcheck。</a:t>
            </a:r>
          </a:p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驗證：83 passed；實際隔離 Docker 啟動、worker restart、Redis persistence、API idempotency 成功。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7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375C"/>
                </a:solidFill>
                <a:latin typeface="Aptos"/>
              </a:defRPr>
            </a:pPr>
            <a:r>
              <a:t>WP1 實際驗證證據與發現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3383280" cy="1920240"/>
          </a:xfrm>
          <a:prstGeom prst="roundRect">
            <a:avLst/>
          </a:prstGeom>
          <a:solidFill>
            <a:srgbClr val="EDF4F7"/>
          </a:solidFill>
          <a:ln>
            <a:solidFill>
              <a:srgbClr val="21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691639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17A4E"/>
                </a:solidFill>
                <a:latin typeface="Aptos"/>
              </a:defRPr>
            </a:pPr>
            <a:r>
              <a:t>Worker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2121408"/>
            <a:ext cx="306324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32A32"/>
                </a:solidFill>
                <a:latin typeface="Aptos"/>
              </a:defRPr>
            </a:pPr>
            <a:r>
              <a:t>隔離 Compose project</a:t>
            </a:r>
          </a:p>
          <a:p>
            <a:pPr>
              <a:spcAft>
                <a:spcPts val="500"/>
              </a:spcAft>
              <a:defRPr sz="1200" b="0">
                <a:solidFill>
                  <a:srgbClr val="232A32"/>
                </a:solidFill>
                <a:latin typeface="Aptos"/>
              </a:defRPr>
            </a:pPr>
            <a:r>
              <a:t>重啟 celery_ingest_worker</a:t>
            </a:r>
          </a:p>
          <a:p>
            <a:pPr>
              <a:spcAft>
                <a:spcPts val="500"/>
              </a:spcAft>
              <a:defRPr sz="1200" b="0">
                <a:solidFill>
                  <a:srgbClr val="232A32"/>
                </a:solidFill>
                <a:latin typeface="Aptos"/>
              </a:defRPr>
            </a:pPr>
            <a:r>
              <a:t>Redis key 保留</a:t>
            </a:r>
          </a:p>
          <a:p>
            <a:pPr>
              <a:spcAft>
                <a:spcPts val="500"/>
              </a:spcAft>
              <a:defRPr sz="1200" b="0">
                <a:solidFill>
                  <a:srgbClr val="232A32"/>
                </a:solidFill>
                <a:latin typeface="Aptos"/>
              </a:defRPr>
            </a:pPr>
            <a:r>
              <a:t>worker 回復運作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1920240"/>
          </a:xfrm>
          <a:prstGeom prst="roundRect">
            <a:avLst/>
          </a:prstGeom>
          <a:solidFill>
            <a:srgbClr val="EDF4F7"/>
          </a:solidFill>
          <a:ln>
            <a:solidFill>
              <a:srgbClr val="21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691639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17A4E"/>
                </a:solidFill>
                <a:latin typeface="Aptos"/>
              </a:defRPr>
            </a:pPr>
            <a:r>
              <a:t>Idempotency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2121408"/>
            <a:ext cx="306324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32A32"/>
                </a:solidFill>
                <a:latin typeface="Aptos"/>
              </a:defRPr>
            </a:pPr>
            <a:r>
              <a:t>相同 Excel + identity</a:t>
            </a:r>
          </a:p>
          <a:p>
            <a:pPr>
              <a:spcAft>
                <a:spcPts val="500"/>
              </a:spcAft>
              <a:defRPr sz="1200" b="0">
                <a:solidFill>
                  <a:srgbClr val="232A32"/>
                </a:solidFill>
                <a:latin typeface="Aptos"/>
              </a:defRPr>
            </a:pPr>
            <a:r>
              <a:t>第二次回傳相同 task_id</a:t>
            </a:r>
          </a:p>
          <a:p>
            <a:pPr>
              <a:spcAft>
                <a:spcPts val="500"/>
              </a:spcAft>
              <a:defRPr sz="1200" b="0">
                <a:solidFill>
                  <a:srgbClr val="232A32"/>
                </a:solidFill>
                <a:latin typeface="Aptos"/>
              </a:defRPr>
            </a:pPr>
            <a:r>
              <a:t>duplicate=true</a:t>
            </a:r>
          </a:p>
          <a:p>
            <a:pPr>
              <a:spcAft>
                <a:spcPts val="500"/>
              </a:spcAft>
              <a:defRPr sz="1200" b="0">
                <a:solidFill>
                  <a:srgbClr val="232A32"/>
                </a:solidFill>
                <a:latin typeface="Aptos"/>
              </a:defRPr>
            </a:pPr>
            <a:r>
              <a:t>避免重複攝入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554480"/>
            <a:ext cx="3383280" cy="1920240"/>
          </a:xfrm>
          <a:prstGeom prst="roundRect">
            <a:avLst/>
          </a:prstGeom>
          <a:solidFill>
            <a:srgbClr val="EDF4F7"/>
          </a:solidFill>
          <a:ln>
            <a:solidFill>
              <a:srgbClr val="A8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691639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A86700"/>
                </a:solidFill>
                <a:latin typeface="Aptos"/>
              </a:defRPr>
            </a:pPr>
            <a:r>
              <a:t>根因修正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121408"/>
            <a:ext cx="306324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32A32"/>
                </a:solidFill>
                <a:latin typeface="Aptos"/>
              </a:defRPr>
            </a:pPr>
            <a:r>
              <a:t>發現 duplicate path 缺少 import</a:t>
            </a:r>
          </a:p>
          <a:p>
            <a:pPr>
              <a:spcAft>
                <a:spcPts val="500"/>
              </a:spcAft>
              <a:defRPr sz="1200" b="0">
                <a:solidFill>
                  <a:srgbClr val="232A32"/>
                </a:solidFill>
                <a:latin typeface="Aptos"/>
              </a:defRPr>
            </a:pPr>
            <a:r>
              <a:t>發現 Neo4j healthcheck 硬編碼密碼與錯誤 PATH</a:t>
            </a:r>
          </a:p>
          <a:p>
            <a:pPr>
              <a:spcAft>
                <a:spcPts val="500"/>
              </a:spcAft>
              <a:defRPr sz="1200" b="0">
                <a:solidFill>
                  <a:srgbClr val="232A32"/>
                </a:solidFill>
                <a:latin typeface="Aptos"/>
              </a:defRPr>
            </a:pPr>
            <a:r>
              <a:t>均已修正並推送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5488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A86700"/>
                </a:solidFill>
                <a:latin typeface="Aptos"/>
              </a:defRPr>
            </a:pPr>
            <a:r>
              <a:t>剩餘：CI/PR gate、長時間故障注入、正式部署環境 restore/recovery 演練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7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375C"/>
                </a:solidFill>
                <a:latin typeface="Aptos"/>
              </a:defRPr>
            </a:pPr>
            <a:r>
              <a:t>Phase 0：WP2–WP4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515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F6973"/>
                </a:solidFill>
                <a:latin typeface="Aptos"/>
              </a:defRPr>
            </a:pPr>
            <a:r>
              <a:t>資料契約與後端投影的唯一入口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WP2 Knowledge Package：source/version/ACL/citation/processing/routing/publish；invalid package 不得產生 DB mutation。</a:t>
            </a:r>
          </a:p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WP3 Qdrant projection：deterministic point ID、版本、ACL、published/current filter、rebuild 與 shadow validation。</a:t>
            </a:r>
          </a:p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WP4 CSIT adapter：文件、報告、版本、審核與權限由 CSIT 作 SOR；AI KM 不直連 CSIT DB。</a:t>
            </a:r>
          </a:p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Gate：19 個 Package 案例、Qdrant permission/idempotency golden set、CSIT contract tests。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7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375C"/>
                </a:solidFill>
                <a:latin typeface="Aptos"/>
              </a:defRPr>
            </a:pPr>
            <a:r>
              <a:t>Phase 1：WP5–WP9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515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F6973"/>
                </a:solidFill>
                <a:latin typeface="Aptos"/>
              </a:defRPr>
            </a:pPr>
            <a:r>
              <a:t>正式報告 workflow、時序資料、Graph、治理與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WP5 Report Publish Ledger：draft → validated → review → approved → publishing → published。</a:t>
            </a:r>
          </a:p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WP6 TimescaleDB：iPerf／PHY／RF／KPI 明細與 summary；bulk ingest、trend、compare、ACL。</a:t>
            </a:r>
          </a:p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WP7 Neo4j ontology：固定節點、canonical ID、MERGE、source/lineage、受控 query template。</a:t>
            </a:r>
          </a:p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WP8 RBAC/Citation/Audit：deny-by-default、citation completeness、query/tool/upload/review/publish audit。</a:t>
            </a:r>
          </a:p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WP9 Portal/OpenClaw MVP：upload → review → approve → publish → authorized search；A2A 仍隔離、disabled、dry-run。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7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375C"/>
                </a:solidFill>
                <a:latin typeface="Aptos"/>
              </a:defRPr>
            </a:pPr>
            <a:r>
              <a:t>Phase 2–4：WP10A–WP12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515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F6973"/>
                </a:solidFill>
                <a:latin typeface="Aptos"/>
              </a:defRPr>
            </a:pPr>
            <a:r>
              <a:t>品質、受控 Agentic RAG 與 AI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WP10A Document Intelligence：文字、圖片、Excel、表格專用 pipeline；OCR 按需，來源追蹤到 page/cell。</a:t>
            </a:r>
          </a:p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WP10B Entity normalization：alias、master data、ontology mapping、Qdrant/Neo4j rebuild。</a:t>
            </a:r>
          </a:p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WP11 Controlled Tools：CSIT、Vector、Graph、Time-Series、Automation；禁止自由 SQL/Cypher/SSH。</a:t>
            </a:r>
          </a:p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WP12 Analysis：Root Cause、Benchmark、Similar Case、Recommendation；區分 evidence / inference / confidence。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7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375C"/>
                </a:solidFill>
                <a:latin typeface="Aptos"/>
              </a:defRPr>
            </a:pPr>
            <a:r>
              <a:t>Phase 5：WP13 與 A2A 邊界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WP13 Multi-Agent／Predictive／Proactive workflow 只有在單 Agent 品質、資料量與 KPI 達標後啟動。</a:t>
            </a:r>
          </a:p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KM 是中心 agent；Anritsu／Amarisoft 是受控階層子 agent。</a:t>
            </a:r>
          </a:p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A2A bridge 預設 disabled，dry-run 不碰儀器；real execute 需明確授權、確認、timeout、audit 與停止條件。</a:t>
            </a:r>
          </a:p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Automation query 與 execute 分離；高權限 execute 必須明確確認，不能由模型自行擴權。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7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375C"/>
                </a:solidFill>
                <a:latin typeface="Aptos"/>
              </a:defRPr>
            </a:pPr>
            <a:r>
              <a:t>跨階段安全與相容性規則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不得硬編碼 token、密碼、host path；.env 不入 Git，log 不含 secret 或完整敏感 payload。</a:t>
            </a:r>
          </a:p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新 API 以 additive contract 進入；legacy routes response shape 保持相容。</a:t>
            </a:r>
          </a:p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資料庫各有責任：Qdrant=semantic、Neo4j=ontology/evidence、TimescaleDB=timeseries、CSIT=source of record。</a:t>
            </a:r>
          </a:p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每次 migration 必須有 forward、rollback、backup/restore 證據。</a:t>
            </a:r>
          </a:p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A2A、Portal、search、report、ingest 的既有功能不能因新 WP 被順便重構。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7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375C"/>
                </a:solidFill>
                <a:latin typeface="Aptos"/>
              </a:defRPr>
            </a:pPr>
            <a:r>
              <a:t>Gate 與測試矩陣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G0：API contract、trace、exception、legacy smoke。</a:t>
            </a:r>
          </a:p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G1：queue routing、retry/non-retry、timeout、worker restart、idempotency、config。</a:t>
            </a:r>
          </a:p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G2：Knowledge Package validation 與 routing；invalid 不 mutation。</a:t>
            </a:r>
          </a:p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G3–G5：Qdrant/CSIT/publish ledger/Timescale/Neo4j 與 Portal E2E。</a:t>
            </a:r>
          </a:p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G6–G8：document quality、agent routing、citation、analysis evaluation。</a:t>
            </a:r>
          </a:p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任何 Gate 未通過，不得以 UI demo、HTTP 200 或單一 happy path 宣稱完成。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7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375C"/>
                </a:solidFill>
                <a:latin typeface="Aptos"/>
              </a:defRPr>
            </a:pPr>
            <a:r>
              <a:t>Rollback 與正式導入策略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程式碼：每個 WP 獨立 branch/PR；穩定 tag 作回復點，不直接 reset shared branch。</a:t>
            </a:r>
          </a:p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資料：Neo4j dump、Qdrant snapshot、PostgreSQL dump、Redis/SQLite registry、uploads/assets、config/env、image manifest。</a:t>
            </a:r>
          </a:p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部署：獨立 Compose project、container name、port、volume 做 UAT；未驗證版本不得寫正式資料。</a:t>
            </a:r>
          </a:p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失敗時：停止新版本 → 保留 log/trace → 回復 image/config/code → 還原資料快照 → 執行 health、query、ingest、citation smoke。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7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375C"/>
                </a:solidFill>
                <a:latin typeface="Aptos"/>
              </a:defRPr>
            </a:pPr>
            <a:r>
              <a:t>目前 GitHub 狀態與下一步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WP0 branch：agent/wp0-fastapi-contract，commit 2c46c834；PR #2 尚需 CI gate。</a:t>
            </a:r>
          </a:p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WP1 branch：agent/wp1-job-config-reliability，最新 commit 7cfa1d6e，已推送。</a:t>
            </a:r>
          </a:p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WP0 workflow 推送曾被 PAT 拒絕，原因是缺少 workflow scope；需具 workflow 權限的 credential 才能讓 Actions 執行。</a:t>
            </a:r>
          </a:p>
          <a:p>
            <a:pPr>
              <a:spcAft>
                <a:spcPts val="5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• 下一步：補 CI → 建立 WP1 PR → review/merge gate → WP2 Knowledge Package，不跨階段搶做資料庫重構。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7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375C"/>
                </a:solidFill>
                <a:latin typeface="Aptos"/>
              </a:defRPr>
            </a:pPr>
            <a:r>
              <a:t>交付結論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500"/>
              </a:spcAft>
              <a:defRPr sz="3000" b="1">
                <a:solidFill>
                  <a:srgbClr val="14375C"/>
                </a:solidFill>
                <a:latin typeface="Aptos"/>
              </a:defRPr>
            </a:pPr>
            <a:r>
              <a:t>先可靠，再正式化資料；先治理，再放大 Agent 能力。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06324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500"/>
              </a:spcAft>
              <a:defRPr sz="2000" b="0">
                <a:solidFill>
                  <a:srgbClr val="232A32"/>
                </a:solidFill>
                <a:latin typeface="Aptos"/>
              </a:defRPr>
            </a:pPr>
            <a:r>
              <a:t>WP0/WP1 已建立可驗證底座，但每個後續 WP 都必須以獨立 Gate、測試證據與 rollback 條件推進。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5F6973"/>
                </a:solidFill>
                <a:latin typeface="Aptos"/>
              </a:defRPr>
            </a:pPr>
            <a:r>
              <a:t>產出檔案：docs/km-modernization/KM_MODERNIZATION_WP0-WP13_ROADMAP.pptx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