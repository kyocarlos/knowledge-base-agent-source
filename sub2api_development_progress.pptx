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13248"/>
            <a:ext cx="12191695" cy="1444752"/>
          </a:xfrm>
          <a:prstGeom prst="rect">
            <a:avLst/>
          </a:prstGeom>
          <a:solidFill>
            <a:srgbClr val="153A56"/>
          </a:solidFill>
          <a:ln w="12700">
            <a:solidFill>
              <a:srgbClr val="15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7498079" cy="411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oto Sans CJK TC"/>
              </a:rPr>
              <a:t>Sub2API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9784080" cy="6583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DDEBFF"/>
                </a:solidFill>
                <a:latin typeface="Noto Sans CJK TC"/>
              </a:rPr>
              <a:t>開發進度與下一階段規劃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786384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8D4E8"/>
                </a:solidFill>
                <a:latin typeface="Noto Sans CJK TC"/>
              </a:rPr>
              <a:t>Ollama OpenAI-compatible Gateway · 群組路由 · API Key · 用量計費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10128"/>
            <a:ext cx="1188720" cy="256032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19272"/>
            <a:ext cx="1188720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已完成部署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3310128"/>
            <a:ext cx="1243584" cy="256032"/>
          </a:xfrm>
          <a:prstGeom prst="round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8256" y="3319272"/>
            <a:ext cx="1243584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正在驗證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3310128"/>
            <a:ext cx="1481328" cy="256032"/>
          </a:xfrm>
          <a:prstGeom prst="roundRect">
            <a:avLst/>
          </a:prstGeom>
          <a:solidFill>
            <a:srgbClr val="7653A6"/>
          </a:solidFill>
          <a:ln w="1270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3319272"/>
            <a:ext cx="1481328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待強化治理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1325880" cy="86868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3931920"/>
            <a:ext cx="117957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OpenClaw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270248"/>
            <a:ext cx="1143000" cy="365759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外部客戶端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40480"/>
            <a:ext cx="1325880" cy="868680"/>
          </a:xfrm>
          <a:prstGeom prst="roundRect">
            <a:avLst/>
          </a:prstGeom>
          <a:solidFill>
            <a:srgbClr val="E4F7F5"/>
          </a:solidFill>
          <a:ln w="1778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3931920"/>
            <a:ext cx="117957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E9A"/>
                </a:solidFill>
                <a:latin typeface="Noto Sans CJK TC"/>
              </a:rPr>
              <a:t>Sub2API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4270248"/>
            <a:ext cx="1143000" cy="365759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API Gateway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270248"/>
            <a:ext cx="320040" cy="0"/>
          </a:xfrm>
          <a:prstGeom prst="line">
            <a:avLst/>
          </a:prstGeom>
          <a:ln w="25400">
            <a:solidFill>
              <a:srgbClr val="9E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870448"/>
            <a:ext cx="4572000" cy="228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9C1D4"/>
                </a:solidFill>
                <a:latin typeface="Noto Sans CJK TC"/>
              </a:rPr>
              <a:t>內部開發簡報 · 2026-08-03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目前狀態總覽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結論先行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850392"/>
            <a:ext cx="2606040" cy="129844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850392"/>
            <a:ext cx="64008" cy="1298448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978408"/>
            <a:ext cx="23317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D68"/>
                </a:solidFill>
                <a:latin typeface="Noto Sans CJK TC"/>
              </a:rPr>
              <a:t>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335024"/>
            <a:ext cx="2331720" cy="71323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Sub2API 0.1.168 已以獨立 Compose project 運行。
Web health：HTTP 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50392"/>
            <a:ext cx="2606040" cy="12984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50392"/>
            <a:ext cx="64008" cy="12984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3317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335024"/>
            <a:ext cx="2331720" cy="71323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主機 Ollama 已接入 OpenAI-compatible upstream。
實際回傳 22 個模型。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850392"/>
            <a:ext cx="2606040" cy="1298448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850392"/>
            <a:ext cx="64008" cy="1298448"/>
          </a:xfrm>
          <a:prstGeom prst="rect">
            <a:avLst/>
          </a:prstGeom>
          <a:solidFill>
            <a:srgbClr val="009E9A"/>
          </a:solidFill>
          <a:ln w="1270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978408"/>
            <a:ext cx="23317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9E9A"/>
                </a:solidFill>
                <a:latin typeface="Noto Sans CJK TC"/>
              </a:rPr>
              <a:t>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335024"/>
            <a:ext cx="2331720" cy="71323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Ollama Local、Anderson_H、WifiSit01_DA40 已建立或驗證。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850392"/>
            <a:ext cx="2606040" cy="1298448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850392"/>
            <a:ext cx="64008" cy="1298448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978408"/>
            <a:ext cx="23317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焦點問題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1335024"/>
            <a:ext cx="2331720" cy="71323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Test_Local 仍使用預設 13 個 OpenAI 模型清單，尚未建立 API key。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542032"/>
            <a:ext cx="39319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3247"/>
                </a:solidFill>
                <a:latin typeface="Noto Sans CJK TC"/>
              </a:rPr>
              <a:t>已完成能力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2907792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2907792"/>
            <a:ext cx="64008" cy="2423160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035808"/>
            <a:ext cx="32461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D68"/>
                </a:solidFill>
                <a:latin typeface="Noto Sans CJK TC"/>
              </a:rPr>
              <a:t>隔離部署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392424"/>
            <a:ext cx="3246120" cy="18379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獨立 network、PostgreSQL、Redis 與資料目錄。
不加入 Knowledge Base 的 Compose network。
不修改 Neo4j、Qdrant、KB Redis。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2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2"/>
            <a:ext cx="64008" cy="24231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3" y="3035808"/>
            <a:ext cx="32461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API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392424"/>
            <a:ext cx="3246120" cy="18379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提供 OpenAI-compatible：
/v1/models
/v1/chat/completions
支援群組、API key、用量紀錄與 upstream 路由。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2907792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28431" y="2907792"/>
            <a:ext cx="64008" cy="2423160"/>
          </a:xfrm>
          <a:prstGeom prst="rect">
            <a:avLst/>
          </a:prstGeom>
          <a:solidFill>
            <a:srgbClr val="7653A6"/>
          </a:solidFill>
          <a:ln w="1270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3" y="3035808"/>
            <a:ext cx="32461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653A6"/>
                </a:solidFill>
                <a:latin typeface="Noto Sans CJK TC"/>
              </a:rPr>
              <a:t>管理與計費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3" y="3392424"/>
            <a:ext cx="3246120" cy="18379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已具備群組、帳號、模型白名單、token 用量與成本估算。
正式對外前仍需完成安全治理。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部署拓撲與資料隔離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Knowledge Base 與 Sub2API 並行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03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841248"/>
            <a:ext cx="5257800" cy="5166360"/>
          </a:xfrm>
          <a:prstGeom prst="roundRect">
            <a:avLst/>
          </a:prstGeom>
          <a:solidFill>
            <a:srgbClr val="F5F8FB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05840"/>
            <a:ext cx="22860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ED"/>
                </a:solidFill>
                <a:latin typeface="Noto Sans CJK TC"/>
              </a:rPr>
              <a:t>Sub2API Compose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1600200"/>
            <a:ext cx="1444752" cy="896112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29967"/>
            <a:ext cx="1261872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0.0.0.0:18080
container :8080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600200"/>
            <a:ext cx="1444752" cy="896112"/>
          </a:xfrm>
          <a:prstGeom prst="roundRect">
            <a:avLst/>
          </a:prstGeom>
          <a:solidFill>
            <a:srgbClr val="E4F7F5"/>
          </a:solidFill>
          <a:ln w="1778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691640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E9A"/>
                </a:solidFill>
                <a:latin typeface="Noto Sans CJK TC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029967"/>
            <a:ext cx="1261872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內部 5432
群組/帳號/用量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8528" y="3154680"/>
            <a:ext cx="1444752" cy="896112"/>
          </a:xfrm>
          <a:prstGeom prst="roundRect">
            <a:avLst/>
          </a:prstGeom>
          <a:solidFill>
            <a:srgbClr val="F3EE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246120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653A6"/>
                </a:solidFill>
                <a:latin typeface="Noto Sans CJK TC"/>
              </a:rPr>
              <a:t>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3584448"/>
            <a:ext cx="1261872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內部 6379
cache / queue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2496312"/>
            <a:ext cx="0" cy="658368"/>
          </a:xfrm>
          <a:prstGeom prst="line">
            <a:avLst/>
          </a:prstGeom>
          <a:ln w="1905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44368" y="2048256"/>
            <a:ext cx="0" cy="0"/>
          </a:xfrm>
          <a:prstGeom prst="line">
            <a:avLst/>
          </a:prstGeom>
          <a:ln w="1651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4800600"/>
            <a:ext cx="4572000" cy="594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589"/>
                </a:solidFill>
                <a:latin typeface="Noto Sans CJK TC"/>
              </a:rPr>
              <a:t>資料目錄：sub2api-deploy/data/
網路：sub2api_sub2api-network
容器：sub2api、sub2api-postgres、sub2api-redis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841248"/>
            <a:ext cx="5257800" cy="5166360"/>
          </a:xfrm>
          <a:prstGeom prst="roundRect">
            <a:avLst/>
          </a:prstGeom>
          <a:solidFill>
            <a:srgbClr val="F5F8FB"/>
          </a:solidFill>
          <a:ln w="1778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1005840"/>
            <a:ext cx="3017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E9A"/>
                </a:solidFill>
                <a:latin typeface="Noto Sans CJK TC"/>
              </a:rPr>
              <a:t>Knowledge Base project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600200"/>
            <a:ext cx="1417320" cy="896112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2" y="1691640"/>
            <a:ext cx="12710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029967"/>
            <a:ext cx="1234440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Search / Upload
Chat proxy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1600200"/>
            <a:ext cx="1417320" cy="896112"/>
          </a:xfrm>
          <a:prstGeom prst="roundRect">
            <a:avLst/>
          </a:prstGeom>
          <a:solidFill>
            <a:srgbClr val="FFF3D6"/>
          </a:solidFill>
          <a:ln w="1778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1691640"/>
            <a:ext cx="12710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68B16"/>
                </a:solidFill>
                <a:latin typeface="Noto Sans CJK TC"/>
              </a:rPr>
              <a:t>Celery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29967"/>
            <a:ext cx="1234440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Search / Ingest
background task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154680"/>
            <a:ext cx="1417320" cy="896112"/>
          </a:xfrm>
          <a:prstGeom prst="roundRect">
            <a:avLst/>
          </a:prstGeom>
          <a:solidFill>
            <a:srgbClr val="E4F7F5"/>
          </a:solidFill>
          <a:ln w="1778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2" y="3246120"/>
            <a:ext cx="12710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E9A"/>
                </a:solidFill>
                <a:latin typeface="Noto Sans CJK TC"/>
              </a:rPr>
              <a:t>Neo4j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584448"/>
            <a:ext cx="1234440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knowledge graph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3154680"/>
            <a:ext cx="1417320" cy="896112"/>
          </a:xfrm>
          <a:prstGeom prst="roundRect">
            <a:avLst/>
          </a:prstGeom>
          <a:solidFill>
            <a:srgbClr val="F3EE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2" y="3246120"/>
            <a:ext cx="12710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653A6"/>
                </a:solidFill>
                <a:latin typeface="Noto Sans CJK TC"/>
              </a:rPr>
              <a:t>Qdrant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584448"/>
            <a:ext cx="1234440" cy="39319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vector search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16368" y="2496312"/>
            <a:ext cx="667511" cy="658368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549640" y="2496312"/>
            <a:ext cx="978408" cy="658368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28048" y="2496312"/>
            <a:ext cx="667512" cy="658368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75120" y="4800600"/>
            <a:ext cx="4572000" cy="594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589"/>
                </a:solidFill>
                <a:latin typeface="Noto Sans CJK TC"/>
              </a:rPr>
              <a:t>Sub2API 未加入 KB network。
兩套 PostgreSQL / Redis 完全隔離。
目前 live 狀態：knowledge-base running(8)、sub2api running(3)。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已完成里程碑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2026-07-30 至 2026-08-03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04 / 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1993392"/>
            <a:ext cx="10241280" cy="0"/>
          </a:xfrm>
          <a:prstGeom prst="line">
            <a:avLst/>
          </a:prstGeom>
          <a:ln w="254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50392" y="1901952"/>
            <a:ext cx="128016" cy="128016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61872"/>
            <a:ext cx="768096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9D68"/>
                </a:solidFill>
                <a:latin typeface="Noto Sans CJK TC"/>
              </a:rPr>
              <a:t>07/30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2395728"/>
            <a:ext cx="15727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2395728"/>
            <a:ext cx="64008" cy="1627632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523744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D68"/>
                </a:solidFill>
                <a:latin typeface="Noto Sans CJK TC"/>
              </a:rPr>
              <a:t>隔離安裝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880360"/>
            <a:ext cx="1298448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07589"/>
                </a:solidFill>
                <a:latin typeface="Noto Sans CJK TC"/>
              </a:rPr>
              <a:t>Sub2API 0.1.168
獨立 Compose / DB / Redis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901952"/>
            <a:ext cx="128016" cy="128016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1261872"/>
            <a:ext cx="768096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F6FED"/>
                </a:solidFill>
                <a:latin typeface="Noto Sans CJK TC"/>
              </a:rPr>
              <a:t>07/30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2395728"/>
            <a:ext cx="15727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9152" y="2395728"/>
            <a:ext cx="64008" cy="16276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2523744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接入 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2880360"/>
            <a:ext cx="1298448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07589"/>
                </a:solidFill>
                <a:latin typeface="Noto Sans CJK TC"/>
              </a:rPr>
              <a:t>host.docker.internal
同步 22 個模型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6631" y="1901952"/>
            <a:ext cx="128016" cy="128016"/>
          </a:xfrm>
          <a:prstGeom prst="roundRect">
            <a:avLst/>
          </a:prstGeom>
          <a:solidFill>
            <a:srgbClr val="009E9A"/>
          </a:solidFill>
          <a:ln w="1270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261872"/>
            <a:ext cx="768096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9E9A"/>
                </a:solidFill>
                <a:latin typeface="Noto Sans CJK TC"/>
              </a:rPr>
              <a:t>07/31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2395728"/>
            <a:ext cx="15727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62272" y="2395728"/>
            <a:ext cx="64008" cy="1627632"/>
          </a:xfrm>
          <a:prstGeom prst="rect">
            <a:avLst/>
          </a:prstGeom>
          <a:solidFill>
            <a:srgbClr val="009E9A"/>
          </a:solidFill>
          <a:ln w="1270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2523744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9E9A"/>
                </a:solidFill>
                <a:latin typeface="Noto Sans CJK TC"/>
              </a:rPr>
              <a:t>Anderson_H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2880360"/>
            <a:ext cx="1298448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07589"/>
                </a:solidFill>
                <a:latin typeface="Noto Sans CJK TC"/>
              </a:rPr>
              <a:t>獨立群組與 API key
指定模型 chat 200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9752" y="1901952"/>
            <a:ext cx="128016" cy="128016"/>
          </a:xfrm>
          <a:prstGeom prst="roundRect">
            <a:avLst/>
          </a:prstGeom>
          <a:solidFill>
            <a:srgbClr val="7653A6"/>
          </a:solidFill>
          <a:ln w="1270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261872"/>
            <a:ext cx="768096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653A6"/>
                </a:solidFill>
                <a:latin typeface="Noto Sans CJK TC"/>
              </a:rPr>
              <a:t>07/31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2395728"/>
            <a:ext cx="15727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65392" y="2395728"/>
            <a:ext cx="64008" cy="1627632"/>
          </a:xfrm>
          <a:prstGeom prst="rect">
            <a:avLst/>
          </a:prstGeom>
          <a:solidFill>
            <a:srgbClr val="7653A6"/>
          </a:solidFill>
          <a:ln w="1270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984" y="2523744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653A6"/>
                </a:solidFill>
                <a:latin typeface="Noto Sans CJK TC"/>
              </a:rPr>
              <a:t>WifiSit01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2880360"/>
            <a:ext cx="1298448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07589"/>
                </a:solidFill>
                <a:latin typeface="Noto Sans CJK TC"/>
              </a:rPr>
              <a:t>OpenAI OAuth 綁定
gpt-5.4 chat 200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62872" y="1901952"/>
            <a:ext cx="128016" cy="128016"/>
          </a:xfrm>
          <a:prstGeom prst="round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1261872"/>
            <a:ext cx="768096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68B16"/>
                </a:solidFill>
                <a:latin typeface="Noto Sans CJK TC"/>
              </a:rPr>
              <a:t>08/03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68511" y="2395728"/>
            <a:ext cx="15727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68511" y="2395728"/>
            <a:ext cx="64008" cy="1627632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33103" y="2523744"/>
            <a:ext cx="129844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Test_Local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3" y="2880360"/>
            <a:ext cx="1298448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07589"/>
                </a:solidFill>
                <a:latin typeface="Noto Sans CJK TC"/>
              </a:rPr>
              <a:t>發現仍是預設模型清單
進入修正與驗證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663440"/>
            <a:ext cx="3474720" cy="84124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4663440"/>
            <a:ext cx="64008" cy="841248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4791455"/>
            <a:ext cx="3200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D68"/>
                </a:solidFill>
                <a:latin typeface="Noto Sans CJK TC"/>
              </a:rPr>
              <a:t>驗證已通過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5148072"/>
            <a:ext cx="3200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589"/>
                </a:solidFill>
                <a:latin typeface="Noto Sans CJK TC"/>
              </a:rPr>
              <a:t>健康檢查、容器健康、Ollama chat、群組路由與用量資料均已完成局部驗證。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0832" y="4663440"/>
            <a:ext cx="3474720" cy="841248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70832" y="4663440"/>
            <a:ext cx="64008" cy="841248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5424" y="4791455"/>
            <a:ext cx="3200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目前限制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4" y="5148072"/>
            <a:ext cx="3200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589"/>
                </a:solidFill>
                <a:latin typeface="Noto Sans CJK TC"/>
              </a:rPr>
              <a:t>部分群組的 /v1/models 清單不等於 upstream 實際模型清單。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8431" y="4663440"/>
            <a:ext cx="3474720" cy="8412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28431" y="4663440"/>
            <a:ext cx="64008" cy="8412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3023" y="4791455"/>
            <a:ext cx="3200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下一步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3" y="5148072"/>
            <a:ext cx="3200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589"/>
                </a:solidFill>
                <a:latin typeface="Noto Sans CJK TC"/>
              </a:rPr>
              <a:t>完成 Test_Local 模型清單、API key、外部呼叫與安全收斂。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Ollama 整合資料流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已完成 upstream connectivity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05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874519" cy="1078992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920240"/>
            <a:ext cx="17282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OpenClaw /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1691639" cy="57607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OpenAI-compatible
/v1/chat/completions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1828800"/>
            <a:ext cx="1874519" cy="1078992"/>
          </a:xfrm>
          <a:prstGeom prst="roundRect">
            <a:avLst/>
          </a:prstGeom>
          <a:solidFill>
            <a:srgbClr val="E4F7F5"/>
          </a:solidFill>
          <a:ln w="1778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920240"/>
            <a:ext cx="17282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E9A"/>
                </a:solidFill>
                <a:latin typeface="Noto Sans CJK TC"/>
              </a:rPr>
              <a:t>Sub2API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258568"/>
            <a:ext cx="1691639" cy="57607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API key → group
account 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2976" y="1828800"/>
            <a:ext cx="1874519" cy="1078992"/>
          </a:xfrm>
          <a:prstGeom prst="roundRect">
            <a:avLst/>
          </a:prstGeom>
          <a:solidFill>
            <a:srgbClr val="F3EE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1920240"/>
            <a:ext cx="17282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653A6"/>
                </a:solidFill>
                <a:latin typeface="Noto Sans CJK TC"/>
              </a:rPr>
              <a:t>Ollama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2258568"/>
            <a:ext cx="1691639" cy="57607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account id 1
active / schedulable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28800"/>
            <a:ext cx="1874519" cy="1078992"/>
          </a:xfrm>
          <a:prstGeom prst="roundRect">
            <a:avLst/>
          </a:prstGeom>
          <a:solidFill>
            <a:srgbClr val="E7F6ED"/>
          </a:solidFill>
          <a:ln w="1778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920240"/>
            <a:ext cx="172821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9D68"/>
                </a:solidFill>
                <a:latin typeface="Noto Sans CJK TC"/>
              </a:rPr>
              <a:t>Host Ollama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258568"/>
            <a:ext cx="1691639" cy="57607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127.0.0.1:11434
/v1/models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87584" y="1828800"/>
            <a:ext cx="1143000" cy="1078992"/>
          </a:xfrm>
          <a:prstGeom prst="roundRect">
            <a:avLst/>
          </a:prstGeom>
          <a:solidFill>
            <a:srgbClr val="FFF3D6"/>
          </a:solidFill>
          <a:ln w="1778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0736" y="1920240"/>
            <a:ext cx="996696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68B16"/>
                </a:solidFill>
                <a:latin typeface="Noto Sans CJK TC"/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9024" y="2258568"/>
            <a:ext cx="960120" cy="576071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07589"/>
                </a:solidFill>
                <a:latin typeface="Noto Sans CJK TC"/>
              </a:rPr>
              <a:t>22 models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32888" y="2368296"/>
            <a:ext cx="548640" cy="0"/>
          </a:xfrm>
          <a:prstGeom prst="line">
            <a:avLst/>
          </a:prstGeom>
          <a:ln w="254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65192" y="2368296"/>
            <a:ext cx="548639" cy="0"/>
          </a:xfrm>
          <a:prstGeom prst="line">
            <a:avLst/>
          </a:prstGeom>
          <a:ln w="254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97496" y="2368296"/>
            <a:ext cx="548640" cy="0"/>
          </a:xfrm>
          <a:prstGeom prst="line">
            <a:avLst/>
          </a:prstGeom>
          <a:ln w="254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29800" y="2368296"/>
            <a:ext cx="548640" cy="0"/>
          </a:xfrm>
          <a:prstGeom prst="line">
            <a:avLst/>
          </a:prstGeom>
          <a:ln w="254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1188720"/>
            <a:ext cx="99669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實際 upstream 已回傳 22 個模型；問題發生在 group-level /v1/models 白名單，而非 Ollama 連線。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" y="3822191"/>
            <a:ext cx="3063240" cy="117043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" y="3822191"/>
            <a:ext cx="64008" cy="1170432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50207"/>
            <a:ext cx="27889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D68"/>
                </a:solidFill>
                <a:latin typeface="Noto Sans CJK TC"/>
              </a:rPr>
              <a:t>已驗證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306824"/>
            <a:ext cx="2788920" cy="5852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Ollama 直接 /v1/chat/completions
使用 gemma4:12b 回 HTTP 200。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3822191"/>
            <a:ext cx="3063240" cy="117043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53712" y="3822191"/>
            <a:ext cx="64008" cy="11704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4" y="3950207"/>
            <a:ext cx="27889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已驗證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4" y="4306824"/>
            <a:ext cx="2788920" cy="5852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Anderson_H group id 6
使用 Ollama 模型路由成功。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4736" y="3822191"/>
            <a:ext cx="3063240" cy="1170432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3822191"/>
            <a:ext cx="64008" cy="1170432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950207"/>
            <a:ext cx="278892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需注意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306824"/>
            <a:ext cx="2788920" cy="5852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Ollama cloud 模型可能依賴外部授權；embedding 模型不適合一般 chat。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Test_Local 問題定位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目前最明確的功能缺口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06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868680"/>
            <a:ext cx="5029200" cy="4983480"/>
          </a:xfrm>
          <a:prstGeom prst="roundRect">
            <a:avLst/>
          </a:prstGeom>
          <a:solidFill>
            <a:srgbClr val="FCEBEC"/>
          </a:solidFill>
          <a:ln w="1778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115568"/>
            <a:ext cx="443484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4C4C"/>
                </a:solidFill>
                <a:latin typeface="Noto Sans CJK TC"/>
              </a:rPr>
              <a:t>現況：群組清單不是 upstream 清單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00784"/>
            <a:ext cx="4315968" cy="19202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Test_Local group id 8
platform = openai
status = active
models_list_config.enabled = true
目前清單 = 預設 13 個 OpenAI 模型
API key = 尚未建立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498848"/>
            <a:ext cx="1965960" cy="256032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07992"/>
            <a:ext cx="1965960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不是 Ollama 無模型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868680"/>
            <a:ext cx="5394960" cy="4983480"/>
          </a:xfrm>
          <a:prstGeom prst="roundRect">
            <a:avLst/>
          </a:prstGeom>
          <a:solidFill>
            <a:srgbClr val="F5F8FB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115568"/>
            <a:ext cx="466344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6FED"/>
                </a:solidFill>
                <a:latin typeface="Noto Sans CJK TC"/>
              </a:rPr>
              <a:t>建議修正流程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719072"/>
            <a:ext cx="475488" cy="256032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28216"/>
            <a:ext cx="475488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709928"/>
            <a:ext cx="1920240" cy="228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3247"/>
                </a:solidFill>
                <a:latin typeface="Noto Sans CJK TC"/>
              </a:rPr>
              <a:t>同步 upstream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709928"/>
            <a:ext cx="242316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07589"/>
                </a:solidFill>
                <a:latin typeface="Noto Sans CJK TC"/>
              </a:rPr>
              <a:t>在 Ollama Local account 執行 sync upstream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523744"/>
            <a:ext cx="475488" cy="256032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32887"/>
            <a:ext cx="475488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2514600"/>
            <a:ext cx="1920240" cy="228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3247"/>
                </a:solidFill>
                <a:latin typeface="Noto Sans CJK TC"/>
              </a:rPr>
              <a:t>更新群組白名單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514600"/>
            <a:ext cx="242316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07589"/>
                </a:solidFill>
                <a:latin typeface="Noto Sans CJK TC"/>
              </a:rPr>
              <a:t>在 Test_Local 選入 Ollama 實際模型並儲存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328415"/>
            <a:ext cx="475488" cy="256032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59"/>
            <a:ext cx="475488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319272"/>
            <a:ext cx="1920240" cy="228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3247"/>
                </a:solidFill>
                <a:latin typeface="Noto Sans CJK TC"/>
              </a:rPr>
              <a:t>建立專用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19272"/>
            <a:ext cx="242316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07589"/>
                </a:solidFill>
                <a:latin typeface="Noto Sans CJK TC"/>
              </a:rPr>
              <a:t>API key 綁定 group id 8，避免無法路由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133087"/>
            <a:ext cx="475488" cy="256032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42231"/>
            <a:ext cx="475488" cy="2103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123944"/>
            <a:ext cx="1920240" cy="228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3247"/>
                </a:solidFill>
                <a:latin typeface="Noto Sans CJK TC"/>
              </a:rPr>
              <a:t>端到端驗證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123944"/>
            <a:ext cx="242316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07589"/>
                </a:solidFill>
                <a:latin typeface="Noto Sans CJK TC"/>
              </a:rPr>
              <a:t>測 /v1/models 與 gemma4:12b chat 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38928"/>
            <a:ext cx="4572000" cy="38404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預期結果：Test_Local /v1/models 顯示實際允許的 Ollama 模型，而非預設 OpenAI 清單。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正式對外前的治理缺口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功能可用 ≠ 已完成生產化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896112"/>
            <a:ext cx="3493008" cy="1325880"/>
          </a:xfrm>
          <a:prstGeom prst="roundRect">
            <a:avLst/>
          </a:prstGeom>
          <a:solidFill>
            <a:srgbClr val="FCEBE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896112"/>
            <a:ext cx="64008" cy="13258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024128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4C4C"/>
                </a:solidFill>
                <a:latin typeface="Noto Sans CJK TC"/>
              </a:rPr>
              <a:t>網路暴露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380744"/>
            <a:ext cx="3218688" cy="74066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目前 Web 綁定 0.0.0.0:18080，使用 HTTP。
正式對外應放在 VPN 或 HTTPS reverse proxy 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896112"/>
            <a:ext cx="3493008" cy="1325880"/>
          </a:xfrm>
          <a:prstGeom prst="roundRect">
            <a:avLst/>
          </a:prstGeom>
          <a:solidFill>
            <a:srgbClr val="FCEBE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896112"/>
            <a:ext cx="64008" cy="13258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024128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4C4C"/>
                </a:solidFill>
                <a:latin typeface="Noto Sans CJK TC"/>
              </a:rPr>
              <a:t>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380744"/>
            <a:ext cx="3218688" cy="74066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.env 與 data/config.yaml 含敏感設定。
需限制權限、輪換 secret、避免備份外洩。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896112"/>
            <a:ext cx="3493008" cy="132588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896112"/>
            <a:ext cx="64008" cy="1325880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024128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Upstream allowlist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380744"/>
            <a:ext cx="3218688" cy="74066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目前為支援 host Ollama 而關閉 URL allowlist。
需重新設計 egress/SSRF 防護。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2743200"/>
            <a:ext cx="3493008" cy="132588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" y="2743200"/>
            <a:ext cx="64008" cy="1325880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71216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版本固定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227832"/>
            <a:ext cx="3218688" cy="74066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目前 image 使用 latest。
正式環境應固定 release tag 或 digest。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2743200"/>
            <a:ext cx="3493008" cy="132588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2544" y="2743200"/>
            <a:ext cx="64008" cy="1325880"/>
          </a:xfrm>
          <a:prstGeom prst="rect">
            <a:avLst/>
          </a:prstGeom>
          <a:solidFill>
            <a:srgbClr val="7653A6"/>
          </a:solidFill>
          <a:ln w="1270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2871216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653A6"/>
                </a:solidFill>
                <a:latin typeface="Noto Sans CJK TC"/>
              </a:rPr>
              <a:t>群組隔離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3227832"/>
            <a:ext cx="3218688" cy="74066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WifiSit01 OAuth account 目前曾同時綁多個群組。
需明確定義隔離政策。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2743200"/>
            <a:ext cx="3493008" cy="132588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2743200"/>
            <a:ext cx="64008" cy="13258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871216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模型能力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227832"/>
            <a:ext cx="3218688" cy="74066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模型清單、模型可用性與 upstream 實際能力需分開驗證。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754880"/>
            <a:ext cx="104241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3247"/>
                </a:solidFill>
                <a:latin typeface="Noto Sans CJK TC"/>
              </a:rPr>
              <a:t>建議順序：VPN/HTTPS → secret rotation → allowlist → image pinning → group/account policy → automated smoke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5285232"/>
            <a:ext cx="9601200" cy="43891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5376672"/>
            <a:ext cx="9326880" cy="21945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禁止把 Sub2API PostgreSQL、Redis 或 upstream secret 直接提供給外部 Agent。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3657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0584"/>
            <a:ext cx="6400800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247"/>
                </a:solidFill>
                <a:latin typeface="Noto Sans CJK TC"/>
              </a:rPr>
              <a:t>下一階段開發與驗收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6304"/>
            <a:ext cx="4709160" cy="201168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從可用走向可交付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502920"/>
            <a:ext cx="1141171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6601968"/>
            <a:ext cx="731520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Sub2API 開發進度 · 2026-08-03 · 敏感設定已遮罩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868680" cy="14630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07589"/>
                </a:solidFill>
                <a:latin typeface="Noto Sans CJK TC"/>
              </a:rPr>
              <a:t>08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41248"/>
            <a:ext cx="292608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4C4C"/>
                </a:solidFill>
                <a:latin typeface="Noto Sans CJK TC"/>
              </a:rPr>
              <a:t>P0：先完成可重複驗證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207008"/>
            <a:ext cx="3493008" cy="2103120"/>
          </a:xfrm>
          <a:prstGeom prst="roundRect">
            <a:avLst/>
          </a:prstGeom>
          <a:solidFill>
            <a:srgbClr val="FCEBE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1207008"/>
            <a:ext cx="64008" cy="210312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335024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4C4C"/>
                </a:solidFill>
                <a:latin typeface="Noto Sans CJK TC"/>
              </a:rPr>
              <a:t>Test_Local 完整打通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91640"/>
            <a:ext cx="3218688" cy="1517903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同步 account 1 的 Ollama 模型
更新 group 8 白名單
建立 Test_Local API key
驗證 /v1/models + chat completion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207008"/>
            <a:ext cx="3493008" cy="21031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207008"/>
            <a:ext cx="64008" cy="21031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335024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ED"/>
                </a:solidFill>
                <a:latin typeface="Noto Sans CJK TC"/>
              </a:rPr>
              <a:t>自動化 smoke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691640"/>
            <a:ext cx="3218688" cy="1517903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每次部署驗證：
health、models、指定模型 chat、錯誤群組、無可用 account、rate limit。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07008"/>
            <a:ext cx="3493008" cy="210312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207008"/>
            <a:ext cx="64008" cy="2103120"/>
          </a:xfrm>
          <a:prstGeom prst="rect">
            <a:avLst/>
          </a:prstGeom>
          <a:solidFill>
            <a:srgbClr val="009E9A"/>
          </a:solidFill>
          <a:ln w="1270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335024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9E9A"/>
                </a:solidFill>
                <a:latin typeface="Noto Sans CJK TC"/>
              </a:rPr>
              <a:t>外部 OpenClaw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1691640"/>
            <a:ext cx="3218688" cy="1517903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使用專用 API key
明確指定 model
不依賴空的 /v1/models 自動探索
記錄 request / group /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794760"/>
            <a:ext cx="292608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68B16"/>
                </a:solidFill>
                <a:latin typeface="Noto Sans CJK TC"/>
              </a:rPr>
              <a:t>P1：完成生產治理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4151376"/>
            <a:ext cx="3493008" cy="137160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" y="4151376"/>
            <a:ext cx="64008" cy="1371600"/>
          </a:xfrm>
          <a:prstGeom prst="rect">
            <a:avLst/>
          </a:prstGeom>
          <a:solidFill>
            <a:srgbClr val="D68B16"/>
          </a:solidFill>
          <a:ln w="1270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279392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8B16"/>
                </a:solidFill>
                <a:latin typeface="Noto Sans CJK TC"/>
              </a:rPr>
              <a:t>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636008"/>
            <a:ext cx="3218688" cy="78638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VPN、HTTPS、allowlist、secret rotation、固定 image digest。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4151376"/>
            <a:ext cx="3493008" cy="137160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151376"/>
            <a:ext cx="64008" cy="1371600"/>
          </a:xfrm>
          <a:prstGeom prst="rect">
            <a:avLst/>
          </a:prstGeom>
          <a:solidFill>
            <a:srgbClr val="7653A6"/>
          </a:solidFill>
          <a:ln w="1270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4279392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653A6"/>
                </a:solidFill>
                <a:latin typeface="Noto Sans CJK TC"/>
              </a:rPr>
              <a:t>可觀測性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636008"/>
            <a:ext cx="3218688" cy="78638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群組、account、model、latency、token、cost與錯誤碼 dashboard。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4151376"/>
            <a:ext cx="3493008" cy="137160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4151376"/>
            <a:ext cx="64008" cy="1371600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279392"/>
            <a:ext cx="3218688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D68"/>
                </a:solidFill>
                <a:latin typeface="Noto Sans CJK TC"/>
              </a:rPr>
              <a:t>文件與交付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636008"/>
            <a:ext cx="3218688" cy="786384"/>
          </a:xfrm>
          <a:prstGeom prst="rect">
            <a:avLst/>
          </a:prstGeom>
          <a:noFill/>
        </p:spPr>
        <p:txBody>
          <a:bodyPr wrap="square" anchor="t" lIns="38100" rIns="381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589"/>
                </a:solidFill>
                <a:latin typeface="Noto Sans CJK TC"/>
              </a:rPr>
              <a:t>建立外部 OpenClaw 設定文件、API 使用範例與回復 SOP。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" y="5870448"/>
            <a:ext cx="11027664" cy="38404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943600"/>
            <a:ext cx="10698480" cy="20116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Noto Sans CJK TC"/>
              </a:rPr>
              <a:t>完成標準：Test_Local 可由獨立 API key 穩定呼叫指定 Ollama 模型，且部署重啟後設定、路由、用量與安全策略仍一致。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