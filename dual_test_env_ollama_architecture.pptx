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AD983A-0687-4A09-B44E-9DCE2F5D80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4217EA-5962-4453-9E29-2AD0D1A9E8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66BEBE6-A3FC-4F3F-A647-6D32EA1429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604F804-AE31-4A83-9144-B4522D5FCA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C0F56AC-6291-438F-8EBB-7A92FB6A308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C685E62-0E80-440C-92C2-BF552F3496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65EEBBF-DD19-43A3-B182-B19C1E75AA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9CED05C-EA0B-46E8-953C-9DA7747FB7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5D848408-C455-4014-BD43-AFB2CDFFD18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6311C2FC-0395-4DEB-B351-F71F61242A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92E844DC-812B-46CE-B4C4-9C1067AA89A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zh-TW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&lt;日期/時間&gt;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F4C9C65-4A3E-4304-9CEE-A1148CBA11D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&lt;編號&gt;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&lt;日期/時間&gt;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846E3FB-29DE-48B5-9A9B-105F8DC8B7F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&lt;編號&gt;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&lt;日期/時間&gt;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CE5FE8-B168-493D-B3CE-C5689F0EA53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&lt;編號&gt;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&lt;日期/時間&gt;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8E68C65-501C-4E4E-85F4-B629E300298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&lt;編號&gt;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&lt;日期/時間&gt;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904E008-9456-48E2-B796-0689497B95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&lt;編號&gt;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&lt;日期/時間&gt;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763140-0E1E-4AA4-9C7B-8D895077F03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&lt;編號&gt;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&lt;日期/時間&gt;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81FEF2-0CB9-4A3A-9FF5-05BC663BB4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&lt;編號&gt;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&lt;日期/時間&gt;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878444-D68C-414C-9A1E-57A202EDA5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&lt;編號&gt;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&lt;日期/時間&gt;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657EAC6-973B-4EBC-A4E9-B7C202FC12F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&lt;編號&gt;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zh-TW" sz="1800" spc="-1" strike="noStrike">
                <a:solidFill>
                  <a:schemeClr val="dk1"/>
                </a:solidFill>
                <a:latin typeface="Calibri"/>
              </a:rPr>
              <a:t>請按這裡編輯題名文字格式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3200" spc="-1" strike="noStrike">
                <a:solidFill>
                  <a:schemeClr val="dk1"/>
                </a:solidFill>
                <a:latin typeface="Calibri"/>
              </a:rPr>
              <a:t>請按這裡編輯大綱文字格式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2400" spc="-1" strike="noStrike">
                <a:solidFill>
                  <a:schemeClr val="dk1"/>
                </a:solidFill>
                <a:latin typeface="Calibri"/>
              </a:rPr>
              <a:t>第二個大綱層次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chemeClr val="dk1"/>
                </a:solidFill>
                <a:latin typeface="Calibri"/>
              </a:rPr>
              <a:t>第三個大綱層次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2000" spc="-1" strike="noStrike">
                <a:solidFill>
                  <a:schemeClr val="dk1"/>
                </a:solidFill>
                <a:latin typeface="Calibri"/>
              </a:rPr>
              <a:t>第四個大綱層次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chemeClr val="dk1"/>
                </a:solidFill>
                <a:latin typeface="Calibri"/>
              </a:rPr>
              <a:t>第五個大綱層次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chemeClr val="dk1"/>
                </a:solidFill>
                <a:latin typeface="Calibri"/>
              </a:rPr>
              <a:t>第六個大綱層次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2000" spc="-1" strike="noStrike">
                <a:solidFill>
                  <a:schemeClr val="dk1"/>
                </a:solidFill>
                <a:latin typeface="Calibri"/>
              </a:rPr>
              <a:t>第七個大綱層次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&lt;日期/時間&gt;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B473ED-CE20-404D-8DEC-6F6DC54321C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&lt;編號&gt;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3200" spc="-1" strike="noStrike">
                <a:solidFill>
                  <a:schemeClr val="dk1"/>
                </a:solidFill>
                <a:latin typeface="Calibri"/>
              </a:rPr>
              <a:t>請按這裡編輯大綱文字格式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3200" spc="-1" strike="noStrike">
                <a:solidFill>
                  <a:schemeClr val="dk1"/>
                </a:solidFill>
                <a:latin typeface="Calibri"/>
              </a:rPr>
              <a:t>第二個大綱層次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3200" spc="-1" strike="noStrike">
                <a:solidFill>
                  <a:schemeClr val="dk1"/>
                </a:solidFill>
                <a:latin typeface="Calibri"/>
              </a:rPr>
              <a:t>第三個大綱層次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TW" sz="3200" spc="-1" strike="noStrike">
                <a:solidFill>
                  <a:schemeClr val="dk1"/>
                </a:solidFill>
                <a:latin typeface="Calibri"/>
              </a:rPr>
              <a:t>第四個大綱層次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3200" spc="-1" strike="noStrike">
                <a:solidFill>
                  <a:schemeClr val="dk1"/>
                </a:solidFill>
                <a:latin typeface="Calibri"/>
              </a:rPr>
              <a:t>第五個大綱層次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3200" spc="-1" strike="noStrike">
                <a:solidFill>
                  <a:schemeClr val="dk1"/>
                </a:solidFill>
                <a:latin typeface="Calibri"/>
              </a:rPr>
              <a:t>第六個大綱層次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TW" sz="3200" spc="-1" strike="noStrike">
                <a:solidFill>
                  <a:schemeClr val="dk1"/>
                </a:solidFill>
                <a:latin typeface="Calibri"/>
              </a:rPr>
              <a:t>第七個大綱層次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&lt;日期/時間&gt;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&lt;頁尾&gt;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F39829-202C-4A16-8C74-DB70ED0E2F0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&lt;編號&gt;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Oval 2"/>
          <p:cNvSpPr/>
          <p:nvPr/>
        </p:nvSpPr>
        <p:spPr>
          <a:xfrm>
            <a:off x="-365760" y="-274320"/>
            <a:ext cx="3474360" cy="3474360"/>
          </a:xfrm>
          <a:prstGeom prst="ellipse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Oval 3"/>
          <p:cNvSpPr/>
          <p:nvPr/>
        </p:nvSpPr>
        <p:spPr>
          <a:xfrm>
            <a:off x="8503920" y="-274320"/>
            <a:ext cx="3931560" cy="347436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Oval 4"/>
          <p:cNvSpPr/>
          <p:nvPr/>
        </p:nvSpPr>
        <p:spPr>
          <a:xfrm>
            <a:off x="8046720" y="4389120"/>
            <a:ext cx="4023000" cy="2468520"/>
          </a:xfrm>
          <a:prstGeom prst="ellipse">
            <a:avLst/>
          </a:prstGeom>
          <a:solidFill>
            <a:srgbClr val="fef3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Rounded Rectangle 5"/>
          <p:cNvSpPr/>
          <p:nvPr/>
        </p:nvSpPr>
        <p:spPr>
          <a:xfrm>
            <a:off x="201240" y="164520"/>
            <a:ext cx="11786400" cy="65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475560" y="2926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563eb"/>
                </a:solidFill>
                <a:latin typeface="Noto Sans CJK TC"/>
              </a:rPr>
              <a:t>OpenClaw / Shared Ollama 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475560" y="511920"/>
            <a:ext cx="877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TW" sz="2400" spc="-1" strike="noStrike">
                <a:solidFill>
                  <a:srgbClr val="0f172a"/>
                </a:solidFill>
                <a:latin typeface="Noto Sans CJK TC"/>
              </a:rPr>
              <a:t>雙測試環境共用 </a:t>
            </a:r>
            <a:r>
              <a:rPr b="1" lang="en-US" sz="2400" spc="-1" strike="noStrike">
                <a:solidFill>
                  <a:srgbClr val="0f172a"/>
                </a:solidFill>
                <a:latin typeface="Noto Sans CJK TC"/>
              </a:rPr>
              <a:t>DGX GB10 Ollama </a:t>
            </a:r>
            <a:r>
              <a:rPr b="1" lang="zh-TW" sz="2400" spc="-1" strike="noStrike">
                <a:solidFill>
                  <a:srgbClr val="0f172a"/>
                </a:solidFill>
                <a:latin typeface="Noto Sans CJK TC"/>
              </a:rPr>
              <a:t>的 </a:t>
            </a:r>
            <a:r>
              <a:rPr b="1" lang="en-US" sz="2400" spc="-1" strike="noStrike">
                <a:solidFill>
                  <a:srgbClr val="0f172a"/>
                </a:solidFill>
                <a:latin typeface="Noto Sans CJK TC"/>
              </a:rPr>
              <a:t>OpenClaw </a:t>
            </a:r>
            <a:r>
              <a:rPr b="1" lang="zh-TW" sz="2400" spc="-1" strike="noStrike">
                <a:solidFill>
                  <a:srgbClr val="0f172a"/>
                </a:solidFill>
                <a:latin typeface="Noto Sans CJK TC"/>
              </a:rPr>
              <a:t>架構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475560" y="896040"/>
            <a:ext cx="9600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Anritsu MT8000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與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Amarisoft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各自有獨立的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OpenClaw AI Agent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，用來切換與控制儀器；兩邊共用同一台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DGX GB10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上的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Ollama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推論服務。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ounded Rectangle 9"/>
          <p:cNvSpPr/>
          <p:nvPr/>
        </p:nvSpPr>
        <p:spPr>
          <a:xfrm>
            <a:off x="9802440" y="457200"/>
            <a:ext cx="1645560" cy="2739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ef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1d4ed8"/>
                </a:solidFill>
                <a:latin typeface="Noto Sans CJK TC"/>
              </a:rPr>
              <a:t>架構簡報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ounded Rectangle 10"/>
          <p:cNvSpPr/>
          <p:nvPr/>
        </p:nvSpPr>
        <p:spPr>
          <a:xfrm>
            <a:off x="658440" y="1572840"/>
            <a:ext cx="384012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2563eb"/>
                </a:solidFill>
                <a:latin typeface="Noto Sans CJK TC"/>
              </a:rPr>
              <a:t>核心概念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兩個測試環境各自獨立運作，但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LLM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推論層集中到同一台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DGX GB10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，方便統一維運與模型管理。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ounded Rectangle 11"/>
          <p:cNvSpPr/>
          <p:nvPr/>
        </p:nvSpPr>
        <p:spPr>
          <a:xfrm>
            <a:off x="658440" y="2926080"/>
            <a:ext cx="384012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6a34a"/>
                </a:solidFill>
                <a:latin typeface="Noto Sans CJK TC"/>
              </a:rPr>
              <a:t>Anritsu MT8000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OpenClaw Agent A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使用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qwen3.5:35b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，負責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Anritsu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測試流程與儀器切換。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12"/>
          <p:cNvSpPr/>
          <p:nvPr/>
        </p:nvSpPr>
        <p:spPr>
          <a:xfrm>
            <a:off x="658440" y="4279320"/>
            <a:ext cx="3840120" cy="117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d97706"/>
                </a:solidFill>
                <a:latin typeface="Noto Sans CJK TC"/>
              </a:rPr>
              <a:t>Amarisoft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OpenClaw Agent B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使用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gemma4:12b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，負責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Amarisoft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測試流程與儀器切換。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Rounded Rectangle 13"/>
          <p:cNvSpPr/>
          <p:nvPr/>
        </p:nvSpPr>
        <p:spPr>
          <a:xfrm>
            <a:off x="4754880" y="1719000"/>
            <a:ext cx="6309000" cy="1481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047857"/>
                </a:solidFill>
                <a:latin typeface="Noto Sans CJK TC"/>
              </a:rPr>
              <a:t>投影片會說明什麼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1.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整體架構與資料流向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2.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兩個環境各自的責任邊界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3.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共用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Ollama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的模型分派方式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4.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這樣設計的好處與注意事項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ounded Rectangle 14"/>
          <p:cNvSpPr/>
          <p:nvPr/>
        </p:nvSpPr>
        <p:spPr>
          <a:xfrm>
            <a:off x="4773240" y="3730680"/>
            <a:ext cx="1389600" cy="2739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ecfd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047857"/>
                </a:solidFill>
                <a:latin typeface="Noto Sans CJK TC"/>
              </a:rPr>
              <a:t>共用推論層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ounded Rectangle 15"/>
          <p:cNvSpPr/>
          <p:nvPr/>
        </p:nvSpPr>
        <p:spPr>
          <a:xfrm>
            <a:off x="6291000" y="3730680"/>
            <a:ext cx="1481040" cy="27396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b45309"/>
                </a:solidFill>
                <a:latin typeface="Noto Sans CJK TC"/>
              </a:rPr>
              <a:t>環境隔離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ounded Rectangle 16"/>
          <p:cNvSpPr/>
          <p:nvPr/>
        </p:nvSpPr>
        <p:spPr>
          <a:xfrm>
            <a:off x="7882200" y="3730680"/>
            <a:ext cx="1499400" cy="27396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dbea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1d4ed8"/>
                </a:solidFill>
                <a:latin typeface="Noto Sans CJK TC"/>
              </a:rPr>
              <a:t>模型分工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17"/>
          <p:cNvSpPr/>
          <p:nvPr/>
        </p:nvSpPr>
        <p:spPr>
          <a:xfrm>
            <a:off x="4754880" y="4160520"/>
            <a:ext cx="630900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1d4ed8"/>
                </a:solidFill>
                <a:latin typeface="Noto Sans CJK TC"/>
              </a:rPr>
              <a:t>一句話總結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兩個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OpenClaw Agent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分別控制不同的測試儀器環境，但都把腦袋接到同一台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DGX GB10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上的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Ollama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，依環境使用不同模型。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5" name="Oval 2"/>
          <p:cNvSpPr/>
          <p:nvPr/>
        </p:nvSpPr>
        <p:spPr>
          <a:xfrm>
            <a:off x="-365760" y="-274320"/>
            <a:ext cx="3474360" cy="3474360"/>
          </a:xfrm>
          <a:prstGeom prst="ellipse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Oval 3"/>
          <p:cNvSpPr/>
          <p:nvPr/>
        </p:nvSpPr>
        <p:spPr>
          <a:xfrm>
            <a:off x="8503920" y="-274320"/>
            <a:ext cx="3931560" cy="347436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Oval 4"/>
          <p:cNvSpPr/>
          <p:nvPr/>
        </p:nvSpPr>
        <p:spPr>
          <a:xfrm>
            <a:off x="8046720" y="4389120"/>
            <a:ext cx="4023000" cy="2468520"/>
          </a:xfrm>
          <a:prstGeom prst="ellipse">
            <a:avLst/>
          </a:prstGeom>
          <a:solidFill>
            <a:srgbClr val="fef3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ounded Rectangle 5"/>
          <p:cNvSpPr/>
          <p:nvPr/>
        </p:nvSpPr>
        <p:spPr>
          <a:xfrm>
            <a:off x="201240" y="164520"/>
            <a:ext cx="11786400" cy="65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475560" y="2926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563eb"/>
                </a:solidFill>
                <a:latin typeface="Noto Sans CJK TC"/>
              </a:rPr>
              <a:t>OpenClaw / Shared Ollama 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7"/>
          <p:cNvSpPr/>
          <p:nvPr/>
        </p:nvSpPr>
        <p:spPr>
          <a:xfrm>
            <a:off x="475560" y="511920"/>
            <a:ext cx="877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TW" sz="2400" spc="-1" strike="noStrike">
                <a:solidFill>
                  <a:srgbClr val="0f172a"/>
                </a:solidFill>
                <a:latin typeface="Noto Sans CJK TC"/>
              </a:rPr>
              <a:t>雙環境共用同一台 </a:t>
            </a:r>
            <a:r>
              <a:rPr b="1" lang="en-US" sz="2400" spc="-1" strike="noStrike">
                <a:solidFill>
                  <a:srgbClr val="0f172a"/>
                </a:solidFill>
                <a:latin typeface="Noto Sans CJK TC"/>
              </a:rPr>
              <a:t>DGX GB10 </a:t>
            </a:r>
            <a:r>
              <a:rPr b="1" lang="zh-TW" sz="2400" spc="-1" strike="noStrike">
                <a:solidFill>
                  <a:srgbClr val="0f172a"/>
                </a:solidFill>
                <a:latin typeface="Noto Sans CJK TC"/>
              </a:rPr>
              <a:t>的 </a:t>
            </a:r>
            <a:r>
              <a:rPr b="1" lang="en-US" sz="2400" spc="-1" strike="noStrike">
                <a:solidFill>
                  <a:srgbClr val="0f172a"/>
                </a:solidFill>
                <a:latin typeface="Noto Sans CJK TC"/>
              </a:rPr>
              <a:t>LLM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8"/>
          <p:cNvSpPr/>
          <p:nvPr/>
        </p:nvSpPr>
        <p:spPr>
          <a:xfrm>
            <a:off x="475560" y="896040"/>
            <a:ext cx="9600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Anritsu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與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Amarisoft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各自保留獨立的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OpenClaw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控制層，但兩邊都把推論請求送到同一台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DGX GB10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上的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Ollama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ounded Rectangle 9"/>
          <p:cNvSpPr/>
          <p:nvPr/>
        </p:nvSpPr>
        <p:spPr>
          <a:xfrm>
            <a:off x="9802440" y="457200"/>
            <a:ext cx="1645560" cy="2739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ecfd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047857"/>
                </a:solidFill>
                <a:latin typeface="Noto Sans CJK TC"/>
              </a:rPr>
              <a:t>總覽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ounded Rectangle 10"/>
          <p:cNvSpPr/>
          <p:nvPr/>
        </p:nvSpPr>
        <p:spPr>
          <a:xfrm>
            <a:off x="786240" y="1572840"/>
            <a:ext cx="1608840" cy="27396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dbea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1d4ed8"/>
                </a:solidFill>
                <a:latin typeface="Noto Sans CJK TC"/>
              </a:rPr>
              <a:t>Anritsu </a:t>
            </a:r>
            <a:r>
              <a:rPr b="0" lang="zh-TW" sz="850" spc="-1" strike="noStrike">
                <a:solidFill>
                  <a:srgbClr val="1d4ed8"/>
                </a:solidFill>
                <a:latin typeface="Noto Sans CJK TC"/>
              </a:rPr>
              <a:t>環境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Rounded Rectangle 11"/>
          <p:cNvSpPr/>
          <p:nvPr/>
        </p:nvSpPr>
        <p:spPr>
          <a:xfrm>
            <a:off x="9784080" y="1572840"/>
            <a:ext cx="1700280" cy="27396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b45309"/>
                </a:solidFill>
                <a:latin typeface="Noto Sans CJK TC"/>
              </a:rPr>
              <a:t>Amarisoft </a:t>
            </a:r>
            <a:r>
              <a:rPr b="0" lang="zh-TW" sz="850" spc="-1" strike="noStrike">
                <a:solidFill>
                  <a:srgbClr val="b45309"/>
                </a:solidFill>
                <a:latin typeface="Noto Sans CJK TC"/>
              </a:rPr>
              <a:t>環境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12"/>
          <p:cNvSpPr/>
          <p:nvPr/>
        </p:nvSpPr>
        <p:spPr>
          <a:xfrm>
            <a:off x="4526280" y="1463040"/>
            <a:ext cx="2605680" cy="2739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ecfd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047857"/>
                </a:solidFill>
                <a:latin typeface="Noto Sans CJK TC"/>
              </a:rPr>
              <a:t>共用 </a:t>
            </a:r>
            <a:r>
              <a:rPr b="0" lang="en-US" sz="850" spc="-1" strike="noStrike">
                <a:solidFill>
                  <a:srgbClr val="047857"/>
                </a:solidFill>
                <a:latin typeface="Noto Sans CJK TC"/>
              </a:rPr>
              <a:t>DGX GB10 LLM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ounded Rectangle 13"/>
          <p:cNvSpPr/>
          <p:nvPr/>
        </p:nvSpPr>
        <p:spPr>
          <a:xfrm>
            <a:off x="658440" y="1920240"/>
            <a:ext cx="292572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563eb"/>
                </a:solidFill>
                <a:latin typeface="Noto Sans CJK TC"/>
              </a:rPr>
              <a:t>OpenClaw 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獨立控制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Anritsu MT8000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模型：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qwen3.5:35b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職責：流程判斷、儀器切換、回覆生成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ounded Rectangle 14"/>
          <p:cNvSpPr/>
          <p:nvPr/>
        </p:nvSpPr>
        <p:spPr>
          <a:xfrm>
            <a:off x="8595360" y="1920240"/>
            <a:ext cx="2925720" cy="1874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d97706"/>
                </a:solidFill>
                <a:latin typeface="Noto Sans CJK TC"/>
              </a:rPr>
              <a:t>OpenClaw 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獨立控制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Amarisoft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模型：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gemma4:12b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職責：流程判斷、儀器切換、回覆生成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ounded Rectangle 15"/>
          <p:cNvSpPr/>
          <p:nvPr/>
        </p:nvSpPr>
        <p:spPr>
          <a:xfrm>
            <a:off x="4096440" y="1847160"/>
            <a:ext cx="3894840" cy="21758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47857"/>
                </a:solidFill>
                <a:latin typeface="Noto Sans CJK TC"/>
              </a:rPr>
              <a:t>DGX GB10 / Ollama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同一台推論主機提供兩邊共用的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LLM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服務。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Endpoint: http://61.216.9.52:11434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OpenAI compatible: /v1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左、右兩個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OpenClaw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都連到這一層。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99" name="Connector 16"/>
          <p:cNvCxnSpPr/>
          <p:nvPr/>
        </p:nvCxnSpPr>
        <p:spPr>
          <a:xfrm>
            <a:off x="3584160" y="2761200"/>
            <a:ext cx="512640" cy="360"/>
          </a:xfrm>
          <a:prstGeom prst="straightConnector1">
            <a:avLst/>
          </a:prstGeom>
          <a:ln>
            <a:solidFill>
              <a:srgbClr val="8ea2be"/>
            </a:solidFill>
            <a:round/>
          </a:ln>
        </p:spPr>
      </p:cxnSp>
      <p:cxnSp>
        <p:nvCxnSpPr>
          <p:cNvPr id="100" name="Connector 17"/>
          <p:cNvCxnSpPr/>
          <p:nvPr/>
        </p:nvCxnSpPr>
        <p:spPr>
          <a:xfrm>
            <a:off x="7991640" y="2761200"/>
            <a:ext cx="604080" cy="360"/>
          </a:xfrm>
          <a:prstGeom prst="straightConnector1">
            <a:avLst/>
          </a:prstGeom>
          <a:ln>
            <a:solidFill>
              <a:srgbClr val="8ea2be"/>
            </a:solidFill>
            <a:round/>
          </a:ln>
        </p:spPr>
      </p:cxnSp>
      <p:sp>
        <p:nvSpPr>
          <p:cNvPr id="101" name="Rounded Rectangle 20"/>
          <p:cNvSpPr/>
          <p:nvPr/>
        </p:nvSpPr>
        <p:spPr>
          <a:xfrm>
            <a:off x="822960" y="4096440"/>
            <a:ext cx="1663920" cy="2739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ef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1d4ed8"/>
                </a:solidFill>
                <a:latin typeface="Noto Sans CJK TC"/>
              </a:rPr>
              <a:t>獨立控制層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ounded Rectangle 21"/>
          <p:cNvSpPr/>
          <p:nvPr/>
        </p:nvSpPr>
        <p:spPr>
          <a:xfrm>
            <a:off x="2615040" y="4096440"/>
            <a:ext cx="1627200" cy="27396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ef2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4338ca"/>
                </a:solidFill>
                <a:latin typeface="Noto Sans CJK TC"/>
              </a:rPr>
              <a:t>各自工具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ounded Rectangle 22"/>
          <p:cNvSpPr/>
          <p:nvPr/>
        </p:nvSpPr>
        <p:spPr>
          <a:xfrm>
            <a:off x="4572000" y="4096440"/>
            <a:ext cx="1718640" cy="2739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ecfd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047857"/>
                </a:solidFill>
                <a:latin typeface="Noto Sans CJK TC"/>
              </a:rPr>
              <a:t>共用 </a:t>
            </a:r>
            <a:r>
              <a:rPr b="0" lang="en-US" sz="850" spc="-1" strike="noStrike">
                <a:solidFill>
                  <a:srgbClr val="047857"/>
                </a:solidFill>
                <a:latin typeface="Noto Sans CJK TC"/>
              </a:rPr>
              <a:t>LLM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ounded Rectangle 23"/>
          <p:cNvSpPr/>
          <p:nvPr/>
        </p:nvSpPr>
        <p:spPr>
          <a:xfrm>
            <a:off x="9162360" y="4096440"/>
            <a:ext cx="1773720" cy="27396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b45309"/>
                </a:solidFill>
                <a:latin typeface="Noto Sans CJK TC"/>
              </a:rPr>
              <a:t>互不干擾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ounded Rectangle 24"/>
          <p:cNvSpPr/>
          <p:nvPr/>
        </p:nvSpPr>
        <p:spPr>
          <a:xfrm>
            <a:off x="749880" y="5102280"/>
            <a:ext cx="10835280" cy="9140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2563eb"/>
                </a:solidFill>
                <a:latin typeface="Noto Sans CJK TC"/>
              </a:rPr>
              <a:t>設計原則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Anritsu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與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Amarisoft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各自保留自己的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OpenClaw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與操作邏輯，避免互相干擾；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LLM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推論則集中在同一台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DGX GB10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，讓模型升級、監控與資源管理更簡單。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7" name="Oval 2"/>
          <p:cNvSpPr/>
          <p:nvPr/>
        </p:nvSpPr>
        <p:spPr>
          <a:xfrm>
            <a:off x="-365760" y="-274320"/>
            <a:ext cx="3474360" cy="3474360"/>
          </a:xfrm>
          <a:prstGeom prst="ellipse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Oval 3"/>
          <p:cNvSpPr/>
          <p:nvPr/>
        </p:nvSpPr>
        <p:spPr>
          <a:xfrm>
            <a:off x="8503920" y="-274320"/>
            <a:ext cx="3931560" cy="347436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Oval 4"/>
          <p:cNvSpPr/>
          <p:nvPr/>
        </p:nvSpPr>
        <p:spPr>
          <a:xfrm>
            <a:off x="8046720" y="4389120"/>
            <a:ext cx="4023000" cy="2468520"/>
          </a:xfrm>
          <a:prstGeom prst="ellipse">
            <a:avLst/>
          </a:prstGeom>
          <a:solidFill>
            <a:srgbClr val="fef3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Rounded Rectangle 5"/>
          <p:cNvSpPr/>
          <p:nvPr/>
        </p:nvSpPr>
        <p:spPr>
          <a:xfrm>
            <a:off x="201240" y="164520"/>
            <a:ext cx="11786400" cy="65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6"/>
          <p:cNvSpPr/>
          <p:nvPr/>
        </p:nvSpPr>
        <p:spPr>
          <a:xfrm>
            <a:off x="475560" y="2926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563eb"/>
                </a:solidFill>
                <a:latin typeface="Noto Sans CJK TC"/>
              </a:rPr>
              <a:t>OpenClaw / Shared Ollama 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475560" y="511920"/>
            <a:ext cx="877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f172a"/>
                </a:solidFill>
                <a:latin typeface="Noto Sans CJK TC"/>
              </a:rPr>
              <a:t>Anritsu MT8000 </a:t>
            </a:r>
            <a:r>
              <a:rPr b="1" lang="zh-TW" sz="2400" spc="-1" strike="noStrike">
                <a:solidFill>
                  <a:srgbClr val="0f172a"/>
                </a:solidFill>
                <a:latin typeface="Noto Sans CJK TC"/>
              </a:rPr>
              <a:t>環境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Box 8"/>
          <p:cNvSpPr/>
          <p:nvPr/>
        </p:nvSpPr>
        <p:spPr>
          <a:xfrm>
            <a:off x="475560" y="896040"/>
            <a:ext cx="9600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這一組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OpenClaw Agent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只負責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Anritsu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測試流程，並使用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DGX GB10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上的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qwen3.5:35b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9"/>
          <p:cNvSpPr/>
          <p:nvPr/>
        </p:nvSpPr>
        <p:spPr>
          <a:xfrm>
            <a:off x="9802440" y="457200"/>
            <a:ext cx="1645560" cy="27396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dbea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1d4ed8"/>
                </a:solidFill>
                <a:latin typeface="Noto Sans CJK TC"/>
              </a:rPr>
              <a:t>Anritsu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Rounded Rectangle 10"/>
          <p:cNvSpPr/>
          <p:nvPr/>
        </p:nvSpPr>
        <p:spPr>
          <a:xfrm>
            <a:off x="658440" y="157284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2563eb"/>
                </a:solidFill>
                <a:latin typeface="Noto Sans CJK TC"/>
              </a:rPr>
              <a:t>使用者 </a:t>
            </a:r>
            <a:r>
              <a:rPr b="1" lang="en-US" sz="1300" spc="-1" strike="noStrike">
                <a:solidFill>
                  <a:srgbClr val="2563eb"/>
                </a:solidFill>
                <a:latin typeface="Noto Sans CJK TC"/>
              </a:rPr>
              <a:t>/ </a:t>
            </a:r>
            <a:r>
              <a:rPr b="1" lang="zh-TW" sz="1300" spc="-1" strike="noStrike">
                <a:solidFill>
                  <a:srgbClr val="2563eb"/>
                </a:solidFill>
                <a:latin typeface="Noto Sans CJK TC"/>
              </a:rPr>
              <a:t>測試工程師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輸入測試目標、選擇情境、要求切換儀器。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11"/>
          <p:cNvSpPr/>
          <p:nvPr/>
        </p:nvSpPr>
        <p:spPr>
          <a:xfrm>
            <a:off x="658440" y="274320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6a34a"/>
                </a:solidFill>
                <a:latin typeface="Noto Sans CJK TC"/>
              </a:rPr>
              <a:t>OpenClaw Agent 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解析指令、選擇步驟、調度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Anritsu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相關工具。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ounded Rectangle 12"/>
          <p:cNvSpPr/>
          <p:nvPr/>
        </p:nvSpPr>
        <p:spPr>
          <a:xfrm>
            <a:off x="658440" y="391356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d97706"/>
                </a:solidFill>
                <a:latin typeface="Noto Sans CJK TC"/>
              </a:rPr>
              <a:t>Anritsu MT8000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執行測試、切換設定、回傳結果。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8" name="Connector 13"/>
          <p:cNvCxnSpPr/>
          <p:nvPr/>
        </p:nvCxnSpPr>
        <p:spPr>
          <a:xfrm>
            <a:off x="4005000" y="2048040"/>
            <a:ext cx="768240" cy="360"/>
          </a:xfrm>
          <a:prstGeom prst="straightConnector1">
            <a:avLst/>
          </a:prstGeom>
          <a:ln>
            <a:solidFill>
              <a:srgbClr val="8ea2be"/>
            </a:solidFill>
            <a:round/>
          </a:ln>
        </p:spPr>
      </p:cxnSp>
      <p:cxnSp>
        <p:nvCxnSpPr>
          <p:cNvPr id="119" name="Connector 14"/>
          <p:cNvCxnSpPr/>
          <p:nvPr/>
        </p:nvCxnSpPr>
        <p:spPr>
          <a:xfrm>
            <a:off x="4005000" y="3218400"/>
            <a:ext cx="768240" cy="360"/>
          </a:xfrm>
          <a:prstGeom prst="straightConnector1">
            <a:avLst/>
          </a:prstGeom>
          <a:ln>
            <a:solidFill>
              <a:srgbClr val="8ea2be"/>
            </a:solidFill>
            <a:round/>
          </a:ln>
        </p:spPr>
      </p:cxnSp>
      <p:sp>
        <p:nvSpPr>
          <p:cNvPr id="120" name="Rounded Rectangle 15"/>
          <p:cNvSpPr/>
          <p:nvPr/>
        </p:nvSpPr>
        <p:spPr>
          <a:xfrm>
            <a:off x="4800600" y="1572840"/>
            <a:ext cx="338292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047857"/>
                </a:solidFill>
                <a:latin typeface="Noto Sans CJK TC"/>
              </a:rPr>
              <a:t>模型配置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model: qwen3.5:35b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用途：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Anritsu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測試判斷、流程編排、回覆生成。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ounded Rectangle 16"/>
          <p:cNvSpPr/>
          <p:nvPr/>
        </p:nvSpPr>
        <p:spPr>
          <a:xfrm>
            <a:off x="4800600" y="2834640"/>
            <a:ext cx="338292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d4ed8"/>
                </a:solidFill>
                <a:latin typeface="Noto Sans CJK TC"/>
              </a:rPr>
              <a:t>LLM </a:t>
            </a:r>
            <a:r>
              <a:rPr b="1" lang="zh-TW" sz="1300" spc="-1" strike="noStrike">
                <a:solidFill>
                  <a:srgbClr val="1d4ed8"/>
                </a:solidFill>
                <a:latin typeface="Noto Sans CJK TC"/>
              </a:rPr>
              <a:t>角色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負責理解操作意圖，例如切換測項、改變測試步驟或查詢目前狀態。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ounded Rectangle 17"/>
          <p:cNvSpPr/>
          <p:nvPr/>
        </p:nvSpPr>
        <p:spPr>
          <a:xfrm>
            <a:off x="4800600" y="4096440"/>
            <a:ext cx="338292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b45309"/>
                </a:solidFill>
                <a:latin typeface="Noto Sans CJK TC"/>
              </a:rPr>
              <a:t>控制邊界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只處理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Anritsu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這個環境的儀器，不直接碰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Amarisoft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Rounded Rectangle 18"/>
          <p:cNvSpPr/>
          <p:nvPr/>
        </p:nvSpPr>
        <p:spPr>
          <a:xfrm>
            <a:off x="8485560" y="1792080"/>
            <a:ext cx="2880000" cy="276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563eb"/>
                </a:solidFill>
                <a:latin typeface="Noto Sans CJK TC"/>
              </a:rPr>
              <a:t>Anritsu </a:t>
            </a:r>
            <a:r>
              <a:rPr b="1" lang="zh-TW" sz="1300" spc="-1" strike="noStrike">
                <a:solidFill>
                  <a:srgbClr val="2563eb"/>
                </a:solidFill>
                <a:latin typeface="Noto Sans CJK TC"/>
              </a:rPr>
              <a:t>流程建議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1.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使用者發送需求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2. OpenClaw Agent A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判斷是否要切換儀器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3.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呼叫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Anritsu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工具或腳本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4.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將結果送回使用者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優點：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-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風險隔離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-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可獨立調整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prompt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-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出錯時只影響單一環境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ounded Rectangle 19"/>
          <p:cNvSpPr/>
          <p:nvPr/>
        </p:nvSpPr>
        <p:spPr>
          <a:xfrm>
            <a:off x="768240" y="5230440"/>
            <a:ext cx="1572480" cy="2739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ef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1d4ed8"/>
                </a:solidFill>
                <a:latin typeface="Noto Sans CJK TC"/>
              </a:rPr>
              <a:t>專用 </a:t>
            </a:r>
            <a:r>
              <a:rPr b="0" lang="en-US" sz="850" spc="-1" strike="noStrike">
                <a:solidFill>
                  <a:srgbClr val="1d4ed8"/>
                </a:solidFill>
                <a:latin typeface="Noto Sans CJK TC"/>
              </a:rPr>
              <a:t>Agent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ounded Rectangle 20"/>
          <p:cNvSpPr/>
          <p:nvPr/>
        </p:nvSpPr>
        <p:spPr>
          <a:xfrm>
            <a:off x="2450520" y="5230440"/>
            <a:ext cx="1627200" cy="2739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ecfd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047857"/>
                </a:solidFill>
                <a:latin typeface="Noto Sans CJK TC"/>
              </a:rPr>
              <a:t>qwen3.5:35b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ounded Rectangle 21"/>
          <p:cNvSpPr/>
          <p:nvPr/>
        </p:nvSpPr>
        <p:spPr>
          <a:xfrm>
            <a:off x="4187880" y="5230440"/>
            <a:ext cx="1700280" cy="27396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b45309"/>
                </a:solidFill>
                <a:latin typeface="Noto Sans CJK TC"/>
              </a:rPr>
              <a:t>Anritsu </a:t>
            </a:r>
            <a:r>
              <a:rPr b="0" lang="zh-TW" sz="850" spc="-1" strike="noStrike">
                <a:solidFill>
                  <a:srgbClr val="b45309"/>
                </a:solidFill>
                <a:latin typeface="Noto Sans CJK TC"/>
              </a:rPr>
              <a:t>專屬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22"/>
          <p:cNvSpPr/>
          <p:nvPr/>
        </p:nvSpPr>
        <p:spPr>
          <a:xfrm>
            <a:off x="5998320" y="5230440"/>
            <a:ext cx="1663920" cy="27396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ef2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4338ca"/>
                </a:solidFill>
                <a:latin typeface="Noto Sans CJK TC"/>
              </a:rPr>
              <a:t>儀器切換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Oval 2"/>
          <p:cNvSpPr/>
          <p:nvPr/>
        </p:nvSpPr>
        <p:spPr>
          <a:xfrm>
            <a:off x="-365760" y="-274320"/>
            <a:ext cx="3474360" cy="3474360"/>
          </a:xfrm>
          <a:prstGeom prst="ellipse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Oval 3"/>
          <p:cNvSpPr/>
          <p:nvPr/>
        </p:nvSpPr>
        <p:spPr>
          <a:xfrm>
            <a:off x="8503920" y="-274320"/>
            <a:ext cx="3931560" cy="347436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Oval 4"/>
          <p:cNvSpPr/>
          <p:nvPr/>
        </p:nvSpPr>
        <p:spPr>
          <a:xfrm>
            <a:off x="8046720" y="4389120"/>
            <a:ext cx="4023000" cy="2468520"/>
          </a:xfrm>
          <a:prstGeom prst="ellipse">
            <a:avLst/>
          </a:prstGeom>
          <a:solidFill>
            <a:srgbClr val="fef3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Rounded Rectangle 5"/>
          <p:cNvSpPr/>
          <p:nvPr/>
        </p:nvSpPr>
        <p:spPr>
          <a:xfrm>
            <a:off x="201240" y="164520"/>
            <a:ext cx="11786400" cy="65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475560" y="2926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563eb"/>
                </a:solidFill>
                <a:latin typeface="Noto Sans CJK TC"/>
              </a:rPr>
              <a:t>OpenClaw / Shared Ollama 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7"/>
          <p:cNvSpPr/>
          <p:nvPr/>
        </p:nvSpPr>
        <p:spPr>
          <a:xfrm>
            <a:off x="475560" y="511920"/>
            <a:ext cx="877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f172a"/>
                </a:solidFill>
                <a:latin typeface="Noto Sans CJK TC"/>
              </a:rPr>
              <a:t>Amarisoft </a:t>
            </a:r>
            <a:r>
              <a:rPr b="1" lang="zh-TW" sz="2400" spc="-1" strike="noStrike">
                <a:solidFill>
                  <a:srgbClr val="0f172a"/>
                </a:solidFill>
                <a:latin typeface="Noto Sans CJK TC"/>
              </a:rPr>
              <a:t>環境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475560" y="896040"/>
            <a:ext cx="9600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另一組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OpenClaw Agent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專門負責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Amarisoft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測試流程，並使用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DGX GB10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上的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gemma4:12b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Rounded Rectangle 9"/>
          <p:cNvSpPr/>
          <p:nvPr/>
        </p:nvSpPr>
        <p:spPr>
          <a:xfrm>
            <a:off x="9802440" y="457200"/>
            <a:ext cx="1645560" cy="27396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b45309"/>
                </a:solidFill>
                <a:latin typeface="Noto Sans CJK TC"/>
              </a:rPr>
              <a:t>Amarisoft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ounded Rectangle 10"/>
          <p:cNvSpPr/>
          <p:nvPr/>
        </p:nvSpPr>
        <p:spPr>
          <a:xfrm>
            <a:off x="658440" y="157284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2563eb"/>
                </a:solidFill>
                <a:latin typeface="Noto Sans CJK TC"/>
              </a:rPr>
              <a:t>使用者 </a:t>
            </a:r>
            <a:r>
              <a:rPr b="1" lang="en-US" sz="1300" spc="-1" strike="noStrike">
                <a:solidFill>
                  <a:srgbClr val="2563eb"/>
                </a:solidFill>
                <a:latin typeface="Noto Sans CJK TC"/>
              </a:rPr>
              <a:t>/ </a:t>
            </a:r>
            <a:r>
              <a:rPr b="1" lang="zh-TW" sz="1300" spc="-1" strike="noStrike">
                <a:solidFill>
                  <a:srgbClr val="2563eb"/>
                </a:solidFill>
                <a:latin typeface="Noto Sans CJK TC"/>
              </a:rPr>
              <a:t>測試工程師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選擇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Amarisoft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測試情境、下達切換或執行命令。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ounded Rectangle 11"/>
          <p:cNvSpPr/>
          <p:nvPr/>
        </p:nvSpPr>
        <p:spPr>
          <a:xfrm>
            <a:off x="658440" y="274320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6a34a"/>
                </a:solidFill>
                <a:latin typeface="Noto Sans CJK TC"/>
              </a:rPr>
              <a:t>OpenClaw Agent B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解析指令、管理流程、調度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Amarisoft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工具。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12"/>
          <p:cNvSpPr/>
          <p:nvPr/>
        </p:nvSpPr>
        <p:spPr>
          <a:xfrm>
            <a:off x="658440" y="3913560"/>
            <a:ext cx="333720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d97706"/>
                </a:solidFill>
                <a:latin typeface="Noto Sans CJK TC"/>
              </a:rPr>
              <a:t>Amarisoft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執行控制、切換配置、輸出測試結果。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40" name="Connector 13"/>
          <p:cNvCxnSpPr/>
          <p:nvPr/>
        </p:nvCxnSpPr>
        <p:spPr>
          <a:xfrm>
            <a:off x="4005000" y="2048040"/>
            <a:ext cx="768240" cy="360"/>
          </a:xfrm>
          <a:prstGeom prst="straightConnector1">
            <a:avLst/>
          </a:prstGeom>
          <a:ln>
            <a:solidFill>
              <a:srgbClr val="8ea2be"/>
            </a:solidFill>
            <a:round/>
          </a:ln>
        </p:spPr>
      </p:cxnSp>
      <p:cxnSp>
        <p:nvCxnSpPr>
          <p:cNvPr id="141" name="Connector 14"/>
          <p:cNvCxnSpPr/>
          <p:nvPr/>
        </p:nvCxnSpPr>
        <p:spPr>
          <a:xfrm>
            <a:off x="4005000" y="3218400"/>
            <a:ext cx="768240" cy="360"/>
          </a:xfrm>
          <a:prstGeom prst="straightConnector1">
            <a:avLst/>
          </a:prstGeom>
          <a:ln>
            <a:solidFill>
              <a:srgbClr val="8ea2be"/>
            </a:solidFill>
            <a:round/>
          </a:ln>
        </p:spPr>
      </p:cxnSp>
      <p:sp>
        <p:nvSpPr>
          <p:cNvPr id="142" name="Rounded Rectangle 15"/>
          <p:cNvSpPr/>
          <p:nvPr/>
        </p:nvSpPr>
        <p:spPr>
          <a:xfrm>
            <a:off x="4800600" y="1572840"/>
            <a:ext cx="338292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047857"/>
                </a:solidFill>
                <a:latin typeface="Noto Sans CJK TC"/>
              </a:rPr>
              <a:t>模型配置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model: gemma4:12b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用途：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Amarisoft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測試編排、操作回覆、狀態判斷。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ounded Rectangle 16"/>
          <p:cNvSpPr/>
          <p:nvPr/>
        </p:nvSpPr>
        <p:spPr>
          <a:xfrm>
            <a:off x="4800600" y="2834640"/>
            <a:ext cx="338292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d4ed8"/>
                </a:solidFill>
                <a:latin typeface="Noto Sans CJK TC"/>
              </a:rPr>
              <a:t>LLM </a:t>
            </a:r>
            <a:r>
              <a:rPr b="1" lang="zh-TW" sz="1300" spc="-1" strike="noStrike">
                <a:solidFill>
                  <a:srgbClr val="1d4ed8"/>
                </a:solidFill>
                <a:latin typeface="Noto Sans CJK TC"/>
              </a:rPr>
              <a:t>角色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負責理解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Amarisoft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相關操作意圖，並產生對應的控制流程。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Rounded Rectangle 17"/>
          <p:cNvSpPr/>
          <p:nvPr/>
        </p:nvSpPr>
        <p:spPr>
          <a:xfrm>
            <a:off x="4800600" y="4096440"/>
            <a:ext cx="338292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b45309"/>
                </a:solidFill>
                <a:latin typeface="Noto Sans CJK TC"/>
              </a:rPr>
              <a:t>控制邊界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只處理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Amarisoft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的儀器與腳本，與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Anritsu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完全分離。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ounded Rectangle 18"/>
          <p:cNvSpPr/>
          <p:nvPr/>
        </p:nvSpPr>
        <p:spPr>
          <a:xfrm>
            <a:off x="8485560" y="1792080"/>
            <a:ext cx="2880000" cy="276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6a34a"/>
                </a:solidFill>
                <a:latin typeface="Noto Sans CJK TC"/>
              </a:rPr>
              <a:t>Amarisoft </a:t>
            </a:r>
            <a:r>
              <a:rPr b="1" lang="zh-TW" sz="1300" spc="-1" strike="noStrike">
                <a:solidFill>
                  <a:srgbClr val="16a34a"/>
                </a:solidFill>
                <a:latin typeface="Noto Sans CJK TC"/>
              </a:rPr>
              <a:t>流程建議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1.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使用者提出需求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2. OpenClaw Agent B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判斷步驟與切換邏輯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3.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呼叫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Amarisoft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工具或腳本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4.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回傳執行結果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優點：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-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規則獨立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- Prompt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可分開調整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-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可用不同模型對應不同任務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Rounded Rectangle 19"/>
          <p:cNvSpPr/>
          <p:nvPr/>
        </p:nvSpPr>
        <p:spPr>
          <a:xfrm>
            <a:off x="768240" y="5230440"/>
            <a:ext cx="1572480" cy="27396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eff6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1d4ed8"/>
                </a:solidFill>
                <a:latin typeface="Noto Sans CJK TC"/>
              </a:rPr>
              <a:t>專用 </a:t>
            </a:r>
            <a:r>
              <a:rPr b="0" lang="en-US" sz="850" spc="-1" strike="noStrike">
                <a:solidFill>
                  <a:srgbClr val="1d4ed8"/>
                </a:solidFill>
                <a:latin typeface="Noto Sans CJK TC"/>
              </a:rPr>
              <a:t>Agent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ounded Rectangle 20"/>
          <p:cNvSpPr/>
          <p:nvPr/>
        </p:nvSpPr>
        <p:spPr>
          <a:xfrm>
            <a:off x="2450520" y="5230440"/>
            <a:ext cx="1627200" cy="2739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ecfd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047857"/>
                </a:solidFill>
                <a:latin typeface="Noto Sans CJK TC"/>
              </a:rPr>
              <a:t>gemma4:12b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Rounded Rectangle 21"/>
          <p:cNvSpPr/>
          <p:nvPr/>
        </p:nvSpPr>
        <p:spPr>
          <a:xfrm>
            <a:off x="4187880" y="5230440"/>
            <a:ext cx="1700280" cy="27396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2700">
            <a:solidFill>
              <a:srgbClr val="fef3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b45309"/>
                </a:solidFill>
                <a:latin typeface="Noto Sans CJK TC"/>
              </a:rPr>
              <a:t>Amarisoft </a:t>
            </a:r>
            <a:r>
              <a:rPr b="0" lang="zh-TW" sz="850" spc="-1" strike="noStrike">
                <a:solidFill>
                  <a:srgbClr val="b45309"/>
                </a:solidFill>
                <a:latin typeface="Noto Sans CJK TC"/>
              </a:rPr>
              <a:t>專屬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Rounded Rectangle 22"/>
          <p:cNvSpPr/>
          <p:nvPr/>
        </p:nvSpPr>
        <p:spPr>
          <a:xfrm>
            <a:off x="5998320" y="5230440"/>
            <a:ext cx="1663920" cy="273960"/>
          </a:xfrm>
          <a:prstGeom prst="roundRect">
            <a:avLst>
              <a:gd name="adj" fmla="val 16667"/>
            </a:avLst>
          </a:prstGeom>
          <a:solidFill>
            <a:srgbClr val="eef2ff"/>
          </a:solidFill>
          <a:ln w="12700">
            <a:solidFill>
              <a:srgbClr val="eef2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4338ca"/>
                </a:solidFill>
                <a:latin typeface="Noto Sans CJK TC"/>
              </a:rPr>
              <a:t>流程隔離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Oval 2"/>
          <p:cNvSpPr/>
          <p:nvPr/>
        </p:nvSpPr>
        <p:spPr>
          <a:xfrm>
            <a:off x="-365760" y="-274320"/>
            <a:ext cx="3474360" cy="3474360"/>
          </a:xfrm>
          <a:prstGeom prst="ellipse">
            <a:avLst/>
          </a:prstGeom>
          <a:solidFill>
            <a:srgbClr val="dbeaf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Oval 3"/>
          <p:cNvSpPr/>
          <p:nvPr/>
        </p:nvSpPr>
        <p:spPr>
          <a:xfrm>
            <a:off x="8503920" y="-274320"/>
            <a:ext cx="3931560" cy="3474360"/>
          </a:xfrm>
          <a:prstGeom prst="ellipse">
            <a:avLst/>
          </a:prstGeom>
          <a:solidFill>
            <a:srgbClr val="d1fa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Oval 4"/>
          <p:cNvSpPr/>
          <p:nvPr/>
        </p:nvSpPr>
        <p:spPr>
          <a:xfrm>
            <a:off x="8046720" y="4389120"/>
            <a:ext cx="4023000" cy="2468520"/>
          </a:xfrm>
          <a:prstGeom prst="ellipse">
            <a:avLst/>
          </a:prstGeom>
          <a:solidFill>
            <a:srgbClr val="fef3c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Rounded Rectangle 5"/>
          <p:cNvSpPr/>
          <p:nvPr/>
        </p:nvSpPr>
        <p:spPr>
          <a:xfrm>
            <a:off x="201240" y="164520"/>
            <a:ext cx="11786400" cy="652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6"/>
          <p:cNvSpPr/>
          <p:nvPr/>
        </p:nvSpPr>
        <p:spPr>
          <a:xfrm>
            <a:off x="475560" y="292680"/>
            <a:ext cx="384012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2563eb"/>
                </a:solidFill>
                <a:latin typeface="Noto Sans CJK TC"/>
              </a:rPr>
              <a:t>OpenClaw / Shared Ollama 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7"/>
          <p:cNvSpPr/>
          <p:nvPr/>
        </p:nvSpPr>
        <p:spPr>
          <a:xfrm>
            <a:off x="475560" y="511920"/>
            <a:ext cx="8777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zh-TW" sz="2400" spc="-1" strike="noStrike">
                <a:solidFill>
                  <a:srgbClr val="0f172a"/>
                </a:solidFill>
                <a:latin typeface="Noto Sans CJK TC"/>
              </a:rPr>
              <a:t>部署與維運重點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8"/>
          <p:cNvSpPr/>
          <p:nvPr/>
        </p:nvSpPr>
        <p:spPr>
          <a:xfrm>
            <a:off x="475560" y="896040"/>
            <a:ext cx="96008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這樣的架構可以把測試控制與 </a:t>
            </a:r>
            <a:r>
              <a:rPr b="0" lang="en-US" sz="1200" spc="-1" strike="noStrike">
                <a:solidFill>
                  <a:srgbClr val="475569"/>
                </a:solidFill>
                <a:latin typeface="Noto Sans CJK TC"/>
              </a:rPr>
              <a:t>LLM </a:t>
            </a:r>
            <a:r>
              <a:rPr b="0" lang="zh-TW" sz="1200" spc="-1" strike="noStrike">
                <a:solidFill>
                  <a:srgbClr val="475569"/>
                </a:solidFill>
                <a:latin typeface="Noto Sans CJK TC"/>
              </a:rPr>
              <a:t>推論分離，讓兩個環境共用算力，但仍保留各自的操作邏輯。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ounded Rectangle 9"/>
          <p:cNvSpPr/>
          <p:nvPr/>
        </p:nvSpPr>
        <p:spPr>
          <a:xfrm>
            <a:off x="9802440" y="457200"/>
            <a:ext cx="1645560" cy="273960"/>
          </a:xfrm>
          <a:prstGeom prst="roundRect">
            <a:avLst>
              <a:gd name="adj" fmla="val 16667"/>
            </a:avLst>
          </a:prstGeom>
          <a:solidFill>
            <a:srgbClr val="ecfdf5"/>
          </a:solidFill>
          <a:ln w="12700">
            <a:solidFill>
              <a:srgbClr val="ecfdf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047857"/>
                </a:solidFill>
                <a:latin typeface="Noto Sans CJK TC"/>
              </a:rPr>
              <a:t>維運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Rounded Rectangle 10"/>
          <p:cNvSpPr/>
          <p:nvPr/>
        </p:nvSpPr>
        <p:spPr>
          <a:xfrm>
            <a:off x="658440" y="1554480"/>
            <a:ext cx="347436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2563eb"/>
                </a:solidFill>
                <a:latin typeface="Noto Sans CJK TC"/>
              </a:rPr>
              <a:t>OpenClaw </a:t>
            </a:r>
            <a:r>
              <a:rPr b="1" lang="zh-TW" sz="1300" spc="-1" strike="noStrike">
                <a:solidFill>
                  <a:srgbClr val="2563eb"/>
                </a:solidFill>
                <a:latin typeface="Noto Sans CJK TC"/>
              </a:rPr>
              <a:t>分工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Anritsu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與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Amarisoft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各自有自己的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agent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、工具與流程，不共享控制狀態。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ounded Rectangle 11"/>
          <p:cNvSpPr/>
          <p:nvPr/>
        </p:nvSpPr>
        <p:spPr>
          <a:xfrm>
            <a:off x="658440" y="2761560"/>
            <a:ext cx="347436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16a34a"/>
                </a:solidFill>
                <a:latin typeface="Noto Sans CJK TC"/>
              </a:rPr>
              <a:t>Ollama </a:t>
            </a:r>
            <a:r>
              <a:rPr b="1" lang="zh-TW" sz="1300" spc="-1" strike="noStrike">
                <a:solidFill>
                  <a:srgbClr val="16a34a"/>
                </a:solidFill>
                <a:latin typeface="Noto Sans CJK TC"/>
              </a:rPr>
              <a:t>共用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兩邊都指向同一台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DGX GB10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，但使用不同模型名稱。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ounded Rectangle 12"/>
          <p:cNvSpPr/>
          <p:nvPr/>
        </p:nvSpPr>
        <p:spPr>
          <a:xfrm>
            <a:off x="658440" y="3968640"/>
            <a:ext cx="347436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d97706"/>
                </a:solidFill>
                <a:latin typeface="Noto Sans CJK TC"/>
              </a:rPr>
              <a:t>模型管理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可集中更新、監控與資源分配，避免兩套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AI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各自漂移。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ounded Rectangle 13"/>
          <p:cNvSpPr/>
          <p:nvPr/>
        </p:nvSpPr>
        <p:spPr>
          <a:xfrm>
            <a:off x="4462200" y="1627560"/>
            <a:ext cx="361152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047857"/>
                </a:solidFill>
                <a:latin typeface="Noto Sans CJK TC"/>
              </a:rPr>
              <a:t>建議的穩定做法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把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OpenClaw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的模型名稱、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base URL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、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timeout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與權限邊界都明確寫在設定檔。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Rounded Rectangle 14"/>
          <p:cNvSpPr/>
          <p:nvPr/>
        </p:nvSpPr>
        <p:spPr>
          <a:xfrm>
            <a:off x="4462200" y="2926080"/>
            <a:ext cx="361152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1d4ed8"/>
                </a:solidFill>
                <a:latin typeface="Noto Sans CJK TC"/>
              </a:rPr>
              <a:t>風險控管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若共用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LLM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造成延遲，可再加排隊、快取或模型分流，但控制層仍要保持獨立。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ounded Rectangle 15"/>
          <p:cNvSpPr/>
          <p:nvPr/>
        </p:nvSpPr>
        <p:spPr>
          <a:xfrm>
            <a:off x="4462200" y="4224600"/>
            <a:ext cx="3611520" cy="1142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b45309"/>
                </a:solidFill>
                <a:latin typeface="Noto Sans CJK TC"/>
              </a:rPr>
              <a:t>對外說法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每個測試環境有自己的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AI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操作員，但後面的腦袋可以共用同一台推論伺服器。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Rounded Rectangle 16"/>
          <p:cNvSpPr/>
          <p:nvPr/>
        </p:nvSpPr>
        <p:spPr>
          <a:xfrm>
            <a:off x="8321040" y="1755720"/>
            <a:ext cx="2880000" cy="28342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1520" rIns="101520" tIns="88920" bIns="8892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zh-TW" sz="1300" spc="-1" strike="noStrike">
                <a:solidFill>
                  <a:srgbClr val="2563eb"/>
                </a:solidFill>
                <a:latin typeface="Noto Sans CJK TC"/>
              </a:rPr>
              <a:t>成功標準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1. Anritsu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與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Amarisoft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可以獨立切換儀器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2.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兩邊都能呼叫共用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Ollama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3.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模型選用互不干擾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00"/>
              </a:spcBef>
            </a:pP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4. </a:t>
            </a:r>
            <a:r>
              <a:rPr b="0" lang="zh-TW" sz="1050" spc="-1" strike="noStrike">
                <a:solidFill>
                  <a:srgbClr val="475569"/>
                </a:solidFill>
                <a:latin typeface="Noto Sans CJK TC"/>
              </a:rPr>
              <a:t>之後維護只要管一台 </a:t>
            </a:r>
            <a:r>
              <a:rPr b="0" lang="en-US" sz="1050" spc="-1" strike="noStrike">
                <a:solidFill>
                  <a:srgbClr val="475569"/>
                </a:solidFill>
                <a:latin typeface="Noto Sans CJK TC"/>
              </a:rPr>
              <a:t>DGX GB10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ounded Rectangle 17"/>
          <p:cNvSpPr/>
          <p:nvPr/>
        </p:nvSpPr>
        <p:spPr>
          <a:xfrm>
            <a:off x="8577000" y="4901040"/>
            <a:ext cx="2285640" cy="27396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dbea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zh-TW" sz="850" spc="-1" strike="noStrike">
                <a:solidFill>
                  <a:srgbClr val="1d4ed8"/>
                </a:solidFill>
                <a:latin typeface="Noto Sans CJK TC"/>
              </a:rPr>
              <a:t>可擴充架構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LibreOffice/24.2.7.2$Linux_AARCH64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zh-TW</dc:language>
  <cp:lastModifiedBy/>
  <dcterms:modified xsi:type="dcterms:W3CDTF">2026-06-17T23:56:42Z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