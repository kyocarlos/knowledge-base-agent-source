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4" r:id="rId15"/>
    <p:sldId id="265" r:id="rId16"/>
    <p:sldId id="266" r:id="rId17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KM｜Phase 1｜2026-W33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91440" cy="45262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87552" y="10241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Phase 1 本週進度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856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2026-W33｜v2.6 來源核對與 WP0/WP1 正式部署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MVP（Production Ready）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報告日期：2026-08-13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證據截止：2026-08-11 16:42（Asia/Taipei）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週中更新；週三 17:00 前新增證據須另建修訂版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 21.1%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835640" y="6364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defRPr sz="1000">
                <a:solidFill>
                  <a:srgbClr val="AFC1CD"/>
                </a:solidFill>
                <a:latin typeface="Aptos"/>
              </a:defRPr>
            </a:pPr>
            <a: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 Gate 已解除；技術 Gate 通過，流程 Gate 尚未關閉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73152" cy="16002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21.1%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12～16 週｜目標 2027-01-14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0832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53312"/>
            <a:ext cx="73152" cy="16002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WP0／WP1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94%／96%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已部署至真實系統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1584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353312"/>
            <a:ext cx="73152" cy="1600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來源基準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Excel 已納管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 4c5a4782e727…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890504" cy="219456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73152" cy="219456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65576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858768"/>
            <a:ext cx="10570464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v2.6 原始 Excel 已納管並核對 SHA，來源缺失 Gate 解除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WP0 FastAPI contract 已部署至真實系統，legacy 與 v1 API 並存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WP1 完成 checkpoint、shadow rollback、真實 production rollback 與修正後再部署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乾淨 GitHub rollout 分支已推送，未上傳 secrets、database dumps 或 image archives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範圍與時程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v2.6 Excel：WP0～WP8，Production Ready MVP 12～16 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 FastAPI／REST API 與測試基線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0176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  Docker／Redis／Celery／環境正式化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0176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  CSIT Adapter／Booking／Validation Request 入口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Patty Contract／Anderson Client｜2026-10-09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WP3  OpenClaw／Report Workflow Adapter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共同｜2026-10-29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0176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38928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230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WP4  Excel Parser／基本 RAG 正式化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" y="555955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534009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261872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WP5  Qdrant／Neo4j 基本檢索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994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7960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231136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WP6  TimescaleDB 基礎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994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Anderson｜2026-12-08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7960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WP7  RBAC／Citation／Audit／Portal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994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共同／Anderson Portal｜2026-12-31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7960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WP8  Phase 1 整合與驗收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994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共同｜2027-01-14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7960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WP0｜94%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與測試基線｜Excel 目標 2026-08-14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51760"/>
            <a:ext cx="2180158" cy="146304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98448"/>
            <a:ext cx="73152" cy="23317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legacy 與 v1 health/version contract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正式 chat Webwright 通過，console/network errors=0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 pytest 90 passed 與 frontend build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1078992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77640"/>
            <a:ext cx="73152" cy="16002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0565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 Gate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498848"/>
            <a:ext cx="10469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rollout Draft PR、Reviewer、Merge 與去識別化 Webwright artifact；未完成前保留 6 分 delivery 與 2 分 E2E 缺口。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WP1｜96%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Docker／Redis／Celery／環境正式化｜Excel 目標 2026-08-21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560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98448"/>
            <a:ext cx="73152" cy="2560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shadow rollback 與 candidate gate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第一次 production cutover 異常後成功回退，修正後第二次部署通過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checkpoint、workers、Beat、search 與 rollback dry-run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160520"/>
            <a:ext cx="10789920" cy="1417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60520"/>
            <a:ext cx="73152" cy="14173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28853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實際故障處理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104698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cutover 的 /search 500 立即觸發 production rollback；修正 HTTP Request trace propagation、補 regression test，再通過 candidate 與第二次正式部署。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Gate、風險與待決策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技術通過不等於 PR／Review／Merge 流程完成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61872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898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baseline｜技術通過／流程待關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API 與 Webwright 通過；缺 rollout PR review／merge 與 durable E2E artifact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523744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523744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reliability｜技術通過／流程待關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真實回退、worker、Beat、search 與 checkpoint 通過；缺 rollout PR review／merge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785616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785616"/>
            <a:ext cx="73152" cy="987552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CSIT／Booking／Request｜阻塞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4306824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 Patty 提供正式 API、Booking collision、Validation Request 與權限 Contract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261872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261872"/>
            <a:ext cx="73152" cy="201168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分支尚無 Draft PR／Review／Merge，不能宣稱 WP0/WP1 100%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原始 Webwright 與 shadow run artifact 仍在部署主機，GitHub 只有摘要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Excel 兩個分工工作表標題殘留 v2.4，需 Owner 確認文件標籤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WP2 依賴 Patty 的 CSIT API、Booking、Validation Request 與 ACL Contract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2784" y="3538728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38728"/>
            <a:ext cx="73152" cy="201168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666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5664" y="4059936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指定 reviewer，先處理 PR #5，再審查 stacked rollout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 v2.6 工作簿內部 v2.4 標題是否只需文件更正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確認是否將去識別化 Webwright／shadow evidence 上傳為 PR artifact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Patty 提供 WP2 Contract 與可開始日期；未提供前不猜測 CSIT 欄位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以可下載證據、Contract 與 Gate 為完成單位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建立並 Review rollout Draft PR，關閉 WP0/WP1 delivery Gate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96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保存去識別化 E2E／rollback artifact，讓驗收證據可下載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21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29584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Patty 核對 v2.6 原檔與提供 WP2 CSIT Contract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672584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457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654296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G0/G1 流程 Gate 與 WP2 前置條件滿足後才開始 WP2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10515600" cy="47548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82472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完成定義：Evidence 可下載、PR 有 reviewer、Gate 狀態明確；WP2 Contract 未取得前不開始正式實作。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Microsoft JhengHei"/>
              </a:defRPr>
            </a:pPr>
            <a:r>
              <a:t>WP0 修改明細（1/2）｜API Contract 與安全邊界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新增 versioned FastAPI shell，同時保留既有 Portal、chat、search、report、ingest 與 A2A 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73152" cy="204825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399031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087F8C"/>
                </a:solidFill>
                <a:latin typeface="Microsoft JhengHei"/>
              </a:defRPr>
            </a:pPr>
            <a:r>
              <a:t>FastAPI 入口與版本化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app/main.py create_app() 作正式 Uvicorn 入口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/api/v1 router，建立 health、live、ready、version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回傳 service、version、environment、commit 供部署辨識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Dockerfile／start.sh／Compose 切換至新入口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261872"/>
            <a:ext cx="73152" cy="2048256"/>
          </a:xfrm>
          <a:prstGeom prst="rect">
            <a:avLst/>
          </a:prstGeom>
          <a:solidFill>
            <a:srgbClr val="A83B3B"/>
          </a:solidFill>
          <a:ln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36792" y="1399031"/>
            <a:ext cx="384048" cy="384048"/>
          </a:xfrm>
          <a:prstGeom prst="ellipse">
            <a:avLst/>
          </a:prstGeom>
          <a:solidFill>
            <a:srgbClr val="A83B3B"/>
          </a:solidFill>
          <a:ln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A83B3B"/>
                </a:solidFill>
                <a:latin typeface="Microsoft JhengHei"/>
              </a:defRPr>
            </a:pPr>
            <a:r>
              <a:t>統一成功／錯誤回應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ApiResponse、ApiError、HealthData、VersionData schema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v1 成功與錯誤回應都帶 trace_id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422／HTTP error／500 映射為穩定 error envelope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500 不回傳內部 exception 內容，避免敏感資訊外洩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73152" cy="204825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" y="3675888"/>
            <a:ext cx="384048" cy="384048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Microsoft JhengHei"/>
              </a:defRPr>
            </a:pPr>
            <a:r>
              <a:t>Trace、Logging 與設定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X-Trace-ID middleware；合法外部 ID 沿用，否則自動產生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request.state 與 ContextVar 保存 correlation ID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回應 header 與 log 同步記錄 trace、method、path、status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AppSettings 改由安全環境變數提供服務名、版本、環境與 commit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3538728"/>
            <a:ext cx="73152" cy="2048256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36792" y="3675888"/>
            <a:ext cx="384048" cy="384048"/>
          </a:xfrm>
          <a:prstGeom prst="ellipse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2E7D5B"/>
                </a:solidFill>
                <a:latin typeface="Microsoft JhengHei"/>
              </a:defRPr>
            </a:pPr>
            <a:r>
              <a:t>既有功能相容層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沿用 legacy FastAPI lifespan，避免啟停流程改變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掛回既有 routes 與 middleware；排除重複 docs/openapi routes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legacy error shape 與 Agent 未授權 401 contract 維持不變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release build 與 README 同步新入口及驗證方式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0881360" cy="384048"/>
          </a:xfrm>
          <a:prstGeom prst="rect">
            <a:avLst/>
          </a:prstGeom>
          <a:solidFill>
            <a:srgbClr val="E7F1F2"/>
          </a:solidFill>
          <a:ln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61888"/>
            <a:ext cx="105156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1">
                <a:solidFill>
                  <a:srgbClr val="17324D"/>
                </a:solidFill>
                <a:latin typeface="Microsoft JhengHei"/>
              </a:defRPr>
            </a:pPr>
            <a:r>
              <a:t>核心 commit 2c46c834／live integration 3f93beef｜主要新增 app/api、app/core、app/schemas、app/main.py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Microsoft JhengHei"/>
              </a:defRPr>
            </a:pPr>
            <a:r>
              <a:t>WP0 修改明細（2/2）｜測試、檔案與正式驗收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不是只新增 health endpoint；同時建立 contract、架構、相容性、CI 與 production 驗收基線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73152" cy="204825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399031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087F8C"/>
                </a:solidFill>
                <a:latin typeface="Microsoft JhengHei"/>
              </a:defRPr>
            </a:pPr>
            <a:r>
              <a:t>新增測試基線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test_wp0_api_contract.py：v1 health/version、error envelope、trace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test_wp0_architecture.py：正式入口與模組邊界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test_wp0_legacy_compatibility.py：舊 API 路由與回應相容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pytest.ini、requirements-dev.txt 與 CI workflow 納入固定驗證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261872"/>
            <a:ext cx="73152" cy="204825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36792" y="1399031"/>
            <a:ext cx="384048" cy="384048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Microsoft JhengHei"/>
              </a:defRPr>
            </a:pPr>
            <a:r>
              <a:t>實際修改檔案群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14 個 app 套件檔：API、config、exception、logging、security、trace、schema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修改 Dockerfile、docker-compose.yml、start.sh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修改 release/build_release.sh 與 README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WP0 基準 commit：23 files，+555／-19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73152" cy="2048256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" y="3675888"/>
            <a:ext cx="384048" cy="384048"/>
          </a:xfrm>
          <a:prstGeom prst="ellipse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2E7D5B"/>
                </a:solidFill>
                <a:latin typeface="Microsoft JhengHei"/>
              </a:defRPr>
            </a:pPr>
            <a:r>
              <a:t>正式系統驗收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legacy /health 與 v1 health/live/ready/version 均 HTTP 200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無 Agent headers 的 /api/agent/v1/health 維持 HTTP 401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production /search 提交並由背景 worker 完成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chat.html Webwright：可連線、送出、非空回覆，console/network errors=0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3538728"/>
            <a:ext cx="73152" cy="2048256"/>
          </a:xfrm>
          <a:prstGeom prst="rect">
            <a:avLst/>
          </a:prstGeom>
          <a:solidFill>
            <a:srgbClr val="B16D00"/>
          </a:solidFill>
          <a:ln>
            <a:solidFill>
              <a:srgbClr val="B1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36792" y="3675888"/>
            <a:ext cx="384048" cy="384048"/>
          </a:xfrm>
          <a:prstGeom prst="ellipse">
            <a:avLst/>
          </a:prstGeom>
          <a:solidFill>
            <a:srgbClr val="B16D00"/>
          </a:solidFill>
          <a:ln>
            <a:solidFill>
              <a:srgbClr val="B1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B16D00"/>
                </a:solidFill>
                <a:latin typeface="Microsoft JhengHei"/>
              </a:defRPr>
            </a:pPr>
            <a:r>
              <a:t>品質結果與未關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rollout 分支 pytest 90 passed、frontend build、compile、Compose 通過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credential scan 與 repository hygiene 通過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E2E 得分 13/15：原始 Webwright artifact 尚未持久化至 GitHub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Delivery 6/10：rollout PR 尚未 Review／Merge，因此維持 94%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0881360" cy="384048"/>
          </a:xfrm>
          <a:prstGeom prst="rect">
            <a:avLst/>
          </a:prstGeom>
          <a:solidFill>
            <a:srgbClr val="E7F1F2"/>
          </a:solidFill>
          <a:ln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61888"/>
            <a:ext cx="105156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1">
                <a:solidFill>
                  <a:srgbClr val="17324D"/>
                </a:solidFill>
                <a:latin typeface="Microsoft JhengHei"/>
              </a:defRPr>
            </a:pPr>
            <a:r>
              <a:t>Evidence：progress/evidence/WP0.md｜CI runs 31475084397、31475433750｜production record 2026-08-11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Microsoft JhengHei"/>
              </a:defRPr>
            </a:pPr>
            <a:r>
              <a:t>WP1 修改明細（1/2）｜Job、Queue 與執行可靠性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將 Redis／Celery 背景任務從散落常數收斂為可配置、可追蹤、可重試且保留 legacy status 的契約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73152" cy="204825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399031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087F8C"/>
                </a:solidFill>
                <a:latin typeface="Microsoft JhengHei"/>
              </a:defRPr>
            </a:pPr>
            <a:r>
              <a:t>Typed JobConfig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concurrency、processing lock TTL、result TTL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soft/hard timeout、max retries、retry countdown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default/document/indexing queue 與 Beat enable 設定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環境變數型別與最小值驗證，錯誤設定立即失敗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261872"/>
            <a:ext cx="73152" cy="204825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36792" y="1399031"/>
            <a:ext cx="384048" cy="384048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Microsoft JhengHei"/>
              </a:defRPr>
            </a:pPr>
            <a:r>
              <a:t>Job Status 與 Queue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queued/running/succeeded/failed/retrying/cancelled canonical status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legacy status 保留，另增加 job_status，避免既有前端回歸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search_task 固定進 search queue；ingest_task 修正至 ingest queue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保留 default/document/indexing 與既有 search/ingest queues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73152" cy="2048256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" y="3675888"/>
            <a:ext cx="384048" cy="384048"/>
          </a:xfrm>
          <a:prstGeom prst="ellipse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2E7D5B"/>
                </a:solidFill>
                <a:latin typeface="Microsoft JhengHei"/>
              </a:defRPr>
            </a:pPr>
            <a:r>
              <a:t>Trace、Retry 與 Idempotency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HTTP trace_id 經 Celery headers 傳入 search／ingest task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task state 與失敗 log 保存 trace_id，支援跨程序追查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retry 次數與 countdown 改由 JobConfig 控制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攝入沿用 document hash、Idempotency-Key 與 registry 去重機制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3538728"/>
            <a:ext cx="73152" cy="2048256"/>
          </a:xfrm>
          <a:prstGeom prst="rect">
            <a:avLst/>
          </a:prstGeom>
          <a:solidFill>
            <a:srgbClr val="B16D00"/>
          </a:solidFill>
          <a:ln>
            <a:solidFill>
              <a:srgbClr val="B1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36792" y="3675888"/>
            <a:ext cx="384048" cy="384048"/>
          </a:xfrm>
          <a:prstGeom prst="ellipse">
            <a:avLst/>
          </a:prstGeom>
          <a:solidFill>
            <a:srgbClr val="B16D00"/>
          </a:solidFill>
          <a:ln>
            <a:solidFill>
              <a:srgbClr val="B1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B16D00"/>
                </a:solidFill>
                <a:latin typeface="Microsoft JhengHei"/>
              </a:defRPr>
            </a:pPr>
            <a:r>
              <a:t>Runtime 與部署路徑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web、search worker、ingest worker 使用相同 application image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Redis、PostgreSQL、Neo4j、web 與 workers 設 restart: unless-stopped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config/data/upload volume 改為 KB_*_ROOT 可配置路徑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Celery Beat、worker health 與 queue binding 納入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0881360" cy="384048"/>
          </a:xfrm>
          <a:prstGeom prst="rect">
            <a:avLst/>
          </a:prstGeom>
          <a:solidFill>
            <a:srgbClr val="E7F1F2"/>
          </a:solidFill>
          <a:ln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61888"/>
            <a:ext cx="105156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1">
                <a:solidFill>
                  <a:srgbClr val="17324D"/>
                </a:solidFill>
                <a:latin typeface="Microsoft JhengHei"/>
              </a:defRPr>
            </a:pPr>
            <a:r>
              <a:t>核心 commits b4aece60、0dad72bd、cfe5eb0d｜主要修改 job_config.py、tasks.py、report_routes.py、Compose、CI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  <a:latin typeface="Microsoft JhengHei"/>
              </a:defRPr>
            </a:pPr>
            <a:r>
              <a:t>WP1 修改明細（2/2）｜備份、部署、回滾與故障演練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部署流程以『先可回復，再切換』為原則；真實 cutover 曾觸發失敗並成功回退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73152" cy="204825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399031"/>
            <a:ext cx="384048" cy="384048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Microsoft JhengHei"/>
              </a:defRPr>
            </a:pPr>
            <a:r>
              <a:t>Pre-WP01 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pre_wp01_backup.py，保存 application images 與 source/config/data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納入 Neo4j export、Qdrant snapshot、PostgreSQL dump、Redis archive、SQLite copy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兩份 checkpoint 各約 9.6 GB，執行 SHA 與可讀性檢查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Level 1 application rollback 與 Level 2 data restore 分離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61872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261872"/>
            <a:ext cx="73152" cy="204825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36792" y="1399031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39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408175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087F8C"/>
                </a:solidFill>
                <a:latin typeface="Microsoft JhengHei"/>
              </a:defRPr>
            </a:pPr>
            <a:r>
              <a:t>Shadow／Candidate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74519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新增 rollback drill：baseline 200 → 注入 503 → rollback 200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驗證 image ID 回到 checkpoint，shadow network/volume 清理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candidate gate 檢查 API、/search POST、trace、workers、Beat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第二次 candidate drill 全項通過後才重新切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73152" cy="2048256"/>
          </a:xfrm>
          <a:prstGeom prst="rect">
            <a:avLst/>
          </a:prstGeom>
          <a:solidFill>
            <a:srgbClr val="A83B3B"/>
          </a:solidFill>
          <a:ln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" y="3675888"/>
            <a:ext cx="384048" cy="384048"/>
          </a:xfrm>
          <a:prstGeom prst="ellipse">
            <a:avLst/>
          </a:prstGeom>
          <a:solidFill>
            <a:srgbClr val="A83B3B"/>
          </a:solidFill>
          <a:ln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A83B3B"/>
                </a:solidFill>
                <a:latin typeface="Microsoft JhengHei"/>
              </a:defRPr>
            </a:pPr>
            <a:r>
              <a:t>真實故障與修正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第一次 cutover 發現 /search 500：FastAPI Request 注入衝突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立即執行 production rollback，五個 application image ID 全恢復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修正 HTTP Request trace propagation，新增 regression test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完整測試 89 passed；後續 rollout 基線提升為 90 passed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3538728"/>
            <a:ext cx="5376672" cy="2048256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3538728"/>
            <a:ext cx="73152" cy="2048256"/>
          </a:xfrm>
          <a:prstGeom prst="rect">
            <a:avLst/>
          </a:prstGeom>
          <a:solidFill>
            <a:srgbClr val="B16D00"/>
          </a:solidFill>
          <a:ln>
            <a:solidFill>
              <a:srgbClr val="B1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36792" y="3675888"/>
            <a:ext cx="384048" cy="384048"/>
          </a:xfrm>
          <a:prstGeom prst="ellipse">
            <a:avLst/>
          </a:prstGeom>
          <a:solidFill>
            <a:srgbClr val="B16D00"/>
          </a:solidFill>
          <a:ln>
            <a:solidFill>
              <a:srgbClr val="B1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739896"/>
            <a:ext cx="384048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85032"/>
            <a:ext cx="45079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B16D00"/>
                </a:solidFill>
                <a:latin typeface="Microsoft JhengHei"/>
              </a:defRPr>
            </a:pPr>
            <a:r>
              <a:t>安全生命週期與剩餘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151376"/>
            <a:ext cx="4965192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restart_kb 分離 --status／--restart／--deploy，預設只讀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任務未清空拒絕操作；deploy 需 checkpoint 與確認碼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candidate Gate 失敗自動還原前端與 application images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6333D"/>
                </a:solidFill>
                <a:latin typeface="Microsoft JhengHei"/>
              </a:defRPr>
            </a:pPr>
            <a:r>
              <a:t>• E2E 15/15；Delivery 6/10，尚缺 rollout PR Review／Merge，維持 96%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0881360" cy="384048"/>
          </a:xfrm>
          <a:prstGeom prst="rect">
            <a:avLst/>
          </a:prstGeom>
          <a:solidFill>
            <a:srgbClr val="E7F1F2"/>
          </a:solidFill>
          <a:ln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61888"/>
            <a:ext cx="105156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1">
                <a:solidFill>
                  <a:srgbClr val="17324D"/>
                </a:solidFill>
                <a:latin typeface="Microsoft JhengHei"/>
              </a:defRPr>
            </a:pPr>
            <a:r>
              <a:t>Evidence：WP1.md、pre-wp01-deployment-record-20260811.md、wp01-lifecycle-runbook.md｜rollback commit fa8542ce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AI-KM-Phase1-Weekly-2026-W33-v2.6</dc:title>
  <dc:subject>AI KM Phase 1 2026-W33 weekly progress</dc:subject>
  <dc:creator>AI KM Weekly Reporting</dc:creator>
  <cp:lastModifiedBy>AI KM Weekly Reporting</cp:lastModifiedBy>
  <cp:revision>1</cp:revision>
  <dcterms:created xsi:type="dcterms:W3CDTF">2026-08-11T08:49:02Z</dcterms:created>
  <dcterms:modified xsi:type="dcterms:W3CDTF">2026-08-11T08:49:02Z</dcterms:modified>
</cp:coreProperties>
</file>