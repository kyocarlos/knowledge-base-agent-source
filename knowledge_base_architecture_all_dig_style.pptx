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37160"/>
            <a:ext cx="34747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6727C"/>
                </a:solidFill>
                <a:latin typeface="Noto Sans CJK T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9728"/>
            <a:ext cx="49377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63541"/>
                </a:solidFill>
                <a:latin typeface="Noto Sans CJK TC"/>
              </a:rPr>
              <a:t>Knowledge Base 完整系統架構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0" y="155448"/>
            <a:ext cx="6172200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6727C"/>
                </a:solidFill>
                <a:latin typeface="Noto Sans CJK TC"/>
              </a:rPr>
              <a:t>入口、應用服務、AI 推論與統一知識資料平台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" y="475488"/>
            <a:ext cx="11494008" cy="0"/>
          </a:xfrm>
          <a:prstGeom prst="line">
            <a:avLst/>
          </a:prstGeom>
          <a:ln w="8890">
            <a:solidFill>
              <a:srgbClr val="D8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" y="1325880"/>
            <a:ext cx="2788920" cy="33832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" y="122529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234439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存取與既有 Web 系統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4800600" cy="33832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93592" y="1225295"/>
            <a:ext cx="2414015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1234439"/>
            <a:ext cx="2304287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Knowledge Base AI 應用系統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5074920"/>
            <a:ext cx="8001000" cy="12344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84832" y="4974336"/>
            <a:ext cx="3401568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4983480"/>
            <a:ext cx="3291839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7B7C"/>
                </a:solidFill>
                <a:latin typeface="Noto Sans CJK TC"/>
              </a:rPr>
              <a:t>Unified Knowledge Data Platform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078992" y="2212848"/>
            <a:ext cx="621792" cy="301752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25296" y="2258568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HTTPS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00784" y="2212848"/>
            <a:ext cx="649224" cy="301752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56231" y="2258568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HTTPS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078992" y="2212848"/>
            <a:ext cx="621792" cy="1289304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0" y="2852928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WSS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00784" y="2212848"/>
            <a:ext cx="649224" cy="1289304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03704" y="2852928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HTTPS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664208" y="1920240"/>
            <a:ext cx="2103120" cy="932688"/>
          </a:xfrm>
          <a:prstGeom prst="bentConnector3">
            <a:avLst/>
          </a:prstGeom>
          <a:ln w="13335">
            <a:solidFill>
              <a:srgbClr val="2872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06040" y="2176272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Search API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843784" y="1920240"/>
            <a:ext cx="923544" cy="932688"/>
          </a:xfrm>
          <a:prstGeom prst="bentConnector3">
            <a:avLst/>
          </a:prstGeom>
          <a:ln w="13335">
            <a:solidFill>
              <a:srgbClr val="75559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72384" y="2423160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Admin API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664208" y="1920240"/>
            <a:ext cx="3776472" cy="1920240"/>
          </a:xfrm>
          <a:prstGeom prst="bentConnector3">
            <a:avLst/>
          </a:prstGeom>
          <a:ln w="13335">
            <a:solidFill>
              <a:srgbClr val="2872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026664" y="3026664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WebSocket /ws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843784" y="2496312"/>
            <a:ext cx="3410712" cy="1344168"/>
          </a:xfrm>
          <a:prstGeom prst="bentConnector3">
            <a:avLst/>
          </a:prstGeom>
          <a:ln w="13335">
            <a:solidFill>
              <a:srgbClr val="65946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96512" y="3337560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Ingest Task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90288" y="2240280"/>
            <a:ext cx="0" cy="246888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254496" y="2240280"/>
            <a:ext cx="0" cy="246888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992624" y="3218688"/>
            <a:ext cx="0" cy="27432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52160" y="3858768"/>
            <a:ext cx="1536192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55080" y="3675887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Task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893808" y="2240280"/>
            <a:ext cx="0" cy="301752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93808" y="3246120"/>
            <a:ext cx="0" cy="301752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65008" y="3858768"/>
            <a:ext cx="822960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083296" y="3666744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Tool / Session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3035808" y="4251960"/>
            <a:ext cx="1426464" cy="1097280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429000" y="4709160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Vector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4727448" y="4251960"/>
            <a:ext cx="374904" cy="1097280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681728" y="4709160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Graph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742432" y="4251960"/>
            <a:ext cx="667512" cy="1097280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925312" y="4709160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Files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44968" y="4251960"/>
            <a:ext cx="347472" cy="1097280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662672" y="4709160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State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926080" y="585216"/>
            <a:ext cx="1664208" cy="621792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919" b="1">
                <a:solidFill>
                  <a:srgbClr val="28729A"/>
                </a:solidFill>
                <a:latin typeface="Noto Sans CJK TC"/>
              </a:rPr>
              <a:t>使用者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66727C"/>
                </a:solidFill>
                <a:latin typeface="Noto Sans CJK TC"/>
              </a:rPr>
              <a:t>Search / Chat → 查詢與對話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82312" y="585216"/>
            <a:ext cx="1664208" cy="621792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919" b="1">
                <a:solidFill>
                  <a:srgbClr val="755595"/>
                </a:solidFill>
                <a:latin typeface="Noto Sans CJK TC"/>
              </a:rPr>
              <a:t>管理者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66727C"/>
                </a:solidFill>
                <a:latin typeface="Noto Sans CJK TC"/>
              </a:rPr>
              <a:t>Admin → 管理 API / 任務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38544" y="585216"/>
            <a:ext cx="1664208" cy="621792"/>
          </a:xfrm>
          <a:prstGeom prst="roundRect">
            <a:avLst/>
          </a:prstGeom>
          <a:solidFill>
            <a:srgbClr val="F0F7EE"/>
          </a:solidFill>
          <a:ln w="13335">
            <a:solidFill>
              <a:srgbClr val="659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919" b="1">
                <a:solidFill>
                  <a:srgbClr val="659462"/>
                </a:solidFill>
                <a:latin typeface="Noto Sans CJK TC"/>
              </a:rPr>
              <a:t>知識擁護者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>
                <a:solidFill>
                  <a:srgbClr val="66727C"/>
                </a:solidFill>
                <a:latin typeface="Noto Sans CJK TC"/>
              </a:rPr>
              <a:t>Upload → Ingest / 建索引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0496" y="658368"/>
            <a:ext cx="277977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66727C"/>
                </a:solidFill>
                <a:latin typeface="Noto Sans CJK TC"/>
              </a:rPr>
              <a:t>角色路徑：依同色節點與 API 線追蹤
灰色線：三個角色共用基礎設施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8096" y="1609344"/>
            <a:ext cx="1865376" cy="603504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Nginx TLS 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HTTPS :3030 / 靜態資源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3776" y="2514600"/>
            <a:ext cx="1170432" cy="667512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Search UI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查詢 / 引用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64792" y="2514600"/>
            <a:ext cx="1078992" cy="667512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Admin UI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管理 / 設定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3776" y="3502152"/>
            <a:ext cx="1170432" cy="667512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Chat UI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即時對話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764792" y="3502152"/>
            <a:ext cx="1078992" cy="667512"/>
          </a:xfrm>
          <a:prstGeom prst="roundRect">
            <a:avLst/>
          </a:prstGeom>
          <a:solidFill>
            <a:srgbClr val="F0F7EE"/>
          </a:solidFill>
          <a:ln w="13335">
            <a:solidFill>
              <a:srgbClr val="659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659462"/>
                </a:solidFill>
                <a:latin typeface="Noto Sans CJK TC"/>
              </a:rPr>
              <a:t>Upload / Watch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文件 / 索引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67328" y="1609344"/>
            <a:ext cx="1645920" cy="630936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FastAPI / Uvicorn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REST · Task · Admin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40680" y="1609344"/>
            <a:ext cx="1645920" cy="630936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WebSocket Proxy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/ws · event relay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767328" y="2496312"/>
            <a:ext cx="1645920" cy="722376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SearchEngine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Basic · Deep · Hybrid+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40680" y="2496312"/>
            <a:ext cx="1645920" cy="722376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Document Pipeline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Convert · OCR · Chunk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33087" y="3493008"/>
            <a:ext cx="1719072" cy="758952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Celery Workers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Search / Ingest / Beat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702552" y="3493008"/>
            <a:ext cx="1362456" cy="758952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Redis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Broker · Cache · Locks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887968" y="1627632"/>
            <a:ext cx="2011680" cy="612648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OpenClaw 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Agent · Tools · Session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87968" y="2542032"/>
            <a:ext cx="2011680" cy="704088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OpenClaw Runtime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Identity · Workspace · Skills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887968" y="3547872"/>
            <a:ext cx="2011680" cy="704088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Ollama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qwen3-coder-next · :11434</a:t>
            </a:r>
          </a:p>
        </p:txBody>
      </p:sp>
      <p:sp>
        <p:nvSpPr>
          <p:cNvPr id="66" name="Can 65"/>
          <p:cNvSpPr/>
          <p:nvPr/>
        </p:nvSpPr>
        <p:spPr>
          <a:xfrm>
            <a:off x="2240280" y="5358384"/>
            <a:ext cx="1572768" cy="713232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Qdrant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BGE 768D vectors</a:t>
            </a:r>
          </a:p>
        </p:txBody>
      </p:sp>
      <p:sp>
        <p:nvSpPr>
          <p:cNvPr id="67" name="Can 66"/>
          <p:cNvSpPr/>
          <p:nvPr/>
        </p:nvSpPr>
        <p:spPr>
          <a:xfrm>
            <a:off x="3922776" y="5358384"/>
            <a:ext cx="1572768" cy="713232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Neo4j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Knowledge graph</a:t>
            </a:r>
          </a:p>
        </p:txBody>
      </p:sp>
      <p:sp>
        <p:nvSpPr>
          <p:cNvPr id="68" name="Can 67"/>
          <p:cNvSpPr/>
          <p:nvPr/>
        </p:nvSpPr>
        <p:spPr>
          <a:xfrm>
            <a:off x="5605272" y="5358384"/>
            <a:ext cx="1572768" cy="713232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File Store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Raw / Processed / Assets</a:t>
            </a:r>
          </a:p>
        </p:txBody>
      </p:sp>
      <p:sp>
        <p:nvSpPr>
          <p:cNvPr id="69" name="Can 68"/>
          <p:cNvSpPr/>
          <p:nvPr/>
        </p:nvSpPr>
        <p:spPr>
          <a:xfrm>
            <a:off x="7287768" y="5358384"/>
            <a:ext cx="1572768" cy="713232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Runtime State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Task / Chat / Memory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7472" y="6620256"/>
            <a:ext cx="8046720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6727C"/>
                </a:solidFill>
                <a:latin typeface="Noto Sans CJK TC"/>
              </a:rPr>
              <a:t>灰線為主要資料流；色彩只標示責任域，所有元件均可在 PowerPoint 編輯。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6620256"/>
            <a:ext cx="248716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6727C"/>
                </a:solidFill>
                <a:latin typeface="Noto Sans CJK TC"/>
              </a:rPr>
              <a:t>Knowledge Base · AS-IS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37160"/>
            <a:ext cx="34747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6727C"/>
                </a:solidFill>
                <a:latin typeface="Noto Sans CJK T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9728"/>
            <a:ext cx="49377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63541"/>
                </a:solidFill>
                <a:latin typeface="Noto Sans CJK TC"/>
              </a:rPr>
              <a:t>查詢與 OpenClaw 對話架構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0" y="155448"/>
            <a:ext cx="6172200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6727C"/>
                </a:solidFill>
                <a:latin typeface="Noto Sans CJK TC"/>
              </a:rPr>
              <a:t>同步 UI、非同步搜尋工作與 Agent 串流事件的雙路徑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" y="475488"/>
            <a:ext cx="11494008" cy="0"/>
          </a:xfrm>
          <a:prstGeom prst="line">
            <a:avLst/>
          </a:prstGeom>
          <a:ln w="8890">
            <a:solidFill>
              <a:srgbClr val="D8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" y="1051560"/>
            <a:ext cx="2057400" cy="48920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" y="95097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960119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使用者介面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051560"/>
            <a:ext cx="2971800" cy="48920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07792" y="95097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960119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FastAPI 與任務編排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051560"/>
            <a:ext cx="2331720" cy="48920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1" y="95097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960119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7B7C"/>
                </a:solidFill>
                <a:latin typeface="Noto Sans CJK TC"/>
              </a:rPr>
              <a:t>知識檢索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051560"/>
            <a:ext cx="3063240" cy="48920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51392" y="95097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960119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AI Agent 與回答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66543" y="1847088"/>
            <a:ext cx="1060705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76272" y="1664208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POST /search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22191" y="2221992"/>
            <a:ext cx="0" cy="521208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31920" y="2377440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enqueue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30368" y="3127248"/>
            <a:ext cx="1188720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40680" y="2944368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query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87184" y="3502152"/>
            <a:ext cx="0" cy="548639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96912" y="3694176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recall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36992" y="4416552"/>
            <a:ext cx="1133856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01583" y="4233672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context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22191" y="3511296"/>
            <a:ext cx="0" cy="713232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931920" y="3785615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status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2066543" y="4599432"/>
            <a:ext cx="1060705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212848" y="4416552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poll / result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066543" y="2770632"/>
            <a:ext cx="1060705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21992" y="2587752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WSS /ws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30368" y="5193792"/>
            <a:ext cx="3840480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39712" y="5010912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agent events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0158984" y="3200400"/>
            <a:ext cx="0" cy="530352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158984" y="2148840"/>
            <a:ext cx="0" cy="374904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68096" y="1499616"/>
            <a:ext cx="1298448" cy="713232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Search UI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問題 / 模式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" y="2414016"/>
            <a:ext cx="1298448" cy="713232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Chat UI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對話 / 引用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6" y="4224528"/>
            <a:ext cx="1298448" cy="749808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Result 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答案 / Sources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27248" y="1490472"/>
            <a:ext cx="2103120" cy="731520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REST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/search · /tasks/{id}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27248" y="2743200"/>
            <a:ext cx="2103120" cy="768096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Redis + Celery Search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Broker · Result · Lock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27248" y="4224528"/>
            <a:ext cx="2103120" cy="749808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WebSocket Proxy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Session queue · relay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19088" y="2743200"/>
            <a:ext cx="1536192" cy="758952"/>
          </a:xfrm>
          <a:prstGeom prst="roundRect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67B7C"/>
                </a:solidFill>
                <a:latin typeface="Noto Sans CJK TC"/>
              </a:rPr>
              <a:t>SearchEngine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Mode router</a:t>
            </a:r>
          </a:p>
        </p:txBody>
      </p:sp>
      <p:sp>
        <p:nvSpPr>
          <p:cNvPr id="45" name="Can 44"/>
          <p:cNvSpPr/>
          <p:nvPr/>
        </p:nvSpPr>
        <p:spPr>
          <a:xfrm>
            <a:off x="6327648" y="4050791"/>
            <a:ext cx="1719072" cy="758952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Qdrant + Neo4j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Vector + Graph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70848" y="1490472"/>
            <a:ext cx="2176272" cy="658368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Ollama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Answer synthesis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70848" y="2523744"/>
            <a:ext cx="2176272" cy="676656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OpenClaw 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Agent / Tool / Session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70848" y="3730752"/>
            <a:ext cx="2176272" cy="758952"/>
          </a:xfrm>
          <a:prstGeom prst="roundRect">
            <a:avLst/>
          </a:prstGeom>
          <a:solidFill>
            <a:srgbClr val="F0F7EE"/>
          </a:solidFill>
          <a:ln w="13335">
            <a:solidFill>
              <a:srgbClr val="659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659462"/>
                </a:solidFill>
                <a:latin typeface="Noto Sans CJK TC"/>
              </a:rPr>
              <a:t>Citation Package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來源不足時保留揭露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70848" y="4864608"/>
            <a:ext cx="2176272" cy="658368"/>
          </a:xfrm>
          <a:prstGeom prst="roundRect">
            <a:avLst/>
          </a:prstGeom>
          <a:solidFill>
            <a:srgbClr val="F0F7EE"/>
          </a:solidFill>
          <a:ln w="13335">
            <a:solidFill>
              <a:srgbClr val="659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659462"/>
                </a:solidFill>
                <a:latin typeface="Noto Sans CJK TC"/>
              </a:rPr>
              <a:t>Rendered Reply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串流事件 / 最終回答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" y="6620256"/>
            <a:ext cx="8046720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6727C"/>
                </a:solidFill>
                <a:latin typeface="Noto Sans CJK TC"/>
              </a:rPr>
              <a:t>搜尋路徑以 Celery 非同步執行；Chat 路徑由 WebSocket 代理 OpenClaw，兩者共用知識來源。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6620256"/>
            <a:ext cx="248716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6727C"/>
                </a:solidFill>
                <a:latin typeface="Noto Sans CJK TC"/>
              </a:rPr>
              <a:t>Knowledge Base · AS-IS · 2026.07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37160"/>
            <a:ext cx="34747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6727C"/>
                </a:solidFill>
                <a:latin typeface="Noto Sans CJK T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9728"/>
            <a:ext cx="49377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63541"/>
                </a:solidFill>
                <a:latin typeface="Noto Sans CJK TC"/>
              </a:rPr>
              <a:t>文件攝入與知識建立架構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0" y="155448"/>
            <a:ext cx="6172200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6727C"/>
                </a:solidFill>
                <a:latin typeface="Noto Sans CJK TC"/>
              </a:rPr>
              <a:t>來源接入、轉檔/OCR、分塊與三種索引策略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" y="475488"/>
            <a:ext cx="11494008" cy="0"/>
          </a:xfrm>
          <a:prstGeom prst="line">
            <a:avLst/>
          </a:prstGeom>
          <a:ln w="8890">
            <a:solidFill>
              <a:srgbClr val="D8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4048" y="1051560"/>
            <a:ext cx="1965960" cy="49834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50975"/>
            <a:ext cx="1645919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3" y="960119"/>
            <a:ext cx="1536191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文件來源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0048" y="1051560"/>
            <a:ext cx="2834640" cy="49834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95097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960119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攝入處理管線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33872" y="1051560"/>
            <a:ext cx="2834640" cy="49834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98464" y="95097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960119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資料導向路由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2" y="1051560"/>
            <a:ext cx="2788920" cy="49834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53144" y="95097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8" y="960119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7B7C"/>
                </a:solidFill>
                <a:latin typeface="Noto Sans CJK TC"/>
              </a:rPr>
              <a:t>知識儲存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93392" y="1856231"/>
            <a:ext cx="1024128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67128" y="1673352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upload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93392" y="2852928"/>
            <a:ext cx="1024128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185416" y="2670048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watch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93392" y="3858768"/>
            <a:ext cx="1024128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76272" y="3675887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manual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59936" y="2240280"/>
            <a:ext cx="0" cy="301752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059936" y="3291840"/>
            <a:ext cx="0" cy="310896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02352" y="4005072"/>
            <a:ext cx="1115568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94376" y="3822191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chunks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287768" y="1874519"/>
            <a:ext cx="2039112" cy="301753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028431" y="1691640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Report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87768" y="3063240"/>
            <a:ext cx="2039112" cy="91440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037575" y="2889504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Vector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87768" y="4005072"/>
            <a:ext cx="2039112" cy="384048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91856" y="4123944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Semantic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287768" y="4965192"/>
            <a:ext cx="2039112" cy="475488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046720" y="5120640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archive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" y="1481328"/>
            <a:ext cx="1271016" cy="749808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API Upload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PDF / DOCX / XLSX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" y="2478024"/>
            <a:ext cx="1271016" cy="749808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Watch Folder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自動偵測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2376" y="3483864"/>
            <a:ext cx="1271016" cy="749808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Raw / Manual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批次匯入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2376" y="4617720"/>
            <a:ext cx="1271016" cy="749808"/>
          </a:xfrm>
          <a:prstGeom prst="roundRect">
            <a:avLst/>
          </a:prstGeom>
          <a:solidFill>
            <a:srgbClr val="F0F7EE"/>
          </a:solidFill>
          <a:ln w="13335">
            <a:solidFill>
              <a:srgbClr val="659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659462"/>
                </a:solidFill>
                <a:latin typeface="Noto Sans CJK TC"/>
              </a:rPr>
              <a:t>SHA-256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重複檔案控制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0" y="1490472"/>
            <a:ext cx="2084831" cy="749808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Redis Task State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任務 TTL / Lock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2542032"/>
            <a:ext cx="2084831" cy="749808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Celery Ingest Worker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清理舊索引後寫入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0" y="3602736"/>
            <a:ext cx="2084831" cy="804672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FileConverter + OCR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MarkItDown / Assets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17520" y="4690872"/>
            <a:ext cx="2084831" cy="749808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Chunker + Metadata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段落 / 頁碼 / 來源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1490472"/>
            <a:ext cx="1069848" cy="685800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REPORT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報告結構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2715768"/>
            <a:ext cx="1069848" cy="685800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VECTOR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Lab / Project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657600"/>
            <a:ext cx="1069848" cy="685800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SEMANTIC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4G / 5G / WiFi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4617720"/>
            <a:ext cx="1069848" cy="685800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PROCESSED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原文保存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43216" y="1490472"/>
            <a:ext cx="859536" cy="685800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nodes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43216" y="3657600"/>
            <a:ext cx="859536" cy="685800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58A39"/>
                </a:solidFill>
                <a:latin typeface="Noto Sans CJK TC"/>
              </a:rPr>
              <a:t>Ollama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entities</a:t>
            </a:r>
          </a:p>
        </p:txBody>
      </p:sp>
      <p:sp>
        <p:nvSpPr>
          <p:cNvPr id="50" name="Can 49"/>
          <p:cNvSpPr/>
          <p:nvPr/>
        </p:nvSpPr>
        <p:spPr>
          <a:xfrm>
            <a:off x="9326880" y="1490472"/>
            <a:ext cx="1828800" cy="749808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Neo4j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Document / Entity / Report</a:t>
            </a:r>
          </a:p>
        </p:txBody>
      </p:sp>
      <p:sp>
        <p:nvSpPr>
          <p:cNvPr id="51" name="Can 50"/>
          <p:cNvSpPr/>
          <p:nvPr/>
        </p:nvSpPr>
        <p:spPr>
          <a:xfrm>
            <a:off x="9326880" y="2779776"/>
            <a:ext cx="1828800" cy="749808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Qdrant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BGE 768D embeddings</a:t>
            </a:r>
          </a:p>
        </p:txBody>
      </p:sp>
      <p:sp>
        <p:nvSpPr>
          <p:cNvPr id="52" name="Can 51"/>
          <p:cNvSpPr/>
          <p:nvPr/>
        </p:nvSpPr>
        <p:spPr>
          <a:xfrm>
            <a:off x="9326880" y="4050791"/>
            <a:ext cx="1828800" cy="749808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Neo4j + Qdrant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語意實體 + 向量</a:t>
            </a:r>
          </a:p>
        </p:txBody>
      </p:sp>
      <p:sp>
        <p:nvSpPr>
          <p:cNvPr id="53" name="Can 52"/>
          <p:cNvSpPr/>
          <p:nvPr/>
        </p:nvSpPr>
        <p:spPr>
          <a:xfrm>
            <a:off x="9326880" y="5193792"/>
            <a:ext cx="1828800" cy="658368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File Store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processed / assets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" y="6620256"/>
            <a:ext cx="8046720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6727C"/>
                </a:solidFill>
                <a:latin typeface="Noto Sans CJK TC"/>
              </a:rPr>
              <a:t>同一管線依文件類型選擇 Report Graph、Vector-only 或 Semantic Graph；避免一種索引策略套用所有資料。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6620256"/>
            <a:ext cx="248716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6727C"/>
                </a:solidFill>
                <a:latin typeface="Noto Sans CJK TC"/>
              </a:rPr>
              <a:t>Knowledge Base · AS-IS · 2026.07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37160"/>
            <a:ext cx="34747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6727C"/>
                </a:solidFill>
                <a:latin typeface="Noto Sans CJK T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9728"/>
            <a:ext cx="49377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63541"/>
                </a:solidFill>
                <a:latin typeface="Noto Sans CJK TC"/>
              </a:rPr>
              <a:t>混合檢索、資料融合與引用架構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0" y="155448"/>
            <a:ext cx="6172200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6727C"/>
                </a:solidFill>
                <a:latin typeface="Noto Sans CJK TC"/>
              </a:rPr>
              <a:t>以可追溯來源組裝答案，避免模型脫離知識庫內容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" y="475488"/>
            <a:ext cx="11494008" cy="0"/>
          </a:xfrm>
          <a:prstGeom prst="line">
            <a:avLst/>
          </a:prstGeom>
          <a:ln w="8890">
            <a:solidFill>
              <a:srgbClr val="D8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4048" y="1143000"/>
            <a:ext cx="2194560" cy="4754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4241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3" y="1051560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查詢理解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143000"/>
            <a:ext cx="3017520" cy="4754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72384" y="104241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1051560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67B7C"/>
                </a:solidFill>
                <a:latin typeface="Noto Sans CJK TC"/>
              </a:rPr>
              <a:t>平行召回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143000"/>
            <a:ext cx="2560320" cy="4754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9088" y="104241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051560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融合與治理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143000"/>
            <a:ext cx="2633472" cy="4754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659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8592" y="1042415"/>
            <a:ext cx="16459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3456" y="1051560"/>
            <a:ext cx="153619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59462"/>
                </a:solidFill>
                <a:latin typeface="Noto Sans CJK TC"/>
              </a:rPr>
              <a:t>回答與呈現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67128" y="2057400"/>
            <a:ext cx="1143000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40864" y="1874519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vector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67128" y="3054096"/>
            <a:ext cx="1143000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50008" y="2871216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graph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67128" y="4050791"/>
            <a:ext cx="1143000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95728" y="3867912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file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31536" y="2057400"/>
            <a:ext cx="1197864" cy="969264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431536" y="3026664"/>
            <a:ext cx="1197864" cy="27432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31536" y="3026664"/>
            <a:ext cx="1197864" cy="1024127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18120" y="3410712"/>
            <a:ext cx="0" cy="429768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30768" y="4224528"/>
            <a:ext cx="1097280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40496" y="4041648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context + refs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0378440" y="3310128"/>
            <a:ext cx="0" cy="530352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378440" y="2176272"/>
            <a:ext cx="0" cy="420624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95528" y="1572768"/>
            <a:ext cx="1371600" cy="777240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Query Analyzer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意圖 / 關鍵字 / 範圍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" y="2679192"/>
            <a:ext cx="1371600" cy="749808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Mode Router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Basic · Deep · Hybrid+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8" y="3803904"/>
            <a:ext cx="1371600" cy="749808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Filters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類別 / 專案 / 時間</a:t>
            </a:r>
          </a:p>
        </p:txBody>
      </p:sp>
      <p:sp>
        <p:nvSpPr>
          <p:cNvPr id="35" name="Can 34"/>
          <p:cNvSpPr/>
          <p:nvPr/>
        </p:nvSpPr>
        <p:spPr>
          <a:xfrm>
            <a:off x="3310128" y="1664208"/>
            <a:ext cx="2121408" cy="786384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Qdrant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向量相似度召回</a:t>
            </a:r>
          </a:p>
        </p:txBody>
      </p:sp>
      <p:sp>
        <p:nvSpPr>
          <p:cNvPr id="36" name="Can 35"/>
          <p:cNvSpPr/>
          <p:nvPr/>
        </p:nvSpPr>
        <p:spPr>
          <a:xfrm>
            <a:off x="3310128" y="2660904"/>
            <a:ext cx="2121408" cy="786384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Neo4j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實體關聯與報告結構</a:t>
            </a:r>
          </a:p>
        </p:txBody>
      </p:sp>
      <p:sp>
        <p:nvSpPr>
          <p:cNvPr id="37" name="Can 36"/>
          <p:cNvSpPr/>
          <p:nvPr/>
        </p:nvSpPr>
        <p:spPr>
          <a:xfrm>
            <a:off x="3310128" y="3657600"/>
            <a:ext cx="2121408" cy="786384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Processed Files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原文片段與資產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2651760"/>
            <a:ext cx="1188720" cy="758952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Fusion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合併候選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14616" y="3840480"/>
            <a:ext cx="1216152" cy="758952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Rerank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業務排序 / 去重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76288" y="4901184"/>
            <a:ext cx="1773936" cy="603504"/>
          </a:xfrm>
          <a:prstGeom prst="roundRect">
            <a:avLst/>
          </a:prstGeom>
          <a:solidFill>
            <a:srgbClr val="FAEEEE"/>
          </a:solidFill>
          <a:ln w="13335">
            <a:solidFill>
              <a:srgbClr val="A8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A85F5F"/>
                </a:solidFill>
                <a:latin typeface="Noto Sans CJK TC"/>
              </a:rPr>
              <a:t>Guardrail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有來源不得宣稱無資料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28048" y="1554480"/>
            <a:ext cx="1700784" cy="621792"/>
          </a:xfrm>
          <a:prstGeom prst="roundRect">
            <a:avLst/>
          </a:prstGeom>
          <a:solidFill>
            <a:srgbClr val="F0F7EE"/>
          </a:solidFill>
          <a:ln w="13335">
            <a:solidFill>
              <a:srgbClr val="659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659462"/>
                </a:solidFill>
                <a:latin typeface="Noto Sans CJK TC"/>
              </a:rPr>
              <a:t>Ollama / OpenClaw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回答生成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28048" y="2596896"/>
            <a:ext cx="1700784" cy="713232"/>
          </a:xfrm>
          <a:prstGeom prst="roundRect">
            <a:avLst/>
          </a:prstGeom>
          <a:solidFill>
            <a:srgbClr val="F0F7EE"/>
          </a:solidFill>
          <a:ln w="13335">
            <a:solidFill>
              <a:srgbClr val="659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659462"/>
                </a:solidFill>
                <a:latin typeface="Noto Sans CJK TC"/>
              </a:rPr>
              <a:t>Citation Package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來源 / 頁碼 / 分數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8048" y="3840480"/>
            <a:ext cx="1700784" cy="749808"/>
          </a:xfrm>
          <a:prstGeom prst="roundRect">
            <a:avLst/>
          </a:prstGeom>
          <a:solidFill>
            <a:srgbClr val="F0F7EE"/>
          </a:solidFill>
          <a:ln w="13335">
            <a:solidFill>
              <a:srgbClr val="659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659462"/>
                </a:solidFill>
                <a:latin typeface="Noto Sans CJK TC"/>
              </a:rPr>
              <a:t>Search / Chat Reply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答案與可追溯引用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" y="6620256"/>
            <a:ext cx="8046720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6727C"/>
                </a:solidFill>
                <a:latin typeface="Noto Sans CJK TC"/>
              </a:rPr>
              <a:t>召回與答案生成分離：先取得可驗證的 context/citations，再交由 LLM 或 Agent 組裝回答。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6620256"/>
            <a:ext cx="248716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6727C"/>
                </a:solidFill>
                <a:latin typeface="Noto Sans CJK TC"/>
              </a:rPr>
              <a:t>Knowledge Base · AS-IS · 2026.07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37160"/>
            <a:ext cx="347472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6727C"/>
                </a:solidFill>
                <a:latin typeface="Noto Sans CJK T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9728"/>
            <a:ext cx="49377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63541"/>
                </a:solidFill>
                <a:latin typeface="Noto Sans CJK TC"/>
              </a:rPr>
              <a:t>現行站台與 On-Prem 部署架構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0" y="155448"/>
            <a:ext cx="6172200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6727C"/>
                </a:solidFill>
                <a:latin typeface="Noto Sans CJK TC"/>
              </a:rPr>
              <a:t>清楚區分容器內服務、主機 AI Runtime 與持久化資料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" y="475488"/>
            <a:ext cx="11494008" cy="0"/>
          </a:xfrm>
          <a:prstGeom prst="line">
            <a:avLst/>
          </a:prstGeom>
          <a:ln w="8890">
            <a:solidFill>
              <a:srgbClr val="D8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4048" y="1078992"/>
            <a:ext cx="5559552" cy="5166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78407"/>
            <a:ext cx="2084831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3" y="987551"/>
            <a:ext cx="1975103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現行站台：knowledge-base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078992"/>
            <a:ext cx="5532120" cy="5166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19088" y="978407"/>
            <a:ext cx="2304288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987551"/>
            <a:ext cx="219456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B2B / On-Prem Release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80744" y="1975104"/>
            <a:ext cx="0" cy="356616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90472" y="2084831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TLS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80744" y="2990088"/>
            <a:ext cx="0" cy="374904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04288" y="3739896"/>
            <a:ext cx="950976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59736" y="3557016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jobs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04288" y="3739896"/>
            <a:ext cx="950976" cy="1097280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23360" y="4114800"/>
            <a:ext cx="0" cy="347472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99432" y="4837176"/>
            <a:ext cx="475488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53712" y="4645152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host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51192" y="1975104"/>
            <a:ext cx="0" cy="356616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60920" y="2084831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TLS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51192" y="2990088"/>
            <a:ext cx="0" cy="374904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74736" y="3739896"/>
            <a:ext cx="950976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21040" y="3557016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jobs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74736" y="3739896"/>
            <a:ext cx="950976" cy="1097280"/>
          </a:xfrm>
          <a:prstGeom prst="bentConnector3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93808" y="4114800"/>
            <a:ext cx="0" cy="347472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469880" y="4837176"/>
            <a:ext cx="484632" cy="0"/>
          </a:xfrm>
          <a:prstGeom prst="line">
            <a:avLst/>
          </a:prstGeom>
          <a:ln w="13335">
            <a:solidFill>
              <a:srgbClr val="727C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433304" y="4645152"/>
            <a:ext cx="100584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66727C"/>
                </a:solidFill>
                <a:latin typeface="Noto Sans CJK TC"/>
              </a:rPr>
              <a:t>host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" y="1399032"/>
            <a:ext cx="1225296" cy="576072"/>
          </a:xfrm>
          <a:prstGeom prst="roundRect">
            <a:avLst/>
          </a:prstGeom>
          <a:solidFill>
            <a:srgbClr val="EAF1F6"/>
          </a:solidFill>
          <a:ln w="13335">
            <a:solidFill>
              <a:srgbClr val="17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173B59"/>
                </a:solidFill>
                <a:latin typeface="Noto Sans CJK TC"/>
              </a:rPr>
              <a:t>Browser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使用者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" y="2331720"/>
            <a:ext cx="1225296" cy="658368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Nginx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:3030 → TLS 443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" y="3364992"/>
            <a:ext cx="1536192" cy="749808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FastAPI Web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:8000 · 4 workers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55264" y="3364992"/>
            <a:ext cx="1536192" cy="749808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Celery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Search / Ingest / Beat</a:t>
            </a:r>
          </a:p>
        </p:txBody>
      </p:sp>
      <p:sp>
        <p:nvSpPr>
          <p:cNvPr id="34" name="Can 33"/>
          <p:cNvSpPr/>
          <p:nvPr/>
        </p:nvSpPr>
        <p:spPr>
          <a:xfrm>
            <a:off x="3255264" y="4462272"/>
            <a:ext cx="1536192" cy="749808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Redis + Neo4j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容器持久化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4462272"/>
            <a:ext cx="603504" cy="749808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C58A39"/>
                </a:solidFill>
                <a:latin typeface="Noto Sans CJK TC"/>
              </a:rPr>
              <a:t>Host AI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Qdrant
Ollama
OpenClaw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" y="4828032"/>
            <a:ext cx="1536192" cy="694944"/>
          </a:xfrm>
          <a:prstGeom prst="roundRect">
            <a:avLst/>
          </a:prstGeom>
          <a:solidFill>
            <a:srgbClr val="F3F5F6"/>
          </a:solidFill>
          <a:ln w="13335">
            <a:solidFill>
              <a:srgbClr val="747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47B80"/>
                </a:solidFill>
                <a:latin typeface="Noto Sans CJK TC"/>
              </a:rPr>
              <a:t>Frontend Files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Vue / chat.html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38544" y="1399032"/>
            <a:ext cx="1225296" cy="576072"/>
          </a:xfrm>
          <a:prstGeom prst="roundRect">
            <a:avLst/>
          </a:prstGeom>
          <a:solidFill>
            <a:srgbClr val="EAF1F6"/>
          </a:solidFill>
          <a:ln w="13335">
            <a:solidFill>
              <a:srgbClr val="17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173B59"/>
                </a:solidFill>
                <a:latin typeface="Noto Sans CJK TC"/>
              </a:rPr>
              <a:t>Browser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客戶端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38544" y="2331720"/>
            <a:ext cx="1225296" cy="658368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Nginx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可配置 HTTPS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38544" y="3364992"/>
            <a:ext cx="1536192" cy="749808"/>
          </a:xfrm>
          <a:prstGeom prst="roundRect">
            <a:avLst/>
          </a:prstGeom>
          <a:solidFill>
            <a:srgbClr val="EDF7FB"/>
          </a:solidFill>
          <a:ln w="13335">
            <a:solidFill>
              <a:srgbClr val="287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28729A"/>
                </a:solidFill>
                <a:latin typeface="Noto Sans CJK TC"/>
              </a:rPr>
              <a:t>FastAPI Web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Release container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25712" y="3364992"/>
            <a:ext cx="1536192" cy="749808"/>
          </a:xfrm>
          <a:prstGeom prst="roundRect">
            <a:avLst/>
          </a:prstGeom>
          <a:solidFill>
            <a:srgbClr val="F7F1FA"/>
          </a:solidFill>
          <a:ln w="13335">
            <a:solidFill>
              <a:srgbClr val="75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55595"/>
                </a:solidFill>
                <a:latin typeface="Noto Sans CJK TC"/>
              </a:rPr>
              <a:t>Celery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Search / Ingest / Beat</a:t>
            </a:r>
          </a:p>
        </p:txBody>
      </p:sp>
      <p:sp>
        <p:nvSpPr>
          <p:cNvPr id="41" name="Can 40"/>
          <p:cNvSpPr/>
          <p:nvPr/>
        </p:nvSpPr>
        <p:spPr>
          <a:xfrm>
            <a:off x="9125712" y="4462272"/>
            <a:ext cx="1536192" cy="749808"/>
          </a:xfrm>
          <a:prstGeom prst="can">
            <a:avLst/>
          </a:prstGeom>
          <a:solidFill>
            <a:srgbClr val="EDF8F6"/>
          </a:solidFill>
          <a:ln w="13335">
            <a:solidFill>
              <a:srgbClr val="267B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>
            <a:normAutofit/>
          </a:bodyPr>
          <a:lstStyle/>
          <a:p>
            <a:pPr algn="ctr"/>
            <a:r>
              <a:rPr sz="819" b="1">
                <a:solidFill>
                  <a:srgbClr val="267B7C"/>
                </a:solidFill>
                <a:latin typeface="Noto Sans CJK TC"/>
              </a:rPr>
              <a:t>Redis / Neo4j / Qdrant</a:t>
            </a:r>
          </a:p>
          <a:p>
            <a:pPr algn="ctr"/>
            <a:r>
              <a:rPr sz="620">
                <a:solidFill>
                  <a:srgbClr val="66727C"/>
                </a:solidFill>
                <a:latin typeface="Noto Sans CJK TC"/>
              </a:rPr>
              <a:t>Compose volumes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54512" y="4462272"/>
            <a:ext cx="603504" cy="749808"/>
          </a:xfrm>
          <a:prstGeom prst="roundRect">
            <a:avLst/>
          </a:prstGeom>
          <a:solidFill>
            <a:srgbClr val="FFF4E2"/>
          </a:solidFill>
          <a:ln w="13335">
            <a:solidFill>
              <a:srgbClr val="C58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C58A39"/>
                </a:solidFill>
                <a:latin typeface="Noto Sans CJK TC"/>
              </a:rPr>
              <a:t>Host AI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>
                <a:solidFill>
                  <a:srgbClr val="66727C"/>
                </a:solidFill>
                <a:latin typeface="Noto Sans CJK TC"/>
              </a:rPr>
              <a:t>Ollama
OpenClaw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38544" y="4828032"/>
            <a:ext cx="1536192" cy="694944"/>
          </a:xfrm>
          <a:prstGeom prst="roundRect">
            <a:avLst/>
          </a:prstGeom>
          <a:solidFill>
            <a:srgbClr val="F3F5F6"/>
          </a:solidFill>
          <a:ln w="13335">
            <a:solidFill>
              <a:srgbClr val="747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747B80"/>
                </a:solidFill>
                <a:latin typeface="Noto Sans CJK TC"/>
              </a:rPr>
              <a:t>Installer / Preflight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>
                <a:solidFill>
                  <a:srgbClr val="66727C"/>
                </a:solidFill>
                <a:latin typeface="Noto Sans CJK TC"/>
              </a:rPr>
              <a:t>Config · Upgrade · Backup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5724144"/>
            <a:ext cx="480060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28729A"/>
                </a:solidFill>
                <a:latin typeface="Noto Sans CJK TC"/>
              </a:rPr>
              <a:t>現況：Qdrant、Ollama、OpenClaw 位於 host；應用與工作程序由 Compose 管理。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5724144"/>
            <a:ext cx="480060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755595"/>
                </a:solidFill>
                <a:latin typeface="Noto Sans CJK TC"/>
              </a:rPr>
              <a:t>Release：Qdrant 隨 Compose 交付；Ollama、OpenClaw 保留為主機外部相依。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" y="6620256"/>
            <a:ext cx="8046720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6727C"/>
                </a:solidFill>
                <a:latin typeface="Noto Sans CJK TC"/>
              </a:rPr>
              <a:t>兩種部署拓撲不可混為一談；安裝前應檢查主機 runtime、連線埠與持久化路徑。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6620256"/>
            <a:ext cx="2487168" cy="1280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>
                <a:solidFill>
                  <a:srgbClr val="66727C"/>
                </a:solidFill>
                <a:latin typeface="Noto Sans CJK TC"/>
              </a:rPr>
              <a:t>Knowledge Base · AS-IS · 2026.07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Base Architecture - all_dig style</dc:title>
  <dc:subject>Enterprise architecture diagrams</dc:subject>
  <dc:creator>Knowledge Base Architecture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