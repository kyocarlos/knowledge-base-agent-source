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28600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ARCHITECTURE DIAGRAM 1/5 ·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38912"/>
            <a:ext cx="996696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3"/>
                </a:solidFill>
                <a:latin typeface="Noto Serif CJK TC"/>
              </a:rPr>
              <a:t>Knowledge Base 系統完整端到端架構圖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841248"/>
            <a:ext cx="104698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77A"/>
                </a:solidFill>
                <a:latin typeface="Noto Sans CJK TC"/>
              </a:rPr>
              <a:t>從瀏覽器入口、FastAPI/Celery 編排、知識處理與 AI 推論，到 Qdrant、Neo4j 與檔案資產的完整連線。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54512" y="283464"/>
            <a:ext cx="658368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25296"/>
            <a:ext cx="1234440" cy="5010912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" y="1316736"/>
            <a:ext cx="1014984" cy="23774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USERS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46504" y="1225296"/>
            <a:ext cx="1920240" cy="5010912"/>
          </a:xfrm>
          <a:prstGeom prst="roundRect">
            <a:avLst/>
          </a:prstGeom>
          <a:solidFill>
            <a:srgbClr val="F1F5FF"/>
          </a:solidFill>
          <a:ln w="1651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56231" y="1316736"/>
            <a:ext cx="1417320" cy="237744"/>
          </a:xfrm>
          <a:prstGeom prst="roundRect">
            <a:avLst/>
          </a:prstGeom>
          <a:solidFill>
            <a:srgbClr val="5B8DEF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2191" y="1225296"/>
            <a:ext cx="2788920" cy="5010912"/>
          </a:xfrm>
          <a:prstGeom prst="roundRect">
            <a:avLst/>
          </a:prstGeom>
          <a:solidFill>
            <a:srgbClr val="E4F7F6"/>
          </a:solidFill>
          <a:ln w="1651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31920" y="1316736"/>
            <a:ext cx="1417320" cy="237744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APPLICATION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1225296"/>
            <a:ext cx="2103120" cy="5010912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76288" y="1316736"/>
            <a:ext cx="1417320" cy="237744"/>
          </a:xfrm>
          <a:prstGeom prst="roundRect">
            <a:avLst/>
          </a:prstGeom>
          <a:solidFill>
            <a:srgbClr val="A96B00"/>
          </a:solidFill>
          <a:ln w="1270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225296"/>
            <a:ext cx="2743200" cy="5010912"/>
          </a:xfrm>
          <a:prstGeom prst="roundRect">
            <a:avLst/>
          </a:prstGeom>
          <a:solidFill>
            <a:srgbClr val="E6F6EE"/>
          </a:solidFill>
          <a:ln w="1651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34855" y="1316736"/>
            <a:ext cx="1417320" cy="23774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DATA &amp; AI SERVICES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26464" y="2185416"/>
            <a:ext cx="475488" cy="0"/>
          </a:xfrm>
          <a:prstGeom prst="line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89888" y="190195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HTTPS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26464" y="4279392"/>
            <a:ext cx="475488" cy="0"/>
          </a:xfrm>
          <a:prstGeom prst="line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89888" y="3986784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HTTPS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47288" y="2039112"/>
            <a:ext cx="557784" cy="0"/>
          </a:xfrm>
          <a:prstGeom prst="line">
            <a:avLst/>
          </a:prstGeom>
          <a:ln w="20320">
            <a:solidFill>
              <a:srgbClr val="5B8D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401568" y="176479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5B8DEF"/>
                </a:solidFill>
                <a:latin typeface="Noto Sans CJK TC"/>
              </a:rPr>
              <a:t>REST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447288" y="2944368"/>
            <a:ext cx="557784" cy="0"/>
          </a:xfrm>
          <a:prstGeom prst="line">
            <a:avLst/>
          </a:prstGeom>
          <a:ln w="20320">
            <a:solidFill>
              <a:srgbClr val="5B8D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401568" y="267004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5B8DEF"/>
                </a:solidFill>
                <a:latin typeface="Noto Sans CJK TC"/>
              </a:rPr>
              <a:t>WSS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47288" y="4187952"/>
            <a:ext cx="557784" cy="0"/>
          </a:xfrm>
          <a:prstGeom prst="line">
            <a:avLst/>
          </a:prstGeom>
          <a:ln w="20320">
            <a:solidFill>
              <a:srgbClr val="5B8D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401568" y="391363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5B8DEF"/>
                </a:solidFill>
                <a:latin typeface="Noto Sans CJK TC"/>
              </a:rPr>
              <a:t>REST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937760" y="2459736"/>
            <a:ext cx="0" cy="1033272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99432" y="2889504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task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49824" y="3959352"/>
            <a:ext cx="0" cy="676656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102352" y="417880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queue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727448" y="2148840"/>
            <a:ext cx="2221992" cy="2926080"/>
          </a:xfrm>
          <a:prstGeom prst="bentConnector3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71616" y="2505456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search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879592" y="3749039"/>
            <a:ext cx="1069848" cy="1325881"/>
          </a:xfrm>
          <a:prstGeom prst="bentConnector3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36208" y="423367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ingest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98464" y="2944368"/>
            <a:ext cx="950976" cy="2066544"/>
          </a:xfrm>
          <a:prstGeom prst="bentConnector3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300216" y="459028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proxy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659368" y="1920240"/>
            <a:ext cx="566928" cy="228600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659368" y="157276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A96B00"/>
                </a:solidFill>
                <a:latin typeface="Noto Sans CJK TC"/>
              </a:rPr>
              <a:t>vector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59368" y="2331720"/>
            <a:ext cx="566928" cy="667512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659368" y="263347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A96B00"/>
                </a:solidFill>
                <a:latin typeface="Noto Sans CJK TC"/>
              </a:rPr>
              <a:t>graph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659368" y="2560320"/>
            <a:ext cx="566928" cy="2999232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659368" y="5175504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A96B00"/>
                </a:solidFill>
                <a:latin typeface="Noto Sans CJK TC"/>
              </a:rPr>
              <a:t>LLM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659368" y="3749039"/>
            <a:ext cx="566928" cy="347473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659368" y="376732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A96B00"/>
                </a:solidFill>
                <a:latin typeface="Noto Sans CJK TC"/>
              </a:rPr>
              <a:t>write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8659368" y="3218688"/>
            <a:ext cx="566928" cy="667512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659368" y="5010912"/>
            <a:ext cx="566928" cy="548640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659368" y="5084064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A96B00"/>
                </a:solidFill>
                <a:latin typeface="Noto Sans CJK TC"/>
              </a:rPr>
              <a:t>agent</a:t>
            </a:r>
          </a:p>
        </p:txBody>
      </p:sp>
      <p:cxnSp>
        <p:nvCxnSpPr>
          <p:cNvPr id="50" name="Connector 49"/>
          <p:cNvCxnSpPr/>
          <p:nvPr/>
        </p:nvCxnSpPr>
        <p:spPr>
          <a:xfrm flipH="1" flipV="1">
            <a:off x="7955279" y="5010912"/>
            <a:ext cx="2414017" cy="64008"/>
          </a:xfrm>
          <a:prstGeom prst="bentConnector3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942832" y="4764024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E9D68"/>
                </a:solidFill>
                <a:latin typeface="Noto Sans CJK TC"/>
              </a:rPr>
              <a:t>identity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21207" y="1746504"/>
            <a:ext cx="923544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1207" y="1746504"/>
            <a:ext cx="54864" cy="859536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1847088"/>
            <a:ext cx="67665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知識使用者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2194560"/>
            <a:ext cx="667512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搜尋、問答、引用追溯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21207" y="3831336"/>
            <a:ext cx="923544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1207" y="3831336"/>
            <a:ext cx="54864" cy="89611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7512" y="3931920"/>
            <a:ext cx="67665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F6FED"/>
                </a:solidFill>
                <a:latin typeface="Noto Sans CJK TC"/>
              </a:rPr>
              <a:t>管理/維護者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4279392"/>
            <a:ext cx="667512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2677A"/>
                </a:solidFill>
                <a:latin typeface="Noto Sans CJK TC"/>
              </a:rPr>
              <a:t>上傳、Chunk、排程、日誌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01952" y="1554480"/>
            <a:ext cx="1545336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901952" y="1554480"/>
            <a:ext cx="54864" cy="66751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48256" y="1655064"/>
            <a:ext cx="12984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B8DEF"/>
                </a:solidFill>
                <a:latin typeface="Noto Sans CJK TC"/>
              </a:rPr>
              <a:t>Nginx TLS Gateway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39112" y="2002536"/>
            <a:ext cx="1289304" cy="137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2677A"/>
                </a:solidFill>
                <a:latin typeface="Noto Sans CJK TC"/>
              </a:rPr>
              <a:t>HTTPS 靜態頁 + API/WS proxy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901952" y="2395728"/>
            <a:ext cx="154533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901952" y="2395728"/>
            <a:ext cx="54864" cy="71323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48256" y="2496312"/>
            <a:ext cx="12984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B8DEF"/>
                </a:solidFill>
                <a:latin typeface="Noto Sans CJK TC"/>
              </a:rPr>
              <a:t>Vue Search / Admin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39112" y="2843784"/>
            <a:ext cx="128930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52677A"/>
                </a:solidFill>
                <a:latin typeface="Noto Sans CJK TC"/>
              </a:rPr>
              <a:t>搜尋、上傳、管理、Chunk、Skills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901952" y="3328416"/>
            <a:ext cx="154533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01952" y="3328416"/>
            <a:ext cx="54864" cy="71323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48256" y="3429000"/>
            <a:ext cx="12984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5B8DEF"/>
                </a:solidFill>
                <a:latin typeface="Noto Sans CJK TC"/>
              </a:rPr>
              <a:t>Chat UI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39112" y="3776472"/>
            <a:ext cx="128930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KB context、來源、WebSocket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901952" y="4206240"/>
            <a:ext cx="1545336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901952" y="4206240"/>
            <a:ext cx="54864" cy="768096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048256" y="4306824"/>
            <a:ext cx="12984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5B8DEF"/>
                </a:solidFill>
                <a:latin typeface="Noto Sans CJK TC"/>
              </a:rPr>
              <a:t>Upload / Watch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39112" y="4654296"/>
            <a:ext cx="1289304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>
                <a:solidFill>
                  <a:srgbClr val="52677A"/>
                </a:solidFill>
                <a:latin typeface="Noto Sans CJK TC"/>
              </a:rPr>
              <a:t>API 上傳與 watch folder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005072" y="1581912"/>
            <a:ext cx="1993392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005072" y="1581912"/>
            <a:ext cx="54864" cy="87782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142232" y="1700784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42232" y="17007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FA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0" y="1682496"/>
            <a:ext cx="12984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>
                <a:solidFill>
                  <a:srgbClr val="00A6A6"/>
                </a:solidFill>
                <a:latin typeface="Noto Sans CJK TC"/>
              </a:rPr>
              <a:t>FastAPI / Uvicorn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42232" y="2029967"/>
            <a:ext cx="1737360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REST API、Pydantic、task status、admin API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005072" y="2642616"/>
            <a:ext cx="199339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005072" y="2642616"/>
            <a:ext cx="54864" cy="74980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4142232" y="2761488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42232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WS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0" y="2743200"/>
            <a:ext cx="129844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00A6A6"/>
                </a:solidFill>
                <a:latin typeface="Noto Sans CJK TC"/>
              </a:rPr>
              <a:t>WebSocket Proxy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42232" y="3090672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chat queue、session lock、upstream events</a:t>
            </a:r>
          </a:p>
        </p:txBody>
      </p:sp>
      <p:sp>
        <p:nvSpPr>
          <p:cNvPr id="88" name="Can 87"/>
          <p:cNvSpPr/>
          <p:nvPr/>
        </p:nvSpPr>
        <p:spPr>
          <a:xfrm>
            <a:off x="4005072" y="3575304"/>
            <a:ext cx="1993392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4114800" y="3703320"/>
            <a:ext cx="402336" cy="24688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RD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608576" y="3685032"/>
            <a:ext cx="126187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A6A6"/>
                </a:solidFill>
                <a:latin typeface="Noto Sans CJK TC"/>
              </a:rPr>
              <a:t>Redis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2232" y="4032504"/>
            <a:ext cx="171907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Celery broker/result、cache、task/chat state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005072" y="4636008"/>
            <a:ext cx="932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005072" y="4636008"/>
            <a:ext cx="54864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51376" y="4736592"/>
            <a:ext cx="6858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A6A6"/>
                </a:solidFill>
                <a:latin typeface="Noto Sans CJK TC"/>
              </a:rPr>
              <a:t>Search Worker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42232" y="5084064"/>
            <a:ext cx="6766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52677A"/>
                </a:solidFill>
                <a:latin typeface="Noto Sans CJK TC"/>
              </a:rPr>
              <a:t>queue=search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065776" y="4636008"/>
            <a:ext cx="93268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065776" y="4636008"/>
            <a:ext cx="54864" cy="82296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12080" y="4736592"/>
            <a:ext cx="6858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A6A6"/>
                </a:solidFill>
                <a:latin typeface="Noto Sans CJK TC"/>
              </a:rPr>
              <a:t>Ingest Worker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202936" y="5084064"/>
            <a:ext cx="676656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52677A"/>
                </a:solidFill>
                <a:latin typeface="Noto Sans CJK TC"/>
              </a:rPr>
              <a:t>queue=ingest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005072" y="5614416"/>
            <a:ext cx="1993392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005072" y="5614416"/>
            <a:ext cx="54864" cy="4572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51376" y="5715000"/>
            <a:ext cx="174650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0A6A6"/>
                </a:solidFill>
                <a:latin typeface="Noto Sans CJK TC"/>
              </a:rPr>
              <a:t>Celery Beat · watch folder scheduler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42232" y="6062472"/>
            <a:ext cx="1737360" cy="-7315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/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949440" y="1627632"/>
            <a:ext cx="1709928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949440" y="1627632"/>
            <a:ext cx="54864" cy="94183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086600" y="1746504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086600" y="174650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SE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516367" y="1728216"/>
            <a:ext cx="10149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A96B00"/>
                </a:solidFill>
                <a:latin typeface="Noto Sans CJK TC"/>
              </a:rPr>
              <a:t>SearchEngine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86600" y="2075688"/>
            <a:ext cx="1453896" cy="411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2677A"/>
                </a:solidFill>
                <a:latin typeface="Noto Sans CJK TC"/>
              </a:rPr>
              <a:t>Basic / Deep / Vector / Hybrid / Report Graph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949440" y="3182112"/>
            <a:ext cx="170992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949440" y="3182112"/>
            <a:ext cx="54864" cy="932688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086600" y="3300984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086600" y="33009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DP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516367" y="3282696"/>
            <a:ext cx="10149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A96B00"/>
                </a:solidFill>
                <a:latin typeface="Noto Sans CJK TC"/>
              </a:rPr>
              <a:t>Document Pipeline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086600" y="3630168"/>
            <a:ext cx="145389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2677A"/>
                </a:solidFill>
                <a:latin typeface="Noto Sans CJK TC"/>
              </a:rPr>
              <a:t>MarkItDown、OCR、assets、chunk、metadata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949440" y="4608576"/>
            <a:ext cx="1709928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949440" y="4608576"/>
            <a:ext cx="54864" cy="859536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086600" y="4727448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086600" y="47274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OC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16367" y="4709160"/>
            <a:ext cx="10149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A96B00"/>
                </a:solidFill>
                <a:latin typeface="Noto Sans CJK TC"/>
              </a:rPr>
              <a:t>OpenClaw Gateway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86600" y="5056632"/>
            <a:ext cx="1453896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52677A"/>
                </a:solidFill>
                <a:latin typeface="Noto Sans CJK TC"/>
              </a:rPr>
              <a:t>agent events、tools、session</a:t>
            </a:r>
          </a:p>
        </p:txBody>
      </p:sp>
      <p:sp>
        <p:nvSpPr>
          <p:cNvPr id="122" name="Can 121"/>
          <p:cNvSpPr/>
          <p:nvPr/>
        </p:nvSpPr>
        <p:spPr>
          <a:xfrm>
            <a:off x="9226296" y="1527048"/>
            <a:ext cx="1152144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317736" y="1636776"/>
            <a:ext cx="969264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9D68"/>
                </a:solidFill>
                <a:latin typeface="Noto Sans CJK TC"/>
              </a:rPr>
              <a:t>Qdrant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63456" y="1984248"/>
            <a:ext cx="877824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768D chunks</a:t>
            </a:r>
          </a:p>
        </p:txBody>
      </p:sp>
      <p:sp>
        <p:nvSpPr>
          <p:cNvPr id="125" name="Can 124"/>
          <p:cNvSpPr/>
          <p:nvPr/>
        </p:nvSpPr>
        <p:spPr>
          <a:xfrm>
            <a:off x="10488168" y="1527048"/>
            <a:ext cx="1097280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579608" y="1636776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9D68"/>
                </a:solidFill>
                <a:latin typeface="Noto Sans CJK TC"/>
              </a:rPr>
              <a:t>Neo4j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625328" y="1984248"/>
            <a:ext cx="822959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graph data</a:t>
            </a:r>
          </a:p>
        </p:txBody>
      </p:sp>
      <p:sp>
        <p:nvSpPr>
          <p:cNvPr id="128" name="Can 127"/>
          <p:cNvSpPr/>
          <p:nvPr/>
        </p:nvSpPr>
        <p:spPr>
          <a:xfrm>
            <a:off x="9226296" y="2633472"/>
            <a:ext cx="2359152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9336024" y="2761488"/>
            <a:ext cx="402336" cy="24688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FS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29800" y="2743200"/>
            <a:ext cx="162763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File Store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363456" y="3090672"/>
            <a:ext cx="2084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raw / watch / uploads / processed / assets</a:t>
            </a:r>
          </a:p>
        </p:txBody>
      </p:sp>
      <p:sp>
        <p:nvSpPr>
          <p:cNvPr id="132" name="Can 131"/>
          <p:cNvSpPr/>
          <p:nvPr/>
        </p:nvSpPr>
        <p:spPr>
          <a:xfrm>
            <a:off x="9226296" y="3803904"/>
            <a:ext cx="2359152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9336024" y="3931920"/>
            <a:ext cx="402336" cy="24688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RT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829800" y="3913632"/>
            <a:ext cx="162763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OpenClaw Runtime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363456" y="4261104"/>
            <a:ext cx="2084832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identity / workspace / skills / memory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9226296" y="5193792"/>
            <a:ext cx="2359152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226296" y="5193792"/>
            <a:ext cx="54864" cy="768096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9363456" y="5312664"/>
            <a:ext cx="347472" cy="347472"/>
          </a:xfrm>
          <a:prstGeom prst="round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363456" y="531266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LLM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93224" y="5294376"/>
            <a:ext cx="166420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Ollama LLM Service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363456" y="564184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qwen3-coder-next · host :11434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57200" y="6272784"/>
            <a:ext cx="1188720" cy="21945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CJK TC"/>
              </a:rPr>
              <a:t>SOLID ARROW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764792" y="6281928"/>
            <a:ext cx="374903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表示主要 request / task / data flow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38912" y="6419088"/>
            <a:ext cx="11173968" cy="9144"/>
          </a:xfrm>
          <a:prstGeom prst="rect">
            <a:avLst/>
          </a:prstGeom>
          <a:solidFill>
            <a:srgbClr val="CC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38912" y="6473952"/>
            <a:ext cx="95097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2677A"/>
                </a:solidFill>
                <a:latin typeface="Noto Sans CJK TC"/>
              </a:rPr>
              <a:t>架構重點｜互動入口與背景任務分離；Search 與 Ingest 共用 Redis 編排，但分別進入檢索與文件處理管線。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012680" y="6473952"/>
            <a:ext cx="160020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AS-IS · 2026.07.20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28600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ARCHITECTURE DIAGRAM 2/5 ·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38912"/>
            <a:ext cx="996696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3"/>
                </a:solidFill>
                <a:latin typeface="Noto Serif CJK TC"/>
              </a:rPr>
              <a:t>查詢與 OpenClaw 聊天架構圖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841248"/>
            <a:ext cx="104698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77A"/>
                </a:solidFill>
                <a:latin typeface="Noto Sans CJK TC"/>
              </a:rPr>
              <a:t>同一個前端同時使用 REST 任務式搜尋與 WebSocket 串流聊天；兩條路徑在答案呈現時整合 KB 來源。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54512" y="283464"/>
            <a:ext cx="658368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80160"/>
            <a:ext cx="11338560" cy="2176272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1371600"/>
            <a:ext cx="1417320" cy="23774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PATH A · KB SEARCH / REST + CELERY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685032"/>
            <a:ext cx="11338560" cy="2212848"/>
          </a:xfrm>
          <a:prstGeom prst="roundRect">
            <a:avLst/>
          </a:prstGeom>
          <a:solidFill>
            <a:srgbClr val="E4F7F6"/>
          </a:solidFill>
          <a:ln w="1651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6" y="3776472"/>
            <a:ext cx="1417320" cy="237744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PATH B · AI CHAT /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837943"/>
            <a:ext cx="1152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938527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Browser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2286000"/>
            <a:ext cx="89611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提出問題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37943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84248" y="1837943"/>
            <a:ext cx="1152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84248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21408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21408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6" y="1938527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Nginx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2286000"/>
            <a:ext cx="89611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POST /search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200399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46704" y="1837943"/>
            <a:ext cx="1152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46704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83864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83864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3632" y="1938527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FastAPI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3864" y="2286000"/>
            <a:ext cx="89611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建立 task_id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562856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09160" y="1837943"/>
            <a:ext cx="13075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9160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46320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6088" y="1938527"/>
            <a:ext cx="612647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Redis / Celery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2286000"/>
            <a:ext cx="10515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search queue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6080760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36208" y="1837943"/>
            <a:ext cx="13075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36208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73368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1938527"/>
            <a:ext cx="612647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SearchEngine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2286000"/>
            <a:ext cx="10515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路由與雙引擎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7607808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63256" y="1837943"/>
            <a:ext cx="13075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63256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900416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00416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0183" y="1938527"/>
            <a:ext cx="612647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Qdrant + Neo4j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0416" y="2286000"/>
            <a:ext cx="10515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向量 + 圖譜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134856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290304" y="1837943"/>
            <a:ext cx="13075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90304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427464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27464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57232" y="1938527"/>
            <a:ext cx="612647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Ollama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27464" y="2286000"/>
            <a:ext cx="1051560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答案生成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10661904" y="2212848"/>
            <a:ext cx="164592" cy="274320"/>
          </a:xfrm>
          <a:prstGeom prst="rightArrow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497312" y="1837943"/>
            <a:ext cx="1152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97312" y="1837943"/>
            <a:ext cx="54864" cy="100584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634472" y="1956815"/>
            <a:ext cx="347472" cy="347472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34472" y="19568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064240" y="1938527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F6FED"/>
                </a:solidFill>
                <a:latin typeface="Noto Sans CJK TC"/>
              </a:rPr>
              <a:t>Task Result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34472" y="2286000"/>
            <a:ext cx="89611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2677A"/>
                </a:solidFill>
                <a:latin typeface="Noto Sans CJK TC"/>
              </a:rPr>
              <a:t>poll + citations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3017520"/>
            <a:ext cx="10698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F6FED"/>
                </a:solidFill>
                <a:latin typeface="Noto Sans CJK TC"/>
              </a:rPr>
              <a:t>回傳：answer · sources · citation_distribution · mode · queue_position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1792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758952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58952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8720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Chat UI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載入 chat-config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1911096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103120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03120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240279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40279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70048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KB Context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240279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依題型背景檢索</a:t>
            </a:r>
          </a:p>
        </p:txBody>
      </p:sp>
      <p:sp>
        <p:nvSpPr>
          <p:cNvPr id="82" name="Right Arrow 81"/>
          <p:cNvSpPr/>
          <p:nvPr/>
        </p:nvSpPr>
        <p:spPr>
          <a:xfrm>
            <a:off x="3392424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3584448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84448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721608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721608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51376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FastAPI /ws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21608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auth + WSS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4873751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065776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065776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202936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202936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32704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Queue / Locks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02936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browser + global slot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6355080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547104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547104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684264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84264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14032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OpenClaw GW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84264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agent / tools</a:t>
            </a:r>
          </a:p>
        </p:txBody>
      </p:sp>
      <p:sp>
        <p:nvSpPr>
          <p:cNvPr id="103" name="Right Arrow 102"/>
          <p:cNvSpPr/>
          <p:nvPr/>
        </p:nvSpPr>
        <p:spPr>
          <a:xfrm>
            <a:off x="7836408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028431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028431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165592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165592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595359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Ollama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65592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LLM inference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9317736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9509760" y="4261104"/>
            <a:ext cx="12344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509760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9646920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46920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76688" y="4361688"/>
            <a:ext cx="53949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Agent Events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646920" y="4709160"/>
            <a:ext cx="978408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stream delta / lifecycle</a:t>
            </a:r>
          </a:p>
        </p:txBody>
      </p:sp>
      <p:sp>
        <p:nvSpPr>
          <p:cNvPr id="117" name="Right Arrow 116"/>
          <p:cNvSpPr/>
          <p:nvPr/>
        </p:nvSpPr>
        <p:spPr>
          <a:xfrm>
            <a:off x="10799064" y="4636008"/>
            <a:ext cx="164592" cy="274320"/>
          </a:xfrm>
          <a:prstGeom prst="right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10689336" y="4261104"/>
            <a:ext cx="1152144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689336" y="4261104"/>
            <a:ext cx="54864" cy="10058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ounded Rectangle 119"/>
          <p:cNvSpPr/>
          <p:nvPr/>
        </p:nvSpPr>
        <p:spPr>
          <a:xfrm>
            <a:off x="10826496" y="4379976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826496" y="43799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08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256263" y="4361688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A6A6"/>
                </a:solidFill>
                <a:latin typeface="Noto Sans CJK TC"/>
              </a:rPr>
              <a:t>Rendered Reply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26496" y="4709160"/>
            <a:ext cx="896112" cy="475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52677A"/>
                </a:solidFill>
                <a:latin typeface="Noto Sans CJK TC"/>
              </a:rPr>
              <a:t>來源 + fallback</a:t>
            </a:r>
          </a:p>
        </p:txBody>
      </p:sp>
      <p:cxnSp>
        <p:nvCxnSpPr>
          <p:cNvPr id="124" name="Connector 123"/>
          <p:cNvCxnSpPr/>
          <p:nvPr/>
        </p:nvCxnSpPr>
        <p:spPr>
          <a:xfrm flipV="1">
            <a:off x="2724912" y="2843784"/>
            <a:ext cx="3657600" cy="1417320"/>
          </a:xfrm>
          <a:prstGeom prst="bentConnector3">
            <a:avLst/>
          </a:prstGeom>
          <a:ln w="20320">
            <a:solidFill>
              <a:srgbClr val="007F7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114800" y="321868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7F7F"/>
                </a:solidFill>
                <a:latin typeface="Noto Sans CJK TC"/>
              </a:rPr>
              <a:t>KB result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8368" y="5477256"/>
            <a:ext cx="10698480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007F7F"/>
                </a:solidFill>
                <a:latin typeface="Noto Sans CJK TC"/>
              </a:rPr>
              <a:t>可靠度：idempotency key · WebSocket reconnect · active-slot TTL · queued request cleanup · deterministic KB excerpt fallback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38912" y="6419088"/>
            <a:ext cx="11173968" cy="9144"/>
          </a:xfrm>
          <a:prstGeom prst="rect">
            <a:avLst/>
          </a:prstGeom>
          <a:solidFill>
            <a:srgbClr val="CC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38912" y="6473952"/>
            <a:ext cx="95097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2677A"/>
                </a:solidFill>
                <a:latin typeface="Noto Sans CJK TC"/>
              </a:rPr>
              <a:t>架構重點｜REST 路徑確保完整知識庫結果；WebSocket 路徑優先串流體感，並用 KB context 與引用補強可信度。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012680" y="6473952"/>
            <a:ext cx="160020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AS-IS · 2026.07.20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28600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ARCHITECTURE DIAGRAM 3/5 ·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38912"/>
            <a:ext cx="996696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3"/>
                </a:solidFill>
                <a:latin typeface="Noto Serif CJK TC"/>
              </a:rPr>
              <a:t>文件攝入與知識建立架構圖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841248"/>
            <a:ext cx="104698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77A"/>
                </a:solidFill>
                <a:latin typeface="Noto Sans CJK TC"/>
              </a:rPr>
              <a:t>輸入文件先進入非同步任務，再經轉檔、資產保存、分塊與模式路由，最後寫入 Qdrant、Neo4j 與可回溯檔案。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54512" y="283464"/>
            <a:ext cx="658368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TC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261872"/>
            <a:ext cx="1847088" cy="4846320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3776" y="1353312"/>
            <a:ext cx="1417320" cy="23774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261872"/>
            <a:ext cx="1883664" cy="4846320"/>
          </a:xfrm>
          <a:prstGeom prst="roundRect">
            <a:avLst/>
          </a:prstGeom>
          <a:solidFill>
            <a:srgbClr val="E4F7F6"/>
          </a:solidFill>
          <a:ln w="1651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05456" y="1353312"/>
            <a:ext cx="1417320" cy="237744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4" y="1261872"/>
            <a:ext cx="2103120" cy="4846320"/>
          </a:xfrm>
          <a:prstGeom prst="roundRect">
            <a:avLst/>
          </a:prstGeom>
          <a:solidFill>
            <a:srgbClr val="F1F5FF"/>
          </a:solidFill>
          <a:ln w="1651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3712" y="1353312"/>
            <a:ext cx="1417320" cy="237744"/>
          </a:xfrm>
          <a:prstGeom prst="roundRect">
            <a:avLst/>
          </a:prstGeom>
          <a:solidFill>
            <a:srgbClr val="5B8DEF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NORMALIZATION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11696" y="1261872"/>
            <a:ext cx="2084831" cy="484632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21424" y="1353312"/>
            <a:ext cx="1417320" cy="237744"/>
          </a:xfrm>
          <a:prstGeom prst="roundRect">
            <a:avLst/>
          </a:prstGeom>
          <a:solidFill>
            <a:srgbClr val="A96B00"/>
          </a:solidFill>
          <a:ln w="1270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MODE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261872"/>
            <a:ext cx="2761488" cy="4846320"/>
          </a:xfrm>
          <a:prstGeom prst="roundRect">
            <a:avLst/>
          </a:prstGeom>
          <a:solidFill>
            <a:srgbClr val="E6F6EE"/>
          </a:solidFill>
          <a:ln w="1651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70848" y="1353312"/>
            <a:ext cx="1417320" cy="23774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" y="1737360"/>
            <a:ext cx="1444752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" y="1737360"/>
            <a:ext cx="54864" cy="79552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37943"/>
            <a:ext cx="11978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F6FED"/>
                </a:solidFill>
                <a:latin typeface="Noto Sans CJK TC"/>
              </a:rPr>
              <a:t>API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185415"/>
            <a:ext cx="1188720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/api/upload + task_id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" y="2779776"/>
            <a:ext cx="1444752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5216" y="2779776"/>
            <a:ext cx="54864" cy="79552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880360"/>
            <a:ext cx="11978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F6FED"/>
                </a:solidFill>
                <a:latin typeface="Noto Sans CJK TC"/>
              </a:rPr>
              <a:t>Watch Folder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3227832"/>
            <a:ext cx="1188720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Celery Beat 定時掃描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" y="3822191"/>
            <a:ext cx="1444752" cy="795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" y="3822191"/>
            <a:ext cx="54864" cy="79552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922776"/>
            <a:ext cx="11978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F6FED"/>
                </a:solidFill>
                <a:latin typeface="Noto Sans CJK TC"/>
              </a:rPr>
              <a:t>Raw / Manual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" y="4270248"/>
            <a:ext cx="1188720" cy="2651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批次或維運匯入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39112" y="2139696"/>
            <a:ext cx="557784" cy="0"/>
          </a:xfrm>
          <a:prstGeom prst="line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011680" y="1847088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file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39112" y="3182112"/>
            <a:ext cx="557784" cy="0"/>
          </a:xfrm>
          <a:prstGeom prst="line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039112" y="4224528"/>
            <a:ext cx="557784" cy="0"/>
          </a:xfrm>
          <a:prstGeom prst="line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n 34"/>
          <p:cNvSpPr/>
          <p:nvPr/>
        </p:nvSpPr>
        <p:spPr>
          <a:xfrm>
            <a:off x="2596896" y="1783080"/>
            <a:ext cx="1481328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06624" y="1911095"/>
            <a:ext cx="402336" cy="246888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1892807"/>
            <a:ext cx="749808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00A6A6"/>
                </a:solidFill>
                <a:latin typeface="Noto Sans CJK TC"/>
              </a:rPr>
              <a:t>Redis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34056" y="2240280"/>
            <a:ext cx="1207008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task state / file hash / queue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96896" y="3026664"/>
            <a:ext cx="148132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596896" y="3026664"/>
            <a:ext cx="54864" cy="91440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0" y="3127248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Noto Sans CJK TC"/>
              </a:rPr>
              <a:t>Celery Ingest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474720"/>
            <a:ext cx="1225296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processing lock、狀態、失敗可見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96896" y="4343400"/>
            <a:ext cx="148132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96896" y="4343400"/>
            <a:ext cx="54864" cy="69494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0" y="4443984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A6A6"/>
                </a:solidFill>
                <a:latin typeface="Noto Sans CJK TC"/>
              </a:rPr>
              <a:t>Celery Beat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34056" y="4791456"/>
            <a:ext cx="122529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watch scheduler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337560" y="2624328"/>
            <a:ext cx="0" cy="402336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999232" y="2660904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task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3337560" y="3941063"/>
            <a:ext cx="0" cy="402337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980944" y="4050791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trigger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078224" y="3474720"/>
            <a:ext cx="566928" cy="0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023360" y="3191256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process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45152" y="1700784"/>
            <a:ext cx="1682496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645152" y="1700784"/>
            <a:ext cx="54864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782312" y="1819656"/>
            <a:ext cx="34747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82312" y="18196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CV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80" y="1801368"/>
            <a:ext cx="98755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8DEF"/>
                </a:solidFill>
                <a:latin typeface="Noto Sans CJK TC"/>
              </a:rPr>
              <a:t>FileConverter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82312" y="2148840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MarkItDown + PDF/Excel 增強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45152" y="2788920"/>
            <a:ext cx="1682496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645152" y="2788920"/>
            <a:ext cx="54864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782312" y="2907791"/>
            <a:ext cx="34747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82312" y="2907791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2889503"/>
            <a:ext cx="98755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8DEF"/>
                </a:solidFill>
                <a:latin typeface="Noto Sans CJK TC"/>
              </a:rPr>
              <a:t>Assets / OCR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82312" y="3236976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頁面快照、圖片、表格文字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645152" y="3877056"/>
            <a:ext cx="1682496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45152" y="3877056"/>
            <a:ext cx="54864" cy="84124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782312" y="3995928"/>
            <a:ext cx="347472" cy="347472"/>
          </a:xfrm>
          <a:prstGeom prst="round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82312" y="3995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12080" y="3977640"/>
            <a:ext cx="98755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8DEF"/>
                </a:solidFill>
                <a:latin typeface="Noto Sans CJK TC"/>
              </a:rPr>
              <a:t>Chunker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82312" y="4325112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標題感知 500 chars + metadata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486400" y="2542032"/>
            <a:ext cx="0" cy="246888"/>
          </a:xfrm>
          <a:prstGeom prst="line">
            <a:avLst/>
          </a:prstGeom>
          <a:ln w="20320">
            <a:solidFill>
              <a:srgbClr val="5B8D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86400" y="3630168"/>
            <a:ext cx="0" cy="246888"/>
          </a:xfrm>
          <a:prstGeom prst="line">
            <a:avLst/>
          </a:prstGeom>
          <a:ln w="20320">
            <a:solidFill>
              <a:srgbClr val="5B8D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327648" y="4297680"/>
            <a:ext cx="585216" cy="0"/>
          </a:xfrm>
          <a:prstGeom prst="line">
            <a:avLst/>
          </a:prstGeom>
          <a:ln w="20320">
            <a:solidFill>
              <a:srgbClr val="5B8D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318504" y="400507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5B8DEF"/>
                </a:solidFill>
                <a:latin typeface="Noto Sans CJK TC"/>
              </a:rPr>
              <a:t>chunks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12864" y="1700784"/>
            <a:ext cx="166420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12864" y="1700784"/>
            <a:ext cx="54864" cy="80467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7050024" y="1819656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50024" y="18196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79792" y="1801368"/>
            <a:ext cx="9692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REPORT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50024" y="2148840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Report graph + vector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912864" y="2752344"/>
            <a:ext cx="166420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12864" y="2752344"/>
            <a:ext cx="54864" cy="80467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7050024" y="2871215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050024" y="287121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V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79792" y="2852927"/>
            <a:ext cx="9692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VECTOR-ONLY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50024" y="3200400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Lab / Project / Automation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912864" y="3803904"/>
            <a:ext cx="166420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912864" y="3803904"/>
            <a:ext cx="54864" cy="932688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050024" y="3922776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50024" y="3922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79792" y="3904488"/>
            <a:ext cx="9692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SEMANTIC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50024" y="4251960"/>
            <a:ext cx="14081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4G/5G / WiFi + Ollama entity extraction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912864" y="4992624"/>
            <a:ext cx="1664208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12864" y="4992624"/>
            <a:ext cx="54864" cy="694944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050024" y="5111496"/>
            <a:ext cx="347472" cy="347472"/>
          </a:xfrm>
          <a:prstGeom prst="round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50024" y="511149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RT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479792" y="5093208"/>
            <a:ext cx="9692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96B00"/>
                </a:solidFill>
                <a:latin typeface="Noto Sans CJK TC"/>
              </a:rPr>
              <a:t>Routing Rules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50024" y="5440680"/>
            <a:ext cx="1408176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filename + extraction mode</a:t>
            </a:r>
          </a:p>
        </p:txBody>
      </p:sp>
      <p:cxnSp>
        <p:nvCxnSpPr>
          <p:cNvPr id="99" name="Connector 98"/>
          <p:cNvCxnSpPr/>
          <p:nvPr/>
        </p:nvCxnSpPr>
        <p:spPr>
          <a:xfrm flipV="1">
            <a:off x="8577072" y="1993392"/>
            <a:ext cx="585216" cy="109728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577072" y="2240280"/>
            <a:ext cx="1865376" cy="813816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577072" y="1993392"/>
            <a:ext cx="585216" cy="1161288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577072" y="1993392"/>
            <a:ext cx="585216" cy="2212848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577072" y="3054096"/>
            <a:ext cx="1865376" cy="1298448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77072" y="4498848"/>
            <a:ext cx="585216" cy="457200"/>
          </a:xfrm>
          <a:prstGeom prst="bentConnector3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Can 104"/>
          <p:cNvSpPr/>
          <p:nvPr/>
        </p:nvSpPr>
        <p:spPr>
          <a:xfrm>
            <a:off x="9162288" y="1600200"/>
            <a:ext cx="1097280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253728" y="1709928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9D68"/>
                </a:solidFill>
                <a:latin typeface="Noto Sans CJK TC"/>
              </a:rPr>
              <a:t>Qdrant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299448" y="2057400"/>
            <a:ext cx="822959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chunks + vectors</a:t>
            </a:r>
          </a:p>
        </p:txBody>
      </p:sp>
      <p:sp>
        <p:nvSpPr>
          <p:cNvPr id="108" name="Can 107"/>
          <p:cNvSpPr/>
          <p:nvPr/>
        </p:nvSpPr>
        <p:spPr>
          <a:xfrm>
            <a:off x="10442448" y="2660904"/>
            <a:ext cx="1078992" cy="84124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533888" y="2770632"/>
            <a:ext cx="89611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9D68"/>
                </a:solidFill>
                <a:latin typeface="Noto Sans CJK TC"/>
              </a:rPr>
              <a:t>Neo4j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79608" y="3118104"/>
            <a:ext cx="804671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documents + graph</a:t>
            </a:r>
          </a:p>
        </p:txBody>
      </p:sp>
      <p:sp>
        <p:nvSpPr>
          <p:cNvPr id="111" name="Can 110"/>
          <p:cNvSpPr/>
          <p:nvPr/>
        </p:nvSpPr>
        <p:spPr>
          <a:xfrm>
            <a:off x="9162288" y="4562856"/>
            <a:ext cx="2359152" cy="932688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272015" y="4690872"/>
            <a:ext cx="402336" cy="24688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FS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65792" y="4672584"/>
            <a:ext cx="162763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Processed File Store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299448" y="5020056"/>
            <a:ext cx="2084832" cy="3840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Markdown / source.json / assets / originals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9162288" y="5632704"/>
            <a:ext cx="235915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162288" y="5632704"/>
            <a:ext cx="54864" cy="347472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08592" y="5733288"/>
            <a:ext cx="211226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E9D68"/>
                </a:solidFill>
                <a:latin typeface="Noto Sans CJK TC"/>
              </a:rPr>
              <a:t>Index refresh · task completed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299448" y="6080760"/>
            <a:ext cx="2103120" cy="-1828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/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66928" y="5824728"/>
            <a:ext cx="859536" cy="21945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50" b="1">
                <a:solidFill>
                  <a:srgbClr val="FFFFFF"/>
                </a:solidFill>
                <a:latin typeface="Noto Sans CJK TC"/>
              </a:rPr>
              <a:t>CONTROLS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554480" y="5824728"/>
            <a:ext cx="470001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SHA-256 去重 · cleanup-before-write · processing locks · task TTL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38912" y="6419088"/>
            <a:ext cx="11173968" cy="9144"/>
          </a:xfrm>
          <a:prstGeom prst="rect">
            <a:avLst/>
          </a:prstGeom>
          <a:solidFill>
            <a:srgbClr val="CC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38912" y="6473952"/>
            <a:ext cx="95097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2677A"/>
                </a:solidFill>
                <a:latin typeface="Noto Sans CJK TC"/>
              </a:rPr>
              <a:t>架構重點｜文件型態決定寫入策略；所有路徑都保留 processed 文件與來源 metadata，確保可追溯與可重攝入。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012680" y="6473952"/>
            <a:ext cx="160020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AS-IS · 2026.07.20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28600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ARCHITECTURE DIAGRAM 4/5 · RETRIEVAL &amp;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38912"/>
            <a:ext cx="996696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3"/>
                </a:solidFill>
                <a:latin typeface="Noto Serif CJK TC"/>
              </a:rPr>
              <a:t>混合檢索、資料融合與引用架構圖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841248"/>
            <a:ext cx="104698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77A"/>
                </a:solidFill>
                <a:latin typeface="Noto Sans CJK TC"/>
              </a:rPr>
              <a:t>Query Router 依題型選擇向量、圖譜與檔案內容，經業務重排與引用封裝後，再交由 deterministic 或 AI 回答路徑。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54512" y="283464"/>
            <a:ext cx="658368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TC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61872"/>
            <a:ext cx="1874519" cy="4892040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" y="1353312"/>
            <a:ext cx="1417320" cy="23774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QUERY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4872" y="1261872"/>
            <a:ext cx="2743200" cy="4892040"/>
          </a:xfrm>
          <a:prstGeom prst="roundRect">
            <a:avLst/>
          </a:prstGeom>
          <a:solidFill>
            <a:srgbClr val="E6F6EE"/>
          </a:solidFill>
          <a:ln w="1651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1353312"/>
            <a:ext cx="1417320" cy="237744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KNOWLEDGE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12664" y="1261872"/>
            <a:ext cx="2377440" cy="4892040"/>
          </a:xfrm>
          <a:prstGeom prst="roundRect">
            <a:avLst/>
          </a:prstGeom>
          <a:solidFill>
            <a:srgbClr val="E4F7F6"/>
          </a:solidFill>
          <a:ln w="1651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22392" y="1353312"/>
            <a:ext cx="1417320" cy="237744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4696" y="1261872"/>
            <a:ext cx="1828800" cy="4892040"/>
          </a:xfrm>
          <a:prstGeom prst="roundRect">
            <a:avLst/>
          </a:prstGeom>
          <a:solidFill>
            <a:srgbClr val="FFF4D6"/>
          </a:solidFill>
          <a:ln w="1651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64423" y="1353312"/>
            <a:ext cx="1417320" cy="237744"/>
          </a:xfrm>
          <a:prstGeom prst="roundRect">
            <a:avLst/>
          </a:prstGeom>
          <a:solidFill>
            <a:srgbClr val="A96B00"/>
          </a:solidFill>
          <a:ln w="12700">
            <a:solidFill>
              <a:srgbClr val="A9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ANSWER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48088" y="1261872"/>
            <a:ext cx="1901952" cy="4892040"/>
          </a:xfrm>
          <a:prstGeom prst="roundRect">
            <a:avLst/>
          </a:prstGeom>
          <a:solidFill>
            <a:srgbClr val="F1F5FF"/>
          </a:solidFill>
          <a:ln w="1651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57815" y="1353312"/>
            <a:ext cx="1417320" cy="237744"/>
          </a:xfrm>
          <a:prstGeom prst="roundRect">
            <a:avLst/>
          </a:prstGeom>
          <a:solidFill>
            <a:srgbClr val="5B8DEF"/>
          </a:solidFill>
          <a:ln w="1270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719072"/>
            <a:ext cx="1417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1719072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1819656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F6FED"/>
                </a:solidFill>
                <a:latin typeface="Noto Sans CJK TC"/>
              </a:rPr>
              <a:t>Query 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167128"/>
            <a:ext cx="1161288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題型、關鍵字、專案/case hints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660904"/>
            <a:ext cx="1325880" cy="28346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TC"/>
              </a:rPr>
              <a:t>AUTO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072384"/>
            <a:ext cx="1325880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2F6FED"/>
                </a:solidFill>
                <a:latin typeface="Noto Sans CJK TC"/>
              </a:rPr>
              <a:t>BASIC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83864"/>
            <a:ext cx="1325880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2F6FED"/>
                </a:solidFill>
                <a:latin typeface="Noto Sans CJK TC"/>
              </a:rPr>
              <a:t>DEEP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895344"/>
            <a:ext cx="1325880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2F6FED"/>
                </a:solidFill>
                <a:latin typeface="Noto Sans CJK TC"/>
              </a:rPr>
              <a:t>VECTOR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306824"/>
            <a:ext cx="1325880" cy="28346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TC"/>
              </a:rPr>
              <a:t>HYBRID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18304"/>
            <a:ext cx="1325880" cy="28346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FFFFFF"/>
                </a:solidFill>
                <a:latin typeface="Noto Sans CJK TC"/>
              </a:rPr>
              <a:t>HYBRID+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29784"/>
            <a:ext cx="1325880" cy="2834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80" b="1">
                <a:solidFill>
                  <a:srgbClr val="2F6FED"/>
                </a:solidFill>
                <a:latin typeface="Noto Sans CJK TC"/>
              </a:rPr>
              <a:t>REPORT GRAPH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2011680" y="1938528"/>
            <a:ext cx="612648" cy="146303"/>
          </a:xfrm>
          <a:prstGeom prst="bentConnector3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93392" y="162763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semantic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011680" y="2212848"/>
            <a:ext cx="612648" cy="905256"/>
          </a:xfrm>
          <a:prstGeom prst="bentConnector3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993392" y="2788920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graph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011680" y="2340864"/>
            <a:ext cx="612648" cy="2002536"/>
          </a:xfrm>
          <a:prstGeom prst="bentConnector3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993392" y="400507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content</a:t>
            </a:r>
          </a:p>
        </p:txBody>
      </p:sp>
      <p:sp>
        <p:nvSpPr>
          <p:cNvPr id="36" name="Can 35"/>
          <p:cNvSpPr/>
          <p:nvPr/>
        </p:nvSpPr>
        <p:spPr>
          <a:xfrm>
            <a:off x="2624328" y="1554480"/>
            <a:ext cx="2286000" cy="987552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34056" y="1682495"/>
            <a:ext cx="402336" cy="24688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QD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27832" y="1664207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Qdrant Vector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2011680"/>
            <a:ext cx="20116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collection knowledge_base · BGE 768D · Cosine · metadata</a:t>
            </a:r>
          </a:p>
        </p:txBody>
      </p:sp>
      <p:sp>
        <p:nvSpPr>
          <p:cNvPr id="40" name="Can 39"/>
          <p:cNvSpPr/>
          <p:nvPr/>
        </p:nvSpPr>
        <p:spPr>
          <a:xfrm>
            <a:off x="2624328" y="2752344"/>
            <a:ext cx="2286000" cy="987552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34056" y="2880360"/>
            <a:ext cx="402336" cy="24688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N4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7832" y="2862072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Neo4j Knowledge 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1488" y="3209544"/>
            <a:ext cx="20116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Document / Entity / Report / Section / TestItem / Case / Metric</a:t>
            </a:r>
          </a:p>
        </p:txBody>
      </p:sp>
      <p:sp>
        <p:nvSpPr>
          <p:cNvPr id="44" name="Can 43"/>
          <p:cNvSpPr/>
          <p:nvPr/>
        </p:nvSpPr>
        <p:spPr>
          <a:xfrm>
            <a:off x="2624328" y="3986784"/>
            <a:ext cx="2286000" cy="987552"/>
          </a:xfrm>
          <a:prstGeom prst="can">
            <a:avLst/>
          </a:prstGeom>
          <a:solidFill>
            <a:srgbClr val="FFFFFF"/>
          </a:solidFill>
          <a:ln w="1524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734056" y="4114800"/>
            <a:ext cx="402336" cy="246888"/>
          </a:xfrm>
          <a:prstGeom prst="roundRect">
            <a:avLst/>
          </a:prstGeom>
          <a:solidFill>
            <a:srgbClr val="2E9D68"/>
          </a:solidFill>
          <a:ln w="12700">
            <a:solidFill>
              <a:srgbClr val="2E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FS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27832" y="4096512"/>
            <a:ext cx="155448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E9D68"/>
                </a:solidFill>
                <a:latin typeface="Noto Sans CJK TC"/>
              </a:rPr>
              <a:t>Processed Content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1488" y="4443984"/>
            <a:ext cx="201168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Markdown、source metadata、image refs、deterministic extracts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910328" y="2048256"/>
            <a:ext cx="621792" cy="0"/>
          </a:xfrm>
          <a:prstGeom prst="line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10328" y="3246120"/>
            <a:ext cx="621792" cy="0"/>
          </a:xfrm>
          <a:prstGeom prst="line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910328" y="4480560"/>
            <a:ext cx="621792" cy="0"/>
          </a:xfrm>
          <a:prstGeom prst="line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532120" y="1673352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32120" y="1673352"/>
            <a:ext cx="54864" cy="7132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669280" y="1792224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0" y="17922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9048" y="1773936"/>
            <a:ext cx="12435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A6A6"/>
                </a:solidFill>
                <a:latin typeface="Noto Sans CJK TC"/>
              </a:rPr>
              <a:t>Parallel Recall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0" y="2121408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52677A"/>
                </a:solidFill>
                <a:latin typeface="Noto Sans CJK TC"/>
              </a:rPr>
              <a:t>向量 raw + 圖譜 raw + processed</a:t>
            </a:r>
          </a:p>
        </p:txBody>
      </p:sp>
      <p:sp>
        <p:nvSpPr>
          <p:cNvPr id="57" name="Down Arrow 56"/>
          <p:cNvSpPr/>
          <p:nvPr/>
        </p:nvSpPr>
        <p:spPr>
          <a:xfrm>
            <a:off x="6373368" y="2404872"/>
            <a:ext cx="256032" cy="228600"/>
          </a:xfrm>
          <a:prstGeom prst="down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532120" y="2606040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32120" y="2606040"/>
            <a:ext cx="54864" cy="7132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669280" y="2724912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0" y="27249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9048" y="2706624"/>
            <a:ext cx="12435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A6A6"/>
                </a:solidFill>
                <a:latin typeface="Noto Sans CJK TC"/>
              </a:rPr>
              <a:t>Business Rerank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0" y="3054096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52677A"/>
                </a:solidFill>
                <a:latin typeface="Noto Sans CJK TC"/>
              </a:rPr>
              <a:t>report/case/numeric/project preference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6373368" y="3337560"/>
            <a:ext cx="256032" cy="228600"/>
          </a:xfrm>
          <a:prstGeom prst="down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32120" y="3538728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32120" y="3538728"/>
            <a:ext cx="54864" cy="7132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5669280" y="3657600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0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99048" y="3639312"/>
            <a:ext cx="12435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A6A6"/>
                </a:solidFill>
                <a:latin typeface="Noto Sans CJK TC"/>
              </a:rPr>
              <a:t>Dedup &amp; Classify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0" y="3986784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52677A"/>
                </a:solidFill>
                <a:latin typeface="Noto Sans CJK TC"/>
              </a:rPr>
              <a:t>doc/chunk/source type/storage category</a:t>
            </a:r>
          </a:p>
        </p:txBody>
      </p:sp>
      <p:sp>
        <p:nvSpPr>
          <p:cNvPr id="71" name="Down Arrow 70"/>
          <p:cNvSpPr/>
          <p:nvPr/>
        </p:nvSpPr>
        <p:spPr>
          <a:xfrm>
            <a:off x="6373368" y="4270248"/>
            <a:ext cx="256032" cy="228600"/>
          </a:xfrm>
          <a:prstGeom prst="downArrow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532120" y="4471416"/>
            <a:ext cx="193852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32120" y="4471416"/>
            <a:ext cx="54864" cy="7132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669280" y="4590288"/>
            <a:ext cx="347472" cy="347472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69280" y="45902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TC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99048" y="4572000"/>
            <a:ext cx="124358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A6A6"/>
                </a:solidFill>
                <a:latin typeface="Noto Sans CJK TC"/>
              </a:rPr>
              <a:t>Citation Package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0" y="4919472"/>
            <a:ext cx="1682496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52677A"/>
                </a:solidFill>
                <a:latin typeface="Noto Sans CJK TC"/>
              </a:rPr>
              <a:t>sources + citation_distribution + excerpts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470648" y="3246120"/>
            <a:ext cx="594360" cy="0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424927" y="2953512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context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065008" y="1664208"/>
            <a:ext cx="14081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65008" y="1664208"/>
            <a:ext cx="54864" cy="89611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11312" y="1764792"/>
            <a:ext cx="116128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Deterministic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02168" y="2112264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報告/WiFi/比較題直接輸出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065008" y="2907792"/>
            <a:ext cx="14081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65008" y="2907792"/>
            <a:ext cx="54864" cy="89611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11312" y="3008376"/>
            <a:ext cx="116128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Ollama Synthesis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02168" y="3355848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根據 context 生成答案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065008" y="4151376"/>
            <a:ext cx="140817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5008" y="4151376"/>
            <a:ext cx="54864" cy="896112"/>
          </a:xfrm>
          <a:prstGeom prst="rect">
            <a:avLst/>
          </a:prstGeom>
          <a:solidFill>
            <a:srgbClr val="A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11312" y="4251960"/>
            <a:ext cx="116128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6B00"/>
                </a:solidFill>
                <a:latin typeface="Noto Sans CJK TC"/>
              </a:rPr>
              <a:t>OpenClaw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02168" y="4599432"/>
            <a:ext cx="1152144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agent / tools / streaming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473184" y="2112264"/>
            <a:ext cx="585216" cy="0"/>
          </a:xfrm>
          <a:prstGeom prst="line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473184" y="3355848"/>
            <a:ext cx="585216" cy="0"/>
          </a:xfrm>
          <a:prstGeom prst="line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473184" y="4599432"/>
            <a:ext cx="585216" cy="0"/>
          </a:xfrm>
          <a:prstGeom prst="line">
            <a:avLst/>
          </a:prstGeom>
          <a:ln w="20320">
            <a:solidFill>
              <a:srgbClr val="A96B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10058400" y="1664208"/>
            <a:ext cx="14630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58400" y="1664208"/>
            <a:ext cx="54864" cy="89611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204704" y="1764792"/>
            <a:ext cx="121615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8DEF"/>
                </a:solidFill>
                <a:latin typeface="Noto Sans CJK TC"/>
              </a:rPr>
              <a:t>Search Result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95560" y="2112264"/>
            <a:ext cx="120700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answer + sources + mode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58400" y="2907792"/>
            <a:ext cx="14630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058400" y="2907792"/>
            <a:ext cx="54864" cy="89611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204704" y="3008376"/>
            <a:ext cx="121615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8DEF"/>
                </a:solidFill>
                <a:latin typeface="Noto Sans CJK TC"/>
              </a:rPr>
              <a:t>Citation UI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95560" y="3355848"/>
            <a:ext cx="120700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文件、片段、分類占比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0058400" y="4151376"/>
            <a:ext cx="146304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058400" y="4151376"/>
            <a:ext cx="54864" cy="896112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204704" y="4251960"/>
            <a:ext cx="121615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B8DEF"/>
                </a:solidFill>
                <a:latin typeface="Noto Sans CJK TC"/>
              </a:rPr>
              <a:t>Chat Reply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195560" y="4599432"/>
            <a:ext cx="1207008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stream + source fallback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624328" y="5340096"/>
            <a:ext cx="6848856" cy="493776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1BA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2788920" y="5468112"/>
            <a:ext cx="804672" cy="228600"/>
          </a:xfrm>
          <a:prstGeom prst="roundRect">
            <a:avLst/>
          </a:prstGeom>
          <a:solidFill>
            <a:srgbClr val="D94F4F"/>
          </a:solidFill>
          <a:ln w="12700">
            <a:solidFill>
              <a:srgbClr val="D94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Noto Sans CJK TC"/>
              </a:rPr>
              <a:t>GUARDRAIL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749039" y="5422392"/>
            <a:ext cx="5486400" cy="2834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72B3A"/>
                </a:solidFill>
                <a:latin typeface="Noto Sans CJK TC"/>
              </a:rPr>
              <a:t>有來源時不得誤稱查無資料；片段不足要揭露限制並保留來源。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38912" y="6419088"/>
            <a:ext cx="11173968" cy="9144"/>
          </a:xfrm>
          <a:prstGeom prst="rect">
            <a:avLst/>
          </a:prstGeom>
          <a:solidFill>
            <a:srgbClr val="CC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8912" y="6473952"/>
            <a:ext cx="95097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2677A"/>
                </a:solidFill>
                <a:latin typeface="Noto Sans CJK TC"/>
              </a:rPr>
              <a:t>架構重點｜平台的核心不是單一 LLM，而是 Query Router、雙資料庫召回、業務重排與 citation package 的整體設計。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12680" y="6473952"/>
            <a:ext cx="160020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AS-IS · 2026.07.20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228600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ARCHITECTURE DIAGRAM 5/5 ·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38912"/>
            <a:ext cx="9966960" cy="3931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1F33"/>
                </a:solidFill>
                <a:latin typeface="Noto Serif CJK TC"/>
              </a:rPr>
              <a:t>現行站台與 on-prem release 部署架構圖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" y="841248"/>
            <a:ext cx="1046988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2677A"/>
                </a:solidFill>
                <a:latin typeface="Noto Sans CJK TC"/>
              </a:rPr>
              <a:t>相同應用程式在兩種拓撲中有不同的服務邊界：現行站台使用 host Qdrant；on-prem release 將 Qdrant 納入 Compose。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54512" y="283464"/>
            <a:ext cx="658368" cy="31089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CJK TC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5577840" cy="5010912"/>
          </a:xfrm>
          <a:prstGeom prst="roundRect">
            <a:avLst/>
          </a:prstGeom>
          <a:solidFill>
            <a:srgbClr val="EAF1FF"/>
          </a:solidFill>
          <a:ln w="1651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8" y="1325880"/>
            <a:ext cx="1417320" cy="23774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CURRENT SITE · 61.216.9.52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1709928"/>
            <a:ext cx="1060704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" y="1709928"/>
            <a:ext cx="54864" cy="6217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8138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Browser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157984"/>
            <a:ext cx="804671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52677A"/>
                </a:solidFill>
                <a:latin typeface="Noto Sans CJK TC"/>
              </a:rPr>
              <a:t>HTTPS :3030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38528" y="1709928"/>
            <a:ext cx="11155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8528" y="1709928"/>
            <a:ext cx="54864" cy="62179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1810512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F6FED"/>
                </a:solidFill>
                <a:latin typeface="Noto Sans CJK TC"/>
              </a:rPr>
              <a:t>Nginx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75688" y="2157984"/>
            <a:ext cx="859536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2677A"/>
                </a:solidFill>
                <a:latin typeface="Noto Sans CJK TC"/>
              </a:rPr>
              <a:t>TLS + static + proxy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45920" y="2020824"/>
            <a:ext cx="292608" cy="0"/>
          </a:xfrm>
          <a:prstGeom prst="line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" y="2615184"/>
            <a:ext cx="5084064" cy="23591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2706624"/>
            <a:ext cx="1417320" cy="237744"/>
          </a:xfrm>
          <a:prstGeom prst="roundRect">
            <a:avLst/>
          </a:prstGeom>
          <a:solidFill>
            <a:srgbClr val="2F6FED"/>
          </a:solidFill>
          <a:ln w="1270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DOCKER COMPOSE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3063240"/>
            <a:ext cx="1133856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" y="3063240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3163824"/>
            <a:ext cx="88696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F6FED"/>
                </a:solidFill>
                <a:latin typeface="Noto Sans CJK TC"/>
              </a:rPr>
              <a:t>FastAPI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3511296"/>
            <a:ext cx="877824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30" b="0">
                <a:solidFill>
                  <a:srgbClr val="52677A"/>
                </a:solidFill>
                <a:latin typeface="Noto Sans CJK TC"/>
              </a:rPr>
              <a:t>Uvicorn :8000 ×4</a:t>
            </a:r>
          </a:p>
        </p:txBody>
      </p:sp>
      <p:sp>
        <p:nvSpPr>
          <p:cNvPr id="26" name="Can 25"/>
          <p:cNvSpPr/>
          <p:nvPr/>
        </p:nvSpPr>
        <p:spPr>
          <a:xfrm>
            <a:off x="2139696" y="3063240"/>
            <a:ext cx="1097280" cy="713232"/>
          </a:xfrm>
          <a:prstGeom prst="can">
            <a:avLst/>
          </a:prstGeom>
          <a:solidFill>
            <a:srgbClr val="FFFFFF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1136" y="3172968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F6FED"/>
                </a:solidFill>
                <a:latin typeface="Noto Sans CJK TC"/>
              </a:rPr>
              <a:t>Redis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76856" y="3520440"/>
            <a:ext cx="82295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broker/cache</a:t>
            </a:r>
          </a:p>
        </p:txBody>
      </p:sp>
      <p:sp>
        <p:nvSpPr>
          <p:cNvPr id="29" name="Can 28"/>
          <p:cNvSpPr/>
          <p:nvPr/>
        </p:nvSpPr>
        <p:spPr>
          <a:xfrm>
            <a:off x="3438144" y="3063240"/>
            <a:ext cx="1097280" cy="713232"/>
          </a:xfrm>
          <a:prstGeom prst="can">
            <a:avLst/>
          </a:prstGeom>
          <a:solidFill>
            <a:srgbClr val="FFFFFF"/>
          </a:solidFill>
          <a:ln w="15240">
            <a:solidFill>
              <a:srgbClr val="2F6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4" y="3172968"/>
            <a:ext cx="914400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F6FED"/>
                </a:solidFill>
                <a:latin typeface="Noto Sans CJK TC"/>
              </a:rPr>
              <a:t>Neo4j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3" y="3520440"/>
            <a:ext cx="822959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graph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18304" y="3063240"/>
            <a:ext cx="749808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18304" y="3063240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4608" y="3163824"/>
            <a:ext cx="502919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F6FED"/>
                </a:solidFill>
                <a:latin typeface="Noto Sans CJK TC"/>
              </a:rPr>
              <a:t>Beat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55464" y="3511296"/>
            <a:ext cx="493775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watch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" y="4023360"/>
            <a:ext cx="142646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4672" y="4023360"/>
            <a:ext cx="54864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" y="4123944"/>
            <a:ext cx="117957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F6FED"/>
                </a:solidFill>
                <a:latin typeface="Noto Sans CJK TC"/>
              </a:rPr>
              <a:t>Search Worker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" y="4471416"/>
            <a:ext cx="117043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queue=search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50592" y="4023360"/>
            <a:ext cx="1426464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50592" y="4023360"/>
            <a:ext cx="54864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6896" y="4123944"/>
            <a:ext cx="117957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F6FED"/>
                </a:solidFill>
                <a:latin typeface="Noto Sans CJK TC"/>
              </a:rPr>
              <a:t>Ingest Worker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87752" y="4471416"/>
            <a:ext cx="1170432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queue=ingest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96512" y="4023360"/>
            <a:ext cx="1371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96512" y="4023360"/>
            <a:ext cx="54864" cy="65836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42816" y="4123944"/>
            <a:ext cx="112471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F6FED"/>
                </a:solidFill>
                <a:latin typeface="Noto Sans CJK TC"/>
              </a:rPr>
              <a:t>Frontend Files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33672" y="4471416"/>
            <a:ext cx="1115568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Vue + chat.html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371600" y="2331720"/>
            <a:ext cx="1124712" cy="731520"/>
          </a:xfrm>
          <a:prstGeom prst="bentConnector3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1609344" y="2505456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proxy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96312" y="2331720"/>
            <a:ext cx="2258568" cy="1691640"/>
          </a:xfrm>
          <a:prstGeom prst="bentConnector3">
            <a:avLst/>
          </a:prstGeom>
          <a:ln w="20320">
            <a:solidFill>
              <a:srgbClr val="2F6FE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931920" y="2505456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F6FED"/>
                </a:solidFill>
                <a:latin typeface="Noto Sans CJK TC"/>
              </a:rPr>
              <a:t>static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" y="5276088"/>
            <a:ext cx="142646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4672" y="5276088"/>
            <a:ext cx="54864" cy="640080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0976" y="5376672"/>
            <a:ext cx="117957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E9D68"/>
                </a:solidFill>
                <a:latin typeface="Noto Sans CJK TC"/>
              </a:rPr>
              <a:t>Host Qdrant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" y="5724144"/>
            <a:ext cx="117043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:6335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50592" y="5276088"/>
            <a:ext cx="1426464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50592" y="5276088"/>
            <a:ext cx="54864" cy="640080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96896" y="5376672"/>
            <a:ext cx="1179576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E9D68"/>
                </a:solidFill>
                <a:latin typeface="Noto Sans CJK TC"/>
              </a:rPr>
              <a:t>Host Ollama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7752" y="5724144"/>
            <a:ext cx="1170432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:11434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096512" y="5276088"/>
            <a:ext cx="13716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96512" y="5276088"/>
            <a:ext cx="54864" cy="640080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42816" y="5376672"/>
            <a:ext cx="1124712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2E9D68"/>
                </a:solidFill>
                <a:latin typeface="Noto Sans CJK TC"/>
              </a:rPr>
              <a:t>OpenClaw GW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33672" y="5724144"/>
            <a:ext cx="1115568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WebSocket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371600" y="3776472"/>
            <a:ext cx="0" cy="1499616"/>
          </a:xfrm>
          <a:prstGeom prst="line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24128" y="4754880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E9D68"/>
                </a:solidFill>
                <a:latin typeface="Noto Sans CJK TC"/>
              </a:rPr>
              <a:t>vector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371600" y="3776472"/>
            <a:ext cx="1792224" cy="1499616"/>
          </a:xfrm>
          <a:prstGeom prst="bentConnector3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2322576" y="4754880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E9D68"/>
                </a:solidFill>
                <a:latin typeface="Noto Sans CJK TC"/>
              </a:rPr>
              <a:t>LLM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371600" y="3776472"/>
            <a:ext cx="3410712" cy="1499616"/>
          </a:xfrm>
          <a:prstGeom prst="bentConnector3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986784" y="4754880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E9D68"/>
                </a:solidFill>
                <a:latin typeface="Noto Sans CJK TC"/>
              </a:rPr>
              <a:t>WS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44768" y="1234440"/>
            <a:ext cx="5596128" cy="5010912"/>
          </a:xfrm>
          <a:prstGeom prst="roundRect">
            <a:avLst/>
          </a:prstGeom>
          <a:solidFill>
            <a:srgbClr val="E4F7F6"/>
          </a:solidFill>
          <a:ln w="1651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6254496" y="1325880"/>
            <a:ext cx="1417320" cy="237744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ON-PREM RELEASE · CONFIGURABLE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64224" y="1709928"/>
            <a:ext cx="1060704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364224" y="1709928"/>
            <a:ext cx="54864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10528" y="1810512"/>
            <a:ext cx="8138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A6A6"/>
                </a:solidFill>
                <a:latin typeface="Noto Sans CJK TC"/>
              </a:rPr>
              <a:t>Browser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01384" y="2157984"/>
            <a:ext cx="804671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>
                <a:solidFill>
                  <a:srgbClr val="52677A"/>
                </a:solidFill>
                <a:latin typeface="Noto Sans CJK TC"/>
              </a:rPr>
              <a:t>HTTPS port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17536" y="1709928"/>
            <a:ext cx="111556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717536" y="1709928"/>
            <a:ext cx="54864" cy="62179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863840" y="1810512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A6A6"/>
                </a:solidFill>
                <a:latin typeface="Noto Sans CJK TC"/>
              </a:rPr>
              <a:t>Nginx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54696" y="2157984"/>
            <a:ext cx="859536" cy="91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2677A"/>
                </a:solidFill>
                <a:latin typeface="Noto Sans CJK TC"/>
              </a:rPr>
              <a:t>TLS + static + proxy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7424927" y="2020824"/>
            <a:ext cx="292609" cy="0"/>
          </a:xfrm>
          <a:prstGeom prst="line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6382512" y="2615184"/>
            <a:ext cx="5084064" cy="23591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492240" y="2706624"/>
            <a:ext cx="1417320" cy="237744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Noto Sans CJK TC"/>
              </a:rPr>
              <a:t>RELEASE COMPOSE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583680" y="3063240"/>
            <a:ext cx="10607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583680" y="3063240"/>
            <a:ext cx="54864" cy="7132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29984" y="3163824"/>
            <a:ext cx="813815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A6A6"/>
                </a:solidFill>
                <a:latin typeface="Noto Sans CJK TC"/>
              </a:rPr>
              <a:t>FastAPI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20840" y="3511296"/>
            <a:ext cx="804671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release workers</a:t>
            </a:r>
          </a:p>
        </p:txBody>
      </p:sp>
      <p:sp>
        <p:nvSpPr>
          <p:cNvPr id="87" name="Can 86"/>
          <p:cNvSpPr/>
          <p:nvPr/>
        </p:nvSpPr>
        <p:spPr>
          <a:xfrm>
            <a:off x="7827264" y="3063240"/>
            <a:ext cx="987552" cy="713232"/>
          </a:xfrm>
          <a:prstGeom prst="can">
            <a:avLst/>
          </a:prstGeom>
          <a:solidFill>
            <a:srgbClr val="FFFFFF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918704" y="3172968"/>
            <a:ext cx="80467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A6A6"/>
                </a:solidFill>
                <a:latin typeface="Noto Sans CJK TC"/>
              </a:rPr>
              <a:t>Redis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64424" y="3520440"/>
            <a:ext cx="7132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volume</a:t>
            </a:r>
          </a:p>
        </p:txBody>
      </p:sp>
      <p:sp>
        <p:nvSpPr>
          <p:cNvPr id="90" name="Can 89"/>
          <p:cNvSpPr/>
          <p:nvPr/>
        </p:nvSpPr>
        <p:spPr>
          <a:xfrm>
            <a:off x="8997696" y="3063240"/>
            <a:ext cx="987552" cy="713232"/>
          </a:xfrm>
          <a:prstGeom prst="can">
            <a:avLst/>
          </a:prstGeom>
          <a:solidFill>
            <a:srgbClr val="FFFFFF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89136" y="3172968"/>
            <a:ext cx="804672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A6A6"/>
                </a:solidFill>
                <a:latin typeface="Noto Sans CJK TC"/>
              </a:rPr>
              <a:t>Neo4j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34856" y="3520440"/>
            <a:ext cx="713232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volumes</a:t>
            </a:r>
          </a:p>
        </p:txBody>
      </p:sp>
      <p:sp>
        <p:nvSpPr>
          <p:cNvPr id="93" name="Can 92"/>
          <p:cNvSpPr/>
          <p:nvPr/>
        </p:nvSpPr>
        <p:spPr>
          <a:xfrm>
            <a:off x="10168128" y="3063240"/>
            <a:ext cx="1060704" cy="713232"/>
          </a:xfrm>
          <a:prstGeom prst="can">
            <a:avLst/>
          </a:prstGeom>
          <a:solidFill>
            <a:srgbClr val="FFFFFF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59567" y="3172968"/>
            <a:ext cx="877824" cy="2468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0A6A6"/>
                </a:solidFill>
                <a:latin typeface="Noto Sans CJK TC"/>
              </a:rPr>
              <a:t>Qdrant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05288" y="3520440"/>
            <a:ext cx="786383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2677A"/>
                </a:solidFill>
                <a:latin typeface="Noto Sans CJK TC"/>
              </a:rPr>
              <a:t>volume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583680" y="4023360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583680" y="4023360"/>
            <a:ext cx="54864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729984" y="4123944"/>
            <a:ext cx="110642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A6A6"/>
                </a:solidFill>
                <a:latin typeface="Noto Sans CJK TC"/>
              </a:rPr>
              <a:t>Search Worker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20840" y="4471416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configurable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38160" y="4023360"/>
            <a:ext cx="135331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38160" y="4023360"/>
            <a:ext cx="54864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84464" y="4123944"/>
            <a:ext cx="110642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A6A6"/>
                </a:solidFill>
                <a:latin typeface="Noto Sans CJK TC"/>
              </a:rPr>
              <a:t>Ingest Worker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75320" y="4471416"/>
            <a:ext cx="109728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isolated queue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692640" y="4023360"/>
            <a:ext cx="153619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692640" y="4023360"/>
            <a:ext cx="54864" cy="65836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838944" y="4123944"/>
            <a:ext cx="1289304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0A6A6"/>
                </a:solidFill>
                <a:latin typeface="Noto Sans CJK TC"/>
              </a:rPr>
              <a:t>Beat + Frontend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29800" y="4471416"/>
            <a:ext cx="1280160" cy="12801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scheduler + static</a:t>
            </a:r>
          </a:p>
        </p:txBody>
      </p:sp>
      <p:cxnSp>
        <p:nvCxnSpPr>
          <p:cNvPr id="108" name="Connector 107"/>
          <p:cNvCxnSpPr/>
          <p:nvPr/>
        </p:nvCxnSpPr>
        <p:spPr>
          <a:xfrm flipH="1">
            <a:off x="7114032" y="2331720"/>
            <a:ext cx="1161288" cy="731520"/>
          </a:xfrm>
          <a:prstGeom prst="bentConnector3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ounded Rectangle 108"/>
          <p:cNvSpPr/>
          <p:nvPr/>
        </p:nvSpPr>
        <p:spPr>
          <a:xfrm>
            <a:off x="7360920" y="2505456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proxy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8275320" y="2331720"/>
            <a:ext cx="2185416" cy="1691640"/>
          </a:xfrm>
          <a:prstGeom prst="bentConnector3">
            <a:avLst/>
          </a:prstGeom>
          <a:ln w="20320">
            <a:solidFill>
              <a:srgbClr val="00A6A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9619488" y="2505456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00A6A6"/>
                </a:solidFill>
                <a:latin typeface="Noto Sans CJK TC"/>
              </a:rPr>
              <a:t>static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583680" y="5276088"/>
            <a:ext cx="140817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583680" y="5276088"/>
            <a:ext cx="54864" cy="640080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729984" y="5376672"/>
            <a:ext cx="116128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9D68"/>
                </a:solidFill>
                <a:latin typeface="Noto Sans CJK TC"/>
              </a:rPr>
              <a:t>Host Ollama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20840" y="5724144"/>
            <a:ext cx="115214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:11434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211312" y="5276088"/>
            <a:ext cx="140817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211312" y="5276088"/>
            <a:ext cx="54864" cy="640080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357616" y="5376672"/>
            <a:ext cx="1161288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E9D68"/>
                </a:solidFill>
                <a:latin typeface="Noto Sans CJK TC"/>
              </a:rPr>
              <a:t>Host OpenClaw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48472" y="5724144"/>
            <a:ext cx="1152144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gateway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838944" y="5276088"/>
            <a:ext cx="138988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838944" y="5276088"/>
            <a:ext cx="54864" cy="640080"/>
          </a:xfrm>
          <a:prstGeom prst="rect">
            <a:avLst/>
          </a:prstGeom>
          <a:solidFill>
            <a:srgbClr val="2E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85248" y="5376672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E9D68"/>
                </a:solidFill>
                <a:latin typeface="Noto Sans CJK TC"/>
              </a:rPr>
              <a:t>Installer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76104" y="5724144"/>
            <a:ext cx="1133856" cy="1097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2677A"/>
                </a:solidFill>
                <a:latin typeface="Noto Sans CJK TC"/>
              </a:rPr>
              <a:t>preflight / upgrade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7114032" y="3776472"/>
            <a:ext cx="173736" cy="1499616"/>
          </a:xfrm>
          <a:prstGeom prst="bentConnector3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6812280" y="4754880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E9D68"/>
                </a:solidFill>
                <a:latin typeface="Noto Sans CJK TC"/>
              </a:rPr>
              <a:t>LLM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7114032" y="3776472"/>
            <a:ext cx="1801368" cy="1499616"/>
          </a:xfrm>
          <a:prstGeom prst="bentConnector3">
            <a:avLst/>
          </a:prstGeom>
          <a:ln w="20320">
            <a:solidFill>
              <a:srgbClr val="2E9D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8101583" y="4754880"/>
            <a:ext cx="694944" cy="201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10" b="1">
                <a:solidFill>
                  <a:srgbClr val="2E9D68"/>
                </a:solidFill>
                <a:latin typeface="Noto Sans CJK TC"/>
              </a:rPr>
              <a:t>WS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382512" y="5961888"/>
            <a:ext cx="1042415" cy="219456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8100" rIns="3810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Noto Sans CJK TC"/>
              </a:rPr>
              <a:t>PERSISTENCE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34656" y="5961888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2677A"/>
                </a:solidFill>
                <a:latin typeface="Noto Sans CJK TC"/>
              </a:rPr>
              <a:t>app/data · runtime/openclaw · named volumes · release metadata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38912" y="6419088"/>
            <a:ext cx="11173968" cy="9144"/>
          </a:xfrm>
          <a:prstGeom prst="rect">
            <a:avLst/>
          </a:prstGeom>
          <a:solidFill>
            <a:srgbClr val="CC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38912" y="6473952"/>
            <a:ext cx="950976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2677A"/>
                </a:solidFill>
                <a:latin typeface="Noto Sans CJK TC"/>
              </a:rPr>
              <a:t>架構重點｜現行站台與 release 的主要差異在 Qdrant 邊界與持久卷封裝；Ollama/OpenClaw 仍需視 host runtime 配置。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012680" y="6473952"/>
            <a:ext cx="1600200" cy="1554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1859A"/>
                </a:solidFill>
                <a:latin typeface="Noto Sans CJK TC"/>
              </a:rPr>
              <a:t>AS-IS · 2026.07.20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Base Architecture Diagrams</dc:title>
  <dc:subject>End-to-end, runtime, ingestion, retrieval and deployment diagrams</dc:subject>
  <dc:creator>Knowledge Base Architecture Team</dc:creator>
  <cp:keywords/>
  <dc:description>Diagram-first revision generated from the current repository on 2026-07-20.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