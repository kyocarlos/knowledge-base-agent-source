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-274320"/>
            <a:ext cx="3474720" cy="34747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03920" y="-274320"/>
            <a:ext cx="3931920" cy="347472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20" y="4389120"/>
            <a:ext cx="4023360" cy="246888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1168" y="164592"/>
            <a:ext cx="11786616" cy="6528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292608"/>
            <a:ext cx="36576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2563EB"/>
                </a:solidFill>
                <a:latin typeface="Noto Sans CJK TC"/>
              </a:rPr>
              <a:t>Knowledge Base / Manual Ingest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512064"/>
            <a:ext cx="777240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CJK TC"/>
              </a:rPr>
              <a:t>知識庫手動攝入方式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896112"/>
            <a:ext cx="8686800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Noto Sans CJK TC"/>
              </a:rPr>
              <a:t>使用者上傳文件後，系統會自動轉成可搜尋內容，並寫入知識圖譜與向量資料庫。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19488" y="438912"/>
            <a:ext cx="1920240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850" b="0">
                <a:solidFill>
                  <a:srgbClr val="1D4ED8"/>
                </a:solidFill>
                <a:latin typeface="Noto Sans CJK TC"/>
              </a:rPr>
              <a:t>客戶說明用簡報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572768"/>
            <a:ext cx="34290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Noto Sans CJK TC"/>
              </a:rPr>
              <a:t>手動攝入是什麼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手動攝入指的是由使用者主動上傳文件，系統在收到文件後立即執行轉換、切 chunk 與寫入資料庫。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99232"/>
            <a:ext cx="34290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Noto Sans CJK TC"/>
              </a:rPr>
              <a:t>適合的情境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適合新報告上線、臨時文件更新，或需要立即讓文件加入搜尋時使用。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425696"/>
            <a:ext cx="34290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D97706"/>
                </a:solidFill>
                <a:latin typeface="Noto Sans CJK TC"/>
              </a:rPr>
              <a:t>客戶怎麼理解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可以把它理解成「上傳文件後，系統幫你整理成可查詢的資料」。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1783080"/>
            <a:ext cx="66294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047857"/>
                </a:solidFill>
                <a:latin typeface="Noto Sans CJK TC"/>
              </a:rPr>
              <a:t>完整流程一句話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先上傳文件，再由系統自動完成格式轉換、內容切分、關聯建立與向量索引，最後就可以在搜尋頁直接查詢。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4828032"/>
            <a:ext cx="178308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Noto Sans CJK TC"/>
              </a:rPr>
              <a:t>上傳文件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Excel / PDF / Word / PPTX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88920" y="4828032"/>
            <a:ext cx="178308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Noto Sans CJK TC"/>
              </a:rPr>
              <a:t>自動轉換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變成可讀內容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28032" y="4828032"/>
            <a:ext cx="178308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D97706"/>
                </a:solidFill>
                <a:latin typeface="Noto Sans CJK TC"/>
              </a:rPr>
              <a:t>切成 chunks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分段方便搜尋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67144" y="4828032"/>
            <a:ext cx="178308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1D4ED8"/>
                </a:solidFill>
                <a:latin typeface="Noto Sans CJK TC"/>
              </a:rPr>
              <a:t>寫入 Neo4j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建立關聯脈絡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06256" y="4828032"/>
            <a:ext cx="178308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047857"/>
                </a:solidFill>
                <a:latin typeface="Noto Sans CJK TC"/>
              </a:rPr>
              <a:t>寫入 Qdrant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建立語意搜尋索引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514600" y="5230368"/>
            <a:ext cx="274320" cy="0"/>
          </a:xfrm>
          <a:prstGeom prst="line">
            <a:avLst/>
          </a:prstGeom>
          <a:ln w="1651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53712" y="5230368"/>
            <a:ext cx="274320" cy="0"/>
          </a:xfrm>
          <a:prstGeom prst="line">
            <a:avLst/>
          </a:prstGeom>
          <a:ln w="1651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592824" y="5230368"/>
            <a:ext cx="274320" cy="0"/>
          </a:xfrm>
          <a:prstGeom prst="line">
            <a:avLst/>
          </a:prstGeom>
          <a:ln w="1651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631936" y="5230368"/>
            <a:ext cx="274320" cy="0"/>
          </a:xfrm>
          <a:prstGeom prst="line">
            <a:avLst/>
          </a:prstGeom>
          <a:ln w="1651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76656" y="6035040"/>
            <a:ext cx="1088136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50" b="0">
                <a:solidFill>
                  <a:srgbClr val="64748B"/>
                </a:solidFill>
                <a:latin typeface="Noto Sans CJK TC"/>
              </a:rPr>
              <a:t>本簡報將用一個實際案例說明：文件如何從上傳一路變成可搜尋資料。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-274320"/>
            <a:ext cx="3474720" cy="34747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03920" y="-274320"/>
            <a:ext cx="3931920" cy="347472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20" y="4389120"/>
            <a:ext cx="4023360" cy="246888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1168" y="164592"/>
            <a:ext cx="11786616" cy="6528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292608"/>
            <a:ext cx="36576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2563EB"/>
                </a:solidFill>
                <a:latin typeface="Noto Sans CJK TC"/>
              </a:rPr>
              <a:t>Knowledge Base / Manual Ingest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512064"/>
            <a:ext cx="777240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CJK TC"/>
              </a:rPr>
              <a:t>手動攝入流程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896112"/>
            <a:ext cx="8686800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Noto Sans CJK TC"/>
              </a:rPr>
              <a:t>以下流程可直接對客戶說明：上傳後，系統會自動處理，不需要人工逐步搬移資料。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19488" y="438912"/>
            <a:ext cx="1920240" cy="274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850" b="0">
                <a:solidFill>
                  <a:srgbClr val="047857"/>
                </a:solidFill>
                <a:latin typeface="Noto Sans CJK TC"/>
              </a:rPr>
              <a:t>操作步驟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1572768"/>
            <a:ext cx="384048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850" b="0">
                <a:solidFill>
                  <a:srgbClr val="2563EB"/>
                </a:solidFill>
                <a:latin typeface="Noto Sans CJK TC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1536192"/>
            <a:ext cx="53492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Noto Sans CJK TC"/>
              </a:rPr>
              <a:t>選擇文件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使用者在上傳頁面選擇一份測試報告。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2359152"/>
            <a:ext cx="384048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850" b="0">
                <a:solidFill>
                  <a:srgbClr val="16A34A"/>
                </a:solidFill>
                <a:latin typeface="Noto Sans CJK TC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88720" y="2322576"/>
            <a:ext cx="53492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Noto Sans CJK TC"/>
              </a:rPr>
              <a:t>按下上傳並攝入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系統開始接收文件並建立處理任務。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3145536"/>
            <a:ext cx="384048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850" b="0">
                <a:solidFill>
                  <a:srgbClr val="D97706"/>
                </a:solidFill>
                <a:latin typeface="Noto Sans CJK TC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8720" y="3108960"/>
            <a:ext cx="53492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D97706"/>
                </a:solidFill>
                <a:latin typeface="Noto Sans CJK TC"/>
              </a:rPr>
              <a:t>轉換與切分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系統將文件轉成文字，再切成多個 chunk。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3931920"/>
            <a:ext cx="384048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850" b="0">
                <a:solidFill>
                  <a:srgbClr val="1D4ED8"/>
                </a:solidFill>
                <a:latin typeface="Noto Sans CJK TC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8720" y="3895344"/>
            <a:ext cx="53492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1D4ED8"/>
                </a:solidFill>
                <a:latin typeface="Noto Sans CJK TC"/>
              </a:rPr>
              <a:t>寫入資料庫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Neo4j 保存關聯，Qdrant 保存內容向量。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4718304"/>
            <a:ext cx="384048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850" b="0">
                <a:solidFill>
                  <a:srgbClr val="047857"/>
                </a:solidFill>
                <a:latin typeface="Noto Sans CJK TC"/>
              </a:rP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88720" y="4681728"/>
            <a:ext cx="53492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047857"/>
                </a:solidFill>
                <a:latin typeface="Noto Sans CJK TC"/>
              </a:rPr>
              <a:t>可供查詢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完成後，這份文件就能在搜尋頁被查到。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03720" y="1664208"/>
            <a:ext cx="4526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Noto Sans CJK TC"/>
              </a:rPr>
              <a:t>為什麼要手動攝入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當客戶有最新報告、臨時資料或特定專案文件時，可以立即把文件加入知識庫，不必等待排程掃描。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3154680"/>
            <a:ext cx="4526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Noto Sans CJK TC"/>
              </a:rPr>
              <a:t>系統會做哪些事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系統會自動完成格式轉換、章節整理、關聯建立與向量索引，讓文件可被搜尋與引用。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03720" y="4645152"/>
            <a:ext cx="4526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D97706"/>
                </a:solidFill>
                <a:latin typeface="Noto Sans CJK TC"/>
              </a:rPr>
              <a:t>客戶聽得懂的說法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你只要上傳文件，後面的整理與入庫會自動完成。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" y="6217920"/>
            <a:ext cx="1088136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50" b="0">
                <a:solidFill>
                  <a:srgbClr val="64748B"/>
                </a:solidFill>
                <a:latin typeface="Noto Sans CJK TC"/>
              </a:rPr>
              <a:t>手動攝入的核心，是讓新文件快速進入搜尋與問答流程。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-274320"/>
            <a:ext cx="3474720" cy="34747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03920" y="-274320"/>
            <a:ext cx="3931920" cy="347472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20" y="4389120"/>
            <a:ext cx="4023360" cy="246888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1168" y="164592"/>
            <a:ext cx="11786616" cy="6528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292608"/>
            <a:ext cx="36576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2563EB"/>
                </a:solidFill>
                <a:latin typeface="Noto Sans CJK TC"/>
              </a:rPr>
              <a:t>Knowledge Base / Manual Ingest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512064"/>
            <a:ext cx="777240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CJK TC"/>
              </a:rPr>
              <a:t>實際範例說明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896112"/>
            <a:ext cx="8686800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Noto Sans CJK TC"/>
              </a:rPr>
              <a:t>以下以一份真實類型的測試報告示意手動攝入後，資料如何被整理進知識庫。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19488" y="438912"/>
            <a:ext cx="1920240" cy="274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850" b="0">
                <a:solidFill>
                  <a:srgbClr val="B45309"/>
                </a:solidFill>
                <a:latin typeface="Noto Sans CJK TC"/>
              </a:rPr>
              <a:t>範例文件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645920"/>
            <a:ext cx="38404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Noto Sans CJK TC"/>
              </a:rPr>
              <a:t>範例文件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SIT-TR-SC-NR-Throughput-SCU2060-n79-EV-V13.8.xlsx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26080"/>
            <a:ext cx="38404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Noto Sans CJK TC"/>
              </a:rPr>
              <a:t>上傳方式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在上傳頁選擇檔案後，按下「上傳並攝入」。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206240"/>
            <a:ext cx="38404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D97706"/>
                </a:solidFill>
                <a:latin typeface="Noto Sans CJK TC"/>
              </a:rPr>
              <a:t>預期結果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文件會先轉成文字，接著切成多個 chunk，最後可直接被搜尋。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2040" y="1691640"/>
            <a:ext cx="18288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1D4ED8"/>
                </a:solidFill>
                <a:latin typeface="Noto Sans CJK TC"/>
              </a:rPr>
              <a:t>2. Introduction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成為第一個 chunk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67728" y="1691640"/>
            <a:ext cx="18288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047857"/>
                </a:solidFill>
                <a:latin typeface="Noto Sans CJK TC"/>
              </a:rPr>
              <a:t>3. Test Result Summary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成為第二個 chunk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43416" y="1691640"/>
            <a:ext cx="18288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D97706"/>
                </a:solidFill>
                <a:latin typeface="Noto Sans CJK TC"/>
              </a:rPr>
              <a:t>4. Performance Test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成為第三個 chunk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720840" y="2103120"/>
            <a:ext cx="246888" cy="0"/>
          </a:xfrm>
          <a:prstGeom prst="line">
            <a:avLst/>
          </a:prstGeom>
          <a:ln w="1651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796528" y="2103120"/>
            <a:ext cx="246888" cy="0"/>
          </a:xfrm>
          <a:prstGeom prst="line">
            <a:avLst/>
          </a:prstGeom>
          <a:ln w="1651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892040" y="3017520"/>
            <a:ext cx="5980176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Noto Sans CJK TC"/>
              </a:rPr>
              <a:t>進入 Neo4j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建立文件與章節之間的關係，方便系統知道這份報告屬於哪個專案，以及哪些章節彼此相關。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92040" y="4572000"/>
            <a:ext cx="5980176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Noto Sans CJK TC"/>
              </a:rPr>
              <a:t>進入 Qdrant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每個 chunk 都會被轉成向量，之後使用者詢問相近內容時，系統可以快速召回最相關段落。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6236208"/>
            <a:ext cx="1088136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50" b="0">
                <a:solidFill>
                  <a:srgbClr val="64748B"/>
                </a:solidFill>
                <a:latin typeface="Noto Sans CJK TC"/>
              </a:rPr>
              <a:t>這個例子可以直接對客戶說明：手動上傳一份報告後，系統如何自動完成入庫。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