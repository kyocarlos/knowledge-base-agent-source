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7315200" cy="4114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93247"/>
                </a:solidFill>
                <a:latin typeface="Noto Sans CJK TC"/>
              </a:rPr>
              <a:t>Sub2API 簡易架構圖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772400" cy="25603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OpenAI-compatible API Gateway，統一管理模型路由與用量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38528"/>
            <a:ext cx="2240280" cy="1325880"/>
          </a:xfrm>
          <a:prstGeom prst="roundRect">
            <a:avLst/>
          </a:prstGeom>
          <a:solidFill>
            <a:srgbClr val="EAF1FF"/>
          </a:solidFill>
          <a:ln w="228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084832"/>
            <a:ext cx="2057400" cy="3474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ED"/>
                </a:solidFill>
                <a:latin typeface="Noto Sans CJK TC"/>
              </a:rPr>
              <a:t>OpenClaw / 客戶端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78608"/>
            <a:ext cx="1984248" cy="5760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外部應用程式
呼叫 /v1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0288" y="1691640"/>
            <a:ext cx="2999232" cy="1847088"/>
          </a:xfrm>
          <a:prstGeom prst="roundRect">
            <a:avLst/>
          </a:prstGeom>
          <a:solidFill>
            <a:srgbClr val="E4F7F5"/>
          </a:solidFill>
          <a:ln w="22860">
            <a:solidFill>
              <a:srgbClr val="00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7" y="1837944"/>
            <a:ext cx="2816351" cy="3474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9E9A"/>
                </a:solidFill>
                <a:latin typeface="Noto Sans CJK TC"/>
              </a:rPr>
              <a:t>Sub2API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303" y="2331720"/>
            <a:ext cx="2743200" cy="109728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API Gateway
API Key → 分組 → 帳號
/v1/models
/v1/chat/completions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938528"/>
            <a:ext cx="2240280" cy="1325880"/>
          </a:xfrm>
          <a:prstGeom prst="roundRect">
            <a:avLst/>
          </a:prstGeom>
          <a:solidFill>
            <a:srgbClr val="F3EEFA"/>
          </a:solidFill>
          <a:ln w="2286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084832"/>
            <a:ext cx="2057400" cy="3474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653A6"/>
                </a:solidFill>
                <a:latin typeface="Noto Sans CJK TC"/>
              </a:rPr>
              <a:t>Ollama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2578608"/>
            <a:ext cx="1984248" cy="5760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本機模型
例如 gemma4:12b
qwen3-coder-next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98648" y="2596896"/>
            <a:ext cx="1691640" cy="0"/>
          </a:xfrm>
          <a:prstGeom prst="line">
            <a:avLst/>
          </a:prstGeom>
          <a:ln w="2540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2596896"/>
            <a:ext cx="1691640" cy="0"/>
          </a:xfrm>
          <a:prstGeom prst="line">
            <a:avLst/>
          </a:prstGeom>
          <a:ln w="25400">
            <a:solidFill>
              <a:srgbClr val="009E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46120" y="2304288"/>
            <a:ext cx="1051560" cy="22860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HTTPS /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04288"/>
            <a:ext cx="1051560" cy="22860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upstream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82112" y="4160520"/>
            <a:ext cx="5852160" cy="141732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4325112"/>
            <a:ext cx="2011680" cy="22860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Sub2API 內部服務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5887" y="4681728"/>
            <a:ext cx="20574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7" y="4828032"/>
            <a:ext cx="1874519" cy="3474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8B16"/>
                </a:solidFill>
                <a:latin typeface="Noto Sans CJK TC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3903" y="5321808"/>
            <a:ext cx="1801368" cy="-128015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群組、帳號、API key、用量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681728"/>
            <a:ext cx="2057400" cy="6217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828032"/>
            <a:ext cx="1874519" cy="347472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ED"/>
                </a:solidFill>
                <a:latin typeface="Noto Sans CJK TC"/>
              </a:rPr>
              <a:t>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5321808"/>
            <a:ext cx="1801368" cy="-128015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快取、工作狀態、限流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709160" y="3538728"/>
            <a:ext cx="1380744" cy="114300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9904" y="3538728"/>
            <a:ext cx="1389888" cy="114300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4736592"/>
            <a:ext cx="2240280" cy="868680"/>
          </a:xfrm>
          <a:prstGeom prst="roundRect">
            <a:avLst/>
          </a:prstGeom>
          <a:solidFill>
            <a:srgbClr val="FFF3D6"/>
          </a:solidFill>
          <a:ln w="15240">
            <a:solidFill>
              <a:srgbClr val="D6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864608"/>
            <a:ext cx="1938528" cy="5029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68B16"/>
                </a:solidFill>
                <a:latin typeface="Noto Sans CJK TC"/>
              </a:rPr>
              <a:t>Knowledge Base
獨立系統，不共用 Sub2API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144768"/>
            <a:ext cx="10789920" cy="2011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Noto Sans CJK TC"/>
              </a:rPr>
              <a:t>重點：客戶端只連 Sub2API API；不直接連 PostgreSQL、Redis 或 Ollama。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6144768"/>
            <a:ext cx="2194560" cy="201168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07589"/>
                </a:solidFill>
                <a:latin typeface="Noto Sans CJK TC"/>
              </a:rPr>
              <a:t>Port: 18080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